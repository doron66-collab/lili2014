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09"/>
    <p:restoredTop sz="94610"/>
  </p:normalViewPr>
  <p:slideViewPr>
    <p:cSldViewPr snapToGrid="0" snapToObjects="1">
      <p:cViewPr>
        <p:scale>
          <a:sx n="130" d="100"/>
          <a:sy n="130" d="100"/>
        </p:scale>
        <p:origin x="170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1F5F9"/>
                </a:solidFill>
                <a:latin typeface="Calibri"/>
              </a:defRPr>
            </a:pPr>
            <a:r>
              <a:rPr lang="en-US" sz="1300" b="0" i="0" u="none" strike="noStrike" dirty="0">
                <a:solidFill>
                  <a:srgbClr val="F1F5F9"/>
                </a:solidFill>
                <a:latin typeface="Calibri"/>
              </a:rPr>
              <a:t>Mean latency per query (s) - lower is better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latency (s)</c:v>
                </c:pt>
              </c:strCache>
            </c:strRef>
          </c:tx>
          <c:spPr>
            <a:solidFill>
              <a:srgbClr val="06B6D4">
                <a:alpha val="100000"/>
              </a:srgbClr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1F5F9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llama3.2 (3B)</c:v>
                </c:pt>
                <c:pt idx="1">
                  <c:v>qwen3:0.6b</c:v>
                </c:pt>
                <c:pt idx="2">
                  <c:v>deepseek-r1:1.5b</c:v>
                </c:pt>
                <c:pt idx="3">
                  <c:v>deepseek-r1:8b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1.08</c:v>
                </c:pt>
                <c:pt idx="1">
                  <c:v>1.62</c:v>
                </c:pt>
                <c:pt idx="2">
                  <c:v>4.7699999999999996</c:v>
                </c:pt>
                <c:pt idx="3">
                  <c:v>13.62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42D-AE4C-80E5-DC2DC080502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BD5E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6027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5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023360" cy="4023360"/>
          </a:xfrm>
          <a:prstGeom prst="ellipse">
            <a:avLst/>
          </a:prstGeom>
          <a:solidFill>
            <a:srgbClr val="1229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515600" y="4572000"/>
            <a:ext cx="3291840" cy="3291840"/>
          </a:xfrm>
          <a:prstGeom prst="ellipse">
            <a:avLst/>
          </a:prstGeom>
          <a:solidFill>
            <a:srgbClr val="1229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 362  ·  EMERGING TECHNOLOGIES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SOLANGE Copilot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privacy-preserving, local-LLM assistant for auditable quantum-oncology results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4297680"/>
            <a:ext cx="2926080" cy="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Doron Cohen   ·   Claremont Graduate University   ·   2026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5074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entirely on your machine - no data leaves it.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E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Powerful results, hard to trust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29000" cy="3291840"/>
          </a:xfrm>
          <a:prstGeom prst="roundRect">
            <a:avLst>
              <a:gd name="adj" fmla="val 2500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14400" y="2286000"/>
            <a:ext cx="640080" cy="64008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31089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Complex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14400" y="36118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Nine-part provenance records, quantum energies in Hartree, and cryptographic seals - hard to read and review.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43400" y="1965960"/>
            <a:ext cx="3429000" cy="3291840"/>
          </a:xfrm>
          <a:prstGeom prst="roundRect">
            <a:avLst>
              <a:gd name="adj" fmla="val 2500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17720" y="2286000"/>
            <a:ext cx="640080" cy="64008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61772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∿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17720" y="31089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Stochastic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617720" y="36118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sampling and variational noise make results non-reproducible by default.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046720" y="1965960"/>
            <a:ext cx="3429000" cy="3291840"/>
          </a:xfrm>
          <a:prstGeom prst="roundRect">
            <a:avLst>
              <a:gd name="adj" fmla="val 2500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321040" y="2286000"/>
            <a:ext cx="640080" cy="64008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32104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21040" y="31089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Sensitive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321040" y="36118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Genomic and clinical context cannot be sent to a third-party cloud API.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E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Capable AI - running privately, on a laptop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6035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local models are now good enough to extract, summarize, and answer over scientific records - no cloud.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locally via Ollama. nothing ever leaves the machine.      (a benefit a cloud API cannot offer) </a:t>
            </a:r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is grounded in retrieved sources and cites them - it refuses rather than guessing.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040880" y="1920240"/>
            <a:ext cx="4526280" cy="3383280"/>
          </a:xfrm>
          <a:prstGeom prst="roundRect">
            <a:avLst>
              <a:gd name="adj" fmla="val 2432"/>
            </a:avLst>
          </a:prstGeom>
          <a:solidFill>
            <a:srgbClr val="0B1E3D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0" y="21945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0" y="26060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Determinism where reducible,</a:t>
            </a:r>
            <a:endParaRPr lang="en-US" sz="2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notarization where irreducible.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0" y="40690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randomness at the LLM layer (temperature 0). notarize it where it is physical - quantum sampling - with cryptographic seals. Grounding handles correctness.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E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083003" cy="32918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20830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choice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local models, three size tiers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2560320" cy="2926080"/>
          </a:xfrm>
          <a:prstGeom prst="roundRect">
            <a:avLst>
              <a:gd name="adj" fmla="val 3214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B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522 MB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68680" y="28803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qwen3:0.6b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356616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/ fast baseline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01568" y="2011680"/>
            <a:ext cx="2560320" cy="2926080"/>
          </a:xfrm>
          <a:prstGeom prst="roundRect">
            <a:avLst>
              <a:gd name="adj" fmla="val 3214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30168" y="2286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B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 GB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630168" y="28803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deepseek-r1:1.5b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30168" y="356616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reasoning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63056" y="2011680"/>
            <a:ext cx="2560320" cy="2926080"/>
          </a:xfrm>
          <a:prstGeom prst="roundRect">
            <a:avLst>
              <a:gd name="adj" fmla="val 3214"/>
            </a:avLst>
          </a:prstGeom>
          <a:solidFill>
            <a:srgbClr val="0B1E3D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163056" y="2011680"/>
            <a:ext cx="2560320" cy="2926080"/>
          </a:xfrm>
          <a:prstGeom prst="roundRect">
            <a:avLst>
              <a:gd name="adj" fmla="val 3214"/>
            </a:avLst>
          </a:prstGeom>
          <a:ln w="3175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91656" y="2286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B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2.0 GB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391656" y="28803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llama3.2  (3B)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91656" y="356616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- our pick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391656" y="434340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391656" y="4343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SPOT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24544" y="2011680"/>
            <a:ext cx="2560320" cy="2926080"/>
          </a:xfrm>
          <a:prstGeom prst="roundRect">
            <a:avLst>
              <a:gd name="adj" fmla="val 3214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153144" y="2286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B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 GB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53144" y="28803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deepseek-r1:8b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53144" y="356616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reasoning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choice is itself a finding - see the evaluation.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E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172614" cy="32918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21726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Retrieval-grounded, two modes, one local engine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1965960" cy="2286000"/>
          </a:xfrm>
          <a:prstGeom prst="roundRect">
            <a:avLst>
              <a:gd name="adj" fmla="val 4186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389888" y="2395728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389888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9718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383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mutation or 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record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14600" y="2194560"/>
            <a:ext cx="457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880360" y="2194560"/>
            <a:ext cx="1965960" cy="2286000"/>
          </a:xfrm>
          <a:prstGeom prst="roundRect">
            <a:avLst>
              <a:gd name="adj" fmla="val 4186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630168" y="2395728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30168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971800" y="29718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971800" y="3383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over 19 real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PubMed-sourced refs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54880" y="2194560"/>
            <a:ext cx="457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120640" y="2194560"/>
            <a:ext cx="1965960" cy="2286000"/>
          </a:xfrm>
          <a:prstGeom prst="roundRect">
            <a:avLst>
              <a:gd name="adj" fmla="val 4186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870448" y="2395728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870448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212080" y="29718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12080" y="3383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contract: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only the context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95160" y="2194560"/>
            <a:ext cx="457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360920" y="2194560"/>
            <a:ext cx="1965960" cy="2286000"/>
          </a:xfrm>
          <a:prstGeom prst="roundRect">
            <a:avLst>
              <a:gd name="adj" fmla="val 4186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8110728" y="2395728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110728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452360" y="29718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452360" y="3383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model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Ollama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235440" y="2194560"/>
            <a:ext cx="457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</a:rPr>
              <a:t>→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9601200" y="2194560"/>
            <a:ext cx="1965960" cy="2286000"/>
          </a:xfrm>
          <a:prstGeom prst="roundRect">
            <a:avLst>
              <a:gd name="adj" fmla="val 4186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10351008" y="2395728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0351008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692640" y="29718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692640" y="3383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 + cited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+ provenance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080" y="4892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Zero-dependency Python server (stdlib only), auto-detects Ollama, and falls back to a deterministic mock so it runs anywhere.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E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10420"/>
            <a:ext cx="2172614" cy="32918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10420"/>
            <a:ext cx="21726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761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does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475085"/>
            <a:ext cx="5303520" cy="1463040"/>
          </a:xfrm>
          <a:prstGeom prst="roundRect">
            <a:avLst>
              <a:gd name="adj" fmla="val 5625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96112" y="1767693"/>
            <a:ext cx="502920" cy="50292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96112" y="1767693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00200" y="1676253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· Explain a run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600200" y="2133453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 P1-P9 provenance record into an auditable narrative and checks internal consistency.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1475085"/>
            <a:ext cx="5303520" cy="1463040"/>
          </a:xfrm>
          <a:prstGeom prst="roundRect">
            <a:avLst>
              <a:gd name="adj" fmla="val 5625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473952" y="1767693"/>
            <a:ext cx="502920" cy="50292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73952" y="1767693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78040" y="1676253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· Druggability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178040" y="2133453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why a tumor-suppressor mutation is non-druggable - grounded in literature, with citations.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166725"/>
            <a:ext cx="5303520" cy="1463040"/>
          </a:xfrm>
          <a:prstGeom prst="roundRect">
            <a:avLst>
              <a:gd name="adj" fmla="val 5625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96112" y="3459333"/>
            <a:ext cx="502920" cy="50292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96112" y="3459333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600200" y="3367893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LEON seal verification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3825093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Recomputes the P8 SHA-256 seal locally and detects tampering - offline.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17920" y="3166725"/>
            <a:ext cx="5303520" cy="1463040"/>
          </a:xfrm>
          <a:prstGeom prst="roundRect">
            <a:avLst>
              <a:gd name="adj" fmla="val 5625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473952" y="3459333"/>
            <a:ext cx="502920" cy="50292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73952" y="3459333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⬢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137848" y="3367893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Multi-scale, real runs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7127800" y="3825093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real records at 4, 24, and 88 qubits - scale-agnostic.</a:t>
            </a:r>
            <a:endParaRPr lang="en-US" sz="14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68D4765-9E6D-E7EB-F01F-D733AD8374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888" y="4700991"/>
            <a:ext cx="4628804" cy="208504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2264056C-9CD1-8E09-4FAD-7C96571C6A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7309" y="4658261"/>
            <a:ext cx="4119613" cy="20475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5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903781" cy="32918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90378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Verify, don't trust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seal verification – “LEON”, locally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823415"/>
            <a:ext cx="5349240" cy="2208628"/>
          </a:xfrm>
          <a:prstGeom prst="roundRect">
            <a:avLst>
              <a:gd name="adj" fmla="val 3333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pPr marL="0" algn="l" defTabSz="914400" rtl="0" eaLnBrk="1" latinLnBrk="0" hangingPunct="1"/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14400" y="2026910"/>
            <a:ext cx="640080" cy="640080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201705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691640" y="212677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Seal VERIFIED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08660" y="2877660"/>
            <a:ext cx="52806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Recomputed the SHA-256 seal over 37 fields. it matches the stored hash. The record is intact.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55080" y="1823415"/>
            <a:ext cx="5212080" cy="2208628"/>
          </a:xfrm>
          <a:prstGeom prst="roundRect">
            <a:avLst>
              <a:gd name="adj" fmla="val 3333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pPr marL="0" algn="l" defTabSz="914400" rtl="0" eaLnBrk="1" latinLnBrk="0" hangingPunct="1"/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629400" y="202691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629400" y="201705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406640" y="212677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Seal MISMATCH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36659" y="2877660"/>
            <a:ext cx="511526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one character/digit of the results - it catches the exact field. p7_energy_ha. Tamper detection, offline.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783080" y="396687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faithful reproduction of the platform's notary - the practical embodiment of “verify, don't trust.”</a:t>
            </a:r>
            <a:endParaRPr lang="en-US" sz="16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25135E1-27B4-0C18-B796-DAC7FD5F49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59" y="4456630"/>
            <a:ext cx="5113425" cy="220862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81F3722-416C-F3FD-1055-23334DDC3D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6306" y="4436233"/>
            <a:ext cx="4937312" cy="22478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E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00795"/>
            <a:ext cx="1993392" cy="32918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00795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66555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Bigger isn't better</a:t>
            </a:r>
            <a:endParaRPr lang="en-US" sz="3400" dirty="0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1034164489"/>
              </p:ext>
            </p:extLst>
          </p:nvPr>
        </p:nvGraphicFramePr>
        <p:xfrm>
          <a:off x="221060" y="1544379"/>
          <a:ext cx="576072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067350" y="287079"/>
            <a:ext cx="4846320" cy="1234440"/>
          </a:xfrm>
          <a:prstGeom prst="roundRect">
            <a:avLst>
              <a:gd name="adj" fmla="val 6667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295950" y="424239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B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llama3.2 (3B) wins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295950" y="835719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on every quality metric and the fastest - ties the 8B model at ~12× lower latency.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067350" y="1658679"/>
            <a:ext cx="4846320" cy="1234440"/>
          </a:xfrm>
          <a:prstGeom prst="roundRect">
            <a:avLst>
              <a:gd name="adj" fmla="val 6667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295950" y="1795839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B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 &gt; size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295950" y="2207319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Enriching the corpus lifted the 0.6B model to 100% grounding.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067350" y="3030279"/>
            <a:ext cx="4846320" cy="1234440"/>
          </a:xfrm>
          <a:prstGeom prst="roundRect">
            <a:avLst>
              <a:gd name="adj" fmla="val 6667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295950" y="3167439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B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hallucination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7295950" y="3578919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refused 100% of out-of-context questions.</a:t>
            </a:r>
            <a:endParaRPr lang="en-US" sz="13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4C8EB00-CFF5-6FA7-066F-7D2927D5FC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9981" y="4264719"/>
            <a:ext cx="5760720" cy="251726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E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172614" cy="32918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21726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Randomness  ·  Topic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Temperature 0 = reproducible, at no cost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3429000" cy="2651760"/>
          </a:xfrm>
          <a:prstGeom prst="roundRect">
            <a:avLst>
              <a:gd name="adj" fmla="val 3103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6B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14400" y="34290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std-dev at temperature 0 - fully deterministic, bit-for-bit reproducible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43400" y="2103120"/>
            <a:ext cx="3429000" cy="2651760"/>
          </a:xfrm>
          <a:prstGeom prst="roundRect">
            <a:avLst>
              <a:gd name="adj" fmla="val 3103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17720" y="24231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6B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617720" y="34290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 of out-of-context questions at every temperature tested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46720" y="2103120"/>
            <a:ext cx="3429000" cy="2651760"/>
          </a:xfrm>
          <a:prstGeom prst="roundRect">
            <a:avLst>
              <a:gd name="adj" fmla="val 3103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321040" y="24231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6B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variance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8321040" y="34290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temperature adds variability with no gain in accuracy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5074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language-model half of the thesis: reduce randomness where it is reducible.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E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889504" cy="32918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2889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 ·  Future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limits, clear next steps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303520" cy="3383280"/>
          </a:xfrm>
          <a:prstGeom prst="roundRect">
            <a:avLst>
              <a:gd name="adj" fmla="val 2432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399" y="2651760"/>
            <a:ext cx="4933741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local models are weaker than frontier cloud models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Determinism buys reproducibility, not correctness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evaluation set - single-item flips are noise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88-qubit Phase 3B record is a plan, not yet run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63640" y="1965960"/>
            <a:ext cx="5303520" cy="3383280"/>
          </a:xfrm>
          <a:prstGeom prst="roundRect">
            <a:avLst>
              <a:gd name="adj" fmla="val 2432"/>
            </a:avLst>
          </a:prstGeom>
          <a:solidFill>
            <a:srgbClr val="12294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5400000" algn="bl" rotWithShape="0">
              <a:srgbClr val="071018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53796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37960" y="2651760"/>
            <a:ext cx="47548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Chain-of-custody verification across record versions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retrieval (embeddings) vs. lexical BM25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PubMed lookup per mutation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Larger, repeated evaluation with tighter intervals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5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206240"/>
            <a:ext cx="4206240" cy="4206240"/>
          </a:xfrm>
          <a:prstGeom prst="ellipse">
            <a:avLst/>
          </a:prstGeom>
          <a:solidFill>
            <a:srgbClr val="1229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Private.  Reproducible.  Auditable.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capable AI assistant for quantum-oncology - running entirely on your machine.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68680" y="3886200"/>
            <a:ext cx="2743200" cy="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4114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(code + run instructions):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480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github.com/doron66-collab/lili2014  →  ist362_copilot/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Doron Cohen   ·   IST 362 Emerging Technologies   ·   CGU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739</Words>
  <Application>Microsoft Macintosh PowerPoint</Application>
  <PresentationFormat>Widescreen</PresentationFormat>
  <Paragraphs>137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doron 66</cp:lastModifiedBy>
  <cp:revision>4</cp:revision>
  <dcterms:created xsi:type="dcterms:W3CDTF">2026-07-19T11:20:00Z</dcterms:created>
  <dcterms:modified xsi:type="dcterms:W3CDTF">2026-07-19T15:26:33Z</dcterms:modified>
</cp:coreProperties>
</file>