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DORON COHEN (about 30 seconds)
Hello. We are Doron Cohen, Manuel Blanco, and Amit Mekel. Our project is called SOLANGE. It is a research platform that asks one simple question: when do we really need a quantum computer to study a cancer mutation?
I will open with the problem and the technology. Manuel will explain what earlier projects teach us, our management approach, and the team. Amit will walk you through the plan, step by step. I will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DORON COHEN (about 1.5 minutes)
Lung cancer is the most common cancer in the world, and it kills more people than any other cancer. In 2022 there were almost 2.5 million new cases and about 1.8 million deaths.
Most patients have non-small cell lung cancer. Many of them carry mutations that no approved targeted drug can treat. My dissertation estimates that this applies to about 60 percent of these patients.
One reason is computational. To design a drug for a mutated protein, we need an accurate model of the electrons at the mutated site. When many electrons interact strongly, classical computers lose accuracy. This is where quantum computing enters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DORON COHEN (about 1.5 minutes)
Quantum computers are expected to handle this kind of chemistry better. But today's machines are noisy. IBM plans its first large-scale, fault-tolerant machine, called Starling, for 2029. Our defense is planned for December 2027. So the technology we need matures after our milestones are due.
On top of that, this is what Rittel and Webber call a wicked problem. We cannot fully define what the platform must compute until we try to compute it. And every discipline on the team, chemistry, physics, biology, medicine, finance, and diplomacy, defines success in a different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DORON COHEN (about 1.5 minutes)
So SOLANGE does not assume that a quantum computer is needed. It checks.
For each mutation, taken from real patient sequencing data, the platform runs two independent classical methods, called DMRG and SHCI. If both methods agree that the problem can be solved classically, the verdict is Class B. If both agree that it cannot, the verdict is Class A, which means quantum-necessary.
A verification layer called LEON seals every result in nine provenance fields, P1 to P9, and checks it again before anyone may rely on it. This follows the audit-trail logic of the FDA rule for electronic records, known as Part 11.
So far, every real biological target we measured was classically tractable. We report that openly, because it is a real result.
This is not only a plan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DORON COHEN (about 1 minute)
Here is the platform as it runs today. On the left is the classifier map. Each point is a real target. The horizontal line is the boundary between Class B and Class A. So far, every real biological target sits below the line, in Class B.
On the upper right are small test jobs that ran on real IBM Heron quantum computers in July and August. They proved that the pipeline works on real hardware.
On the lower right is the audit trail. Every run is sealed and can be verified again.
Now Manuel will explain what earlier projects teach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MANUEL BLANCO (about 2 minutes)
Thank you, Doron. I look at this field the way a banker and an investor would, so I start with money and trust.
The best-known failure is IBM Watson for Oncology. MD Anderson Cancer Center spent 62 million dollars on a project built on Watson, and then canceled it. There was very little published evidence that Watson helped patients. The promises came before the proof, and the computer scientists and the doctors never fully understood each other.
Quantum computing carries a similar risk. In 2023, IBM announced a result that classical computers supposedly could not match. Within months, other researchers matched it on classical computers, and some of the calculations even ran on a mobile phone.
On the positive side, real progress came slowly and steadily. A lung cancer target called KRAS was considered almost impossible to drug. The key discovery came in 2013, and the drug was approved in 2021. That is eight years of patient work. And Cleveland Clinic and IBM built a ten-year partnership that also trains people.
For an investor, the lesson is simple: let evidence set the pace, not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MANUEL BLANCO (about 1.5 minutes)
So how do we manage a project like this? We use a model from the PMBOK Guide called Cynefin.
Cynefin sorts problems by how well we understand cause and effect. In a complicated situation, the questions are known, so experts can analyze and plan ahead. In a complex situation, nobody knows the answer in advance, so the team tries something, measures the result, and adjusts, in short cycles.
SOLANGE has both kinds of work. The classification stage uses proven classical methods, so we plan it with fixed milestones. The quantum stage is complex, so we work in short cycles and update the plan every quarter.
Using different approaches for different parts of one project is what our course calls tailoring.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MANUEL BLANCO (about 1.5 minutes)
Cynefin tells us how to handle uncertainty, but it does not tell us how to talk to people. The PMBOK table does not link it to stakeholders. So we add a second model: cross-cultural communication.
This model says that the background of the sender shapes the message, and the background of the listener shapes how it is understood. A chemist, a doctor, an investor, and a health minister will read the same result in four different ways. Each of them defines success differently.
So we set three rules. Every result states clearly whether it is established or still experimental. Uncertain results are explained in a live meeting, not only in a written report. And the same result must mean the same thing to every reader.
From my side, this is how we protect the trust of funders.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MANUEL BLANCO (about 1 minute)
Here is how we divided the work. Each of us leads the area of his own professional expertise.
Doron leads the project and all the technical and scientific work.
I lead funding and investor relations. U.S. federal funding is not open to this project, so we focus on binational science grants and an academic collaboration with IBM Research Israel. I also own the budget and the reporting to funders.
Amit leads international partnerships and health diplomacy. He builds relationships with partner hospitals and health ministries, and he helps us find experts for the evaluation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MANUEL BLANCO (about 1 minute)
This is our full timeline, from March 2026 to February 2028.
The upper part shows the research phases. The lower part shows the management tracks: the quarterly review of the plan, my funding track, and Amit's international partnership track.
There are four milestones, shown as diamonds: the proposal, the decision on access to IBM hardware, the freeze of our evaluation criteria, and the defense in December 2027. The red line shows where we are today.
Amit will now walk you through the plan,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AMIT MEKEL (about 1.5 minutes)
Thank you, Manuel. I will walk through the plan in simple terms.
Phases one and two are complete: the research foundation and a working prototype of the platform.
Phase 3A tests the design on a simulator. A simulator is a normal computer that imitates a quantum computer. The main test run finished on August 4, 2026. A larger run is still pending.
In July and August, the team also ran small test jobs on three real IBM quantum computers, called Kingston, Marrakesh, and Fez. These jobs proved that the whole pipeline works from end to end. They did not yet produce medical-grade chemistry results, and the team says that clearly. Being honest about what a result proves is part of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AMIT MEKEL (about 1.5 minutes)
Phase 3B is the hardest part of the plan. Here the project moves to IBM's newer machine, called Heron r3.
There are three problems. First, access depends on IBM, and it can take three to six months. Second, the hardware is still immature, so a run can fail for reasons the team does not control. Third, each discipline defines success differently, and here the differences are largest.
The plan answers each problem. Phase 3B is officially contingent. If access does not come by December, it becomes future work, and the project continues without delay. A target goes to the hardware only if it fits what the team has already proven it can run. And every discipline writes down its success criteria before the run, not after it.
In diplomacy we know this pattern well: when a result depends on another party, you prepare the alternative before the meeting, not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AMIT MEKEL (about 1.5 minutes)
Phase 4, from January to April 2027, is the independent evaluation. It has six steps: a technical test system, comparative benchmarks, recruiting a panel of four to six experts, two rounds of panel sessions, walkthroughs of real cases, and a final report.
The two rounds matter. In the first round, the experts review the idea. In the second round, they use the platform themselves.
The evaluation criteria are frozen in advance on the Open Science Framework. This means nobody can change the rules after seeing the results.
The hardest step here is recruiting the experts. We need people from several fields, and we have only three weeks. This is where my international network helps, through partner hospitals and research institutions.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AMIT MEKEL (about 1.5 minutes)
Three management tracks run next to the research.
First, every quarter the whole team updates the plan based on what was actually achieved, never on vendor promises. This rule came from our earlier A3 analysis.
Second, Manuel's funding track runs from October 2026 to June 2027.
Third, my track builds partnerships with hospitals and health ministries. For me, this is health diplomacy. Cancer does not stop at borders. A shared and trusted scientific platform can bring countries together, even when politics divides them. After the results are final, we plan to share them with our partner health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AMIT MEKEL (about 1.5 minutes)
Finally, the artifacts the project would use. These are the documents and tools that keep everyone aligned.
The project charter and the roadmap set the direction. The assumption log records every modeling choice behind a result. The risk register tracks the main risks: access, hardware, funding, and recruitment. The stakeholder register lists what success means for each group.
The change log records every formal change. For example, on September 23 the team retracted a result after a check found an error in the input structure. The change log shows that openly.
The communications plan and the budget complete the set.
Doron will now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DORON COHEN (about 1.5 minutes)
Thank you, Amit. Three lessons from this course shaped our plan.
First, tailoring. One project can use different approaches for different parts. Our classification stage follows a fixed plan, and our quantum stage works in short cycles.
Second, choose models for coverage. Cynefin handles the uncertainty of the technology, and the communication model handles the people. Each model covers what the other leaves open.
Third, evidence first. Our platform is allowed to say that a quantum computer is not needed. That is a result, not a failure.
With this structure, the uncertain future of quantum hardware becomes a managed condition. Every phase delivers value on its own, the hardware phase is contingent, and every result reaches its readers with its evidence and its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DORON COHEN (about 20 seconds)
Thank you for listening. On behalf of Manuel, Amit, and myself,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B8441F"/>
          </a:solidFill>
          <a:ln w="12700">
            <a:solidFill>
              <a:srgbClr val="B8441F"/>
            </a:solidFill>
            <a:prstDash val="solid"/>
          </a:ln>
        </p:spPr>
      </p:sp>
      <p:pic>
        <p:nvPicPr>
          <p:cNvPr id="3" name="Image 0" descr="preencoded.png">    </p:cNvPr>
          <p:cNvPicPr>
            <a:picLocks noChangeAspect="1"/>
          </p:cNvPicPr>
          <p:nvPr/>
        </p:nvPicPr>
        <p:blipFill>
          <a:blip r:embed="rId1"/>
          <a:stretch>
            <a:fillRect/>
          </a:stretch>
        </p:blipFill>
        <p:spPr>
          <a:xfrm>
            <a:off x="724205" y="815645"/>
            <a:ext cx="380390" cy="380390"/>
          </a:xfrm>
          <a:prstGeom prst="rect">
            <a:avLst/>
          </a:prstGeom>
        </p:spPr>
      </p:pic>
      <p:sp>
        <p:nvSpPr>
          <p:cNvPr id="4" name="Text 1"/>
          <p:cNvSpPr txBox="1"/>
          <p:nvPr/>
        </p:nvSpPr>
        <p:spPr>
          <a:xfrm>
            <a:off x="548640" y="1508760"/>
            <a:ext cx="8046720" cy="73152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SOLANGE</a:t>
            </a:r>
            <a:endParaRPr lang="en-US" sz="4400" dirty="0"/>
          </a:p>
        </p:txBody>
      </p:sp>
      <p:sp>
        <p:nvSpPr>
          <p:cNvPr id="5" name="Text 2"/>
          <p:cNvSpPr txBox="1"/>
          <p:nvPr/>
        </p:nvSpPr>
        <p:spPr>
          <a:xfrm>
            <a:off x="548640" y="2240280"/>
            <a:ext cx="7498080" cy="822960"/>
          </a:xfrm>
          <a:prstGeom prst="rect">
            <a:avLst/>
          </a:prstGeom>
          <a:noFill/>
          <a:ln/>
        </p:spPr>
        <p:txBody>
          <a:bodyPr wrap="square" lIns="0" tIns="0" rIns="0" bIns="0" rtlCol="0" anchor="t"/>
          <a:lstStyle/>
          <a:p>
            <a:pPr indent="0" marL="0">
              <a:buNone/>
            </a:pPr>
            <a:r>
              <a:rPr lang="en-US" sz="2000" dirty="0">
                <a:solidFill>
                  <a:srgbClr val="D9E1EA"/>
                </a:solidFill>
                <a:latin typeface="Calibri" pitchFamily="34" charset="0"/>
                <a:ea typeface="Calibri" pitchFamily="34" charset="-122"/>
                <a:cs typeface="Calibri" pitchFamily="34" charset="-120"/>
              </a:rPr>
              <a:t>Planning a transdisciplinary quantum-oncology research platform under technological uncertainty</a:t>
            </a:r>
            <a:endParaRPr lang="en-US" sz="2000" dirty="0"/>
          </a:p>
        </p:txBody>
      </p:sp>
      <p:sp>
        <p:nvSpPr>
          <p:cNvPr id="6" name="Text 3"/>
          <p:cNvSpPr txBox="1"/>
          <p:nvPr/>
        </p:nvSpPr>
        <p:spPr>
          <a:xfrm>
            <a:off x="548640" y="3337560"/>
            <a:ext cx="804672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Doron Cohen  |  Manuel Blanco  |  Amit Mekel</a:t>
            </a:r>
            <a:endParaRPr lang="en-US" sz="1500" dirty="0"/>
          </a:p>
        </p:txBody>
      </p:sp>
      <p:sp>
        <p:nvSpPr>
          <p:cNvPr id="7" name="Text 4"/>
          <p:cNvSpPr txBox="1"/>
          <p:nvPr/>
        </p:nvSpPr>
        <p:spPr>
          <a:xfrm>
            <a:off x="548640" y="3703320"/>
            <a:ext cx="8046720" cy="457200"/>
          </a:xfrm>
          <a:prstGeom prst="rect">
            <a:avLst/>
          </a:prstGeom>
          <a:noFill/>
          <a:ln/>
        </p:spPr>
        <p:txBody>
          <a:bodyPr wrap="square" lIns="0" tIns="0" rIns="0" bIns="0" rtlCol="0" anchor="t"/>
          <a:lstStyle/>
          <a:p>
            <a:pPr indent="0" marL="0">
              <a:buNone/>
            </a:pPr>
            <a:r>
              <a:rPr lang="en-US" sz="1100" dirty="0">
                <a:solidFill>
                  <a:srgbClr val="AAB6C4"/>
                </a:solidFill>
                <a:latin typeface="Calibri" pitchFamily="34" charset="0"/>
                <a:ea typeface="Calibri" pitchFamily="34" charset="-122"/>
                <a:cs typeface="Calibri" pitchFamily="34" charset="-120"/>
              </a:rPr>
              <a:t>TNDY 315: Principles of Project Management in a Complex World  |  Dr. Matthew Muga  |  Claremont Graduate University  |  September 2026</a:t>
            </a:r>
            <a:endParaRPr lang="en-US" sz="1100" dirty="0"/>
          </a:p>
        </p:txBody>
      </p:sp>
      <p:sp>
        <p:nvSpPr>
          <p:cNvPr id="8" name="Text 5"/>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AAB6C4"/>
                </a:solidFill>
                <a:latin typeface="Calibri" pitchFamily="34" charset="0"/>
                <a:ea typeface="Calibri" pitchFamily="34" charset="-122"/>
                <a:cs typeface="Calibri" pitchFamily="34" charset="-120"/>
              </a:rPr>
              <a:t>Presenter: Doron Cohen</a:t>
            </a:r>
            <a:endParaRPr lang="en-US" sz="900" dirty="0"/>
          </a:p>
        </p:txBody>
      </p:sp>
      <p:sp>
        <p:nvSpPr>
          <p:cNvPr id="9" name="Text 6"/>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AAB6C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The problem: cancer mutations with no drug</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Lung cancer is the most diagnosed and most lethal cancer worldwide</a:t>
            </a:r>
            <a:endParaRPr lang="en-US" sz="1300" dirty="0"/>
          </a:p>
        </p:txBody>
      </p:sp>
      <p:sp>
        <p:nvSpPr>
          <p:cNvPr id="4" name="Shape 2"/>
          <p:cNvSpPr/>
          <p:nvPr/>
        </p:nvSpPr>
        <p:spPr>
          <a:xfrm>
            <a:off x="457200" y="1371600"/>
            <a:ext cx="2606040" cy="1920240"/>
          </a:xfrm>
          <a:prstGeom prst="roundRect">
            <a:avLst>
              <a:gd name="adj" fmla="val 3810"/>
            </a:avLst>
          </a:prstGeom>
          <a:solidFill>
            <a:srgbClr val="F2F4F7"/>
          </a:solidFill>
          <a:ln w="12700">
            <a:solidFill>
              <a:srgbClr val="F2F4F7"/>
            </a:solidFill>
            <a:prstDash val="solid"/>
          </a:ln>
        </p:spPr>
      </p:sp>
      <p:sp>
        <p:nvSpPr>
          <p:cNvPr id="5" name="Text 3"/>
          <p:cNvSpPr txBox="1"/>
          <p:nvPr/>
        </p:nvSpPr>
        <p:spPr>
          <a:xfrm>
            <a:off x="640080" y="1508760"/>
            <a:ext cx="2240280" cy="82296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2.5M</a:t>
            </a:r>
            <a:endParaRPr lang="en-US" sz="4400" dirty="0"/>
          </a:p>
        </p:txBody>
      </p:sp>
      <p:sp>
        <p:nvSpPr>
          <p:cNvPr id="6" name="Text 4"/>
          <p:cNvSpPr txBox="1"/>
          <p:nvPr/>
        </p:nvSpPr>
        <p:spPr>
          <a:xfrm>
            <a:off x="640080" y="2377440"/>
            <a:ext cx="22402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new lung cancer cases in 2022</a:t>
            </a:r>
            <a:endParaRPr lang="en-US" sz="1300" dirty="0"/>
          </a:p>
        </p:txBody>
      </p:sp>
      <p:sp>
        <p:nvSpPr>
          <p:cNvPr id="7" name="Text 5"/>
          <p:cNvSpPr txBox="1"/>
          <p:nvPr/>
        </p:nvSpPr>
        <p:spPr>
          <a:xfrm>
            <a:off x="640080" y="2971800"/>
            <a:ext cx="2240280" cy="228600"/>
          </a:xfrm>
          <a:prstGeom prst="rect">
            <a:avLst/>
          </a:prstGeom>
          <a:noFill/>
          <a:ln/>
        </p:spPr>
        <p:txBody>
          <a:bodyPr wrap="square" lIns="0" tIns="0" rIns="0" bIns="0" rtlCol="0" anchor="t"/>
          <a:lstStyle/>
          <a:p>
            <a:pPr indent="0" marL="0">
              <a:buNone/>
            </a:pPr>
            <a:r>
              <a:rPr lang="en-US" sz="900" i="1" dirty="0">
                <a:solidFill>
                  <a:srgbClr val="6B7785"/>
                </a:solidFill>
                <a:latin typeface="Calibri" pitchFamily="34" charset="0"/>
                <a:ea typeface="Calibri" pitchFamily="34" charset="-122"/>
                <a:cs typeface="Calibri" pitchFamily="34" charset="-120"/>
              </a:rPr>
              <a:t>Bray et al., 2024</a:t>
            </a:r>
            <a:endParaRPr lang="en-US" sz="900" dirty="0"/>
          </a:p>
        </p:txBody>
      </p:sp>
      <p:sp>
        <p:nvSpPr>
          <p:cNvPr id="8" name="Shape 6"/>
          <p:cNvSpPr/>
          <p:nvPr/>
        </p:nvSpPr>
        <p:spPr>
          <a:xfrm>
            <a:off x="3246120" y="1371600"/>
            <a:ext cx="2606040" cy="1920240"/>
          </a:xfrm>
          <a:prstGeom prst="roundRect">
            <a:avLst>
              <a:gd name="adj" fmla="val 3810"/>
            </a:avLst>
          </a:prstGeom>
          <a:solidFill>
            <a:srgbClr val="F2F4F7"/>
          </a:solidFill>
          <a:ln w="12700">
            <a:solidFill>
              <a:srgbClr val="F2F4F7"/>
            </a:solidFill>
            <a:prstDash val="solid"/>
          </a:ln>
        </p:spPr>
      </p:sp>
      <p:sp>
        <p:nvSpPr>
          <p:cNvPr id="9" name="Text 7"/>
          <p:cNvSpPr txBox="1"/>
          <p:nvPr/>
        </p:nvSpPr>
        <p:spPr>
          <a:xfrm>
            <a:off x="3429000" y="1508760"/>
            <a:ext cx="2240280" cy="822960"/>
          </a:xfrm>
          <a:prstGeom prst="rect">
            <a:avLst/>
          </a:prstGeom>
          <a:noFill/>
          <a:ln/>
        </p:spPr>
        <p:txBody>
          <a:bodyPr wrap="square" lIns="0" tIns="0" rIns="0" bIns="0" rtlCol="0" anchor="ctr"/>
          <a:lstStyle/>
          <a:p>
            <a:pPr indent="0" marL="0">
              <a:buNone/>
            </a:pPr>
            <a:r>
              <a:rPr lang="en-US" sz="4400" b="1" dirty="0">
                <a:solidFill>
                  <a:srgbClr val="1B2A41"/>
                </a:solidFill>
                <a:latin typeface="Cambria" pitchFamily="34" charset="0"/>
                <a:ea typeface="Cambria" pitchFamily="34" charset="-122"/>
                <a:cs typeface="Cambria" pitchFamily="34" charset="-120"/>
              </a:rPr>
              <a:t>1.8M</a:t>
            </a:r>
            <a:endParaRPr lang="en-US" sz="4400" dirty="0"/>
          </a:p>
        </p:txBody>
      </p:sp>
      <p:sp>
        <p:nvSpPr>
          <p:cNvPr id="10" name="Text 8"/>
          <p:cNvSpPr txBox="1"/>
          <p:nvPr/>
        </p:nvSpPr>
        <p:spPr>
          <a:xfrm>
            <a:off x="3429000" y="2377440"/>
            <a:ext cx="22402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lung cancer deaths in 2022</a:t>
            </a:r>
            <a:endParaRPr lang="en-US" sz="1300" dirty="0"/>
          </a:p>
        </p:txBody>
      </p:sp>
      <p:sp>
        <p:nvSpPr>
          <p:cNvPr id="11" name="Text 9"/>
          <p:cNvSpPr txBox="1"/>
          <p:nvPr/>
        </p:nvSpPr>
        <p:spPr>
          <a:xfrm>
            <a:off x="3429000" y="2971800"/>
            <a:ext cx="2240280" cy="228600"/>
          </a:xfrm>
          <a:prstGeom prst="rect">
            <a:avLst/>
          </a:prstGeom>
          <a:noFill/>
          <a:ln/>
        </p:spPr>
        <p:txBody>
          <a:bodyPr wrap="square" lIns="0" tIns="0" rIns="0" bIns="0" rtlCol="0" anchor="t"/>
          <a:lstStyle/>
          <a:p>
            <a:pPr indent="0" marL="0">
              <a:buNone/>
            </a:pPr>
            <a:r>
              <a:rPr lang="en-US" sz="900" i="1" dirty="0">
                <a:solidFill>
                  <a:srgbClr val="6B7785"/>
                </a:solidFill>
                <a:latin typeface="Calibri" pitchFamily="34" charset="0"/>
                <a:ea typeface="Calibri" pitchFamily="34" charset="-122"/>
                <a:cs typeface="Calibri" pitchFamily="34" charset="-120"/>
              </a:rPr>
              <a:t>Bray et al., 2024</a:t>
            </a:r>
            <a:endParaRPr lang="en-US" sz="900" dirty="0"/>
          </a:p>
        </p:txBody>
      </p:sp>
      <p:sp>
        <p:nvSpPr>
          <p:cNvPr id="12" name="Shape 10"/>
          <p:cNvSpPr/>
          <p:nvPr/>
        </p:nvSpPr>
        <p:spPr>
          <a:xfrm>
            <a:off x="6035040" y="1371600"/>
            <a:ext cx="2606040" cy="1920240"/>
          </a:xfrm>
          <a:prstGeom prst="roundRect">
            <a:avLst>
              <a:gd name="adj" fmla="val 3810"/>
            </a:avLst>
          </a:prstGeom>
          <a:solidFill>
            <a:srgbClr val="F2F4F7"/>
          </a:solidFill>
          <a:ln w="12700">
            <a:solidFill>
              <a:srgbClr val="F2F4F7"/>
            </a:solidFill>
            <a:prstDash val="solid"/>
          </a:ln>
        </p:spPr>
      </p:sp>
      <p:sp>
        <p:nvSpPr>
          <p:cNvPr id="13" name="Text 11"/>
          <p:cNvSpPr txBox="1"/>
          <p:nvPr/>
        </p:nvSpPr>
        <p:spPr>
          <a:xfrm>
            <a:off x="6217920" y="1508760"/>
            <a:ext cx="2240280" cy="822960"/>
          </a:xfrm>
          <a:prstGeom prst="rect">
            <a:avLst/>
          </a:prstGeom>
          <a:noFill/>
          <a:ln/>
        </p:spPr>
        <p:txBody>
          <a:bodyPr wrap="square" lIns="0" tIns="0" rIns="0" bIns="0" rtlCol="0" anchor="ctr"/>
          <a:lstStyle/>
          <a:p>
            <a:pPr indent="0" marL="0">
              <a:buNone/>
            </a:pPr>
            <a:r>
              <a:rPr lang="en-US" sz="4400" b="1" dirty="0">
                <a:solidFill>
                  <a:srgbClr val="B8441F"/>
                </a:solidFill>
                <a:latin typeface="Cambria" pitchFamily="34" charset="0"/>
                <a:ea typeface="Cambria" pitchFamily="34" charset="-122"/>
                <a:cs typeface="Cambria" pitchFamily="34" charset="-120"/>
              </a:rPr>
              <a:t>~60%</a:t>
            </a:r>
            <a:endParaRPr lang="en-US" sz="4400" dirty="0"/>
          </a:p>
        </p:txBody>
      </p:sp>
      <p:sp>
        <p:nvSpPr>
          <p:cNvPr id="14" name="Text 12"/>
          <p:cNvSpPr txBox="1"/>
          <p:nvPr/>
        </p:nvSpPr>
        <p:spPr>
          <a:xfrm>
            <a:off x="6217920" y="2377440"/>
            <a:ext cx="22402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of NSCLC patients carry mutations with no approved targeted drug</a:t>
            </a:r>
            <a:endParaRPr lang="en-US" sz="1300" dirty="0"/>
          </a:p>
        </p:txBody>
      </p:sp>
      <p:sp>
        <p:nvSpPr>
          <p:cNvPr id="15" name="Text 13"/>
          <p:cNvSpPr txBox="1"/>
          <p:nvPr/>
        </p:nvSpPr>
        <p:spPr>
          <a:xfrm>
            <a:off x="6217920" y="2971800"/>
            <a:ext cx="2240280" cy="228600"/>
          </a:xfrm>
          <a:prstGeom prst="rect">
            <a:avLst/>
          </a:prstGeom>
          <a:noFill/>
          <a:ln/>
        </p:spPr>
        <p:txBody>
          <a:bodyPr wrap="square" lIns="0" tIns="0" rIns="0" bIns="0" rtlCol="0" anchor="t"/>
          <a:lstStyle/>
          <a:p>
            <a:pPr indent="0" marL="0">
              <a:buNone/>
            </a:pPr>
            <a:r>
              <a:rPr lang="en-US" sz="900" i="1" dirty="0">
                <a:solidFill>
                  <a:srgbClr val="6B7785"/>
                </a:solidFill>
                <a:latin typeface="Calibri" pitchFamily="34" charset="0"/>
                <a:ea typeface="Calibri" pitchFamily="34" charset="-122"/>
                <a:cs typeface="Calibri" pitchFamily="34" charset="-120"/>
              </a:rPr>
              <a:t>Cohen, 2026a (estimate)</a:t>
            </a:r>
            <a:endParaRPr lang="en-US" sz="900" dirty="0"/>
          </a:p>
        </p:txBody>
      </p:sp>
      <p:sp>
        <p:nvSpPr>
          <p:cNvPr id="16" name="Shape 14"/>
          <p:cNvSpPr/>
          <p:nvPr/>
        </p:nvSpPr>
        <p:spPr>
          <a:xfrm>
            <a:off x="457200" y="3611880"/>
            <a:ext cx="502920" cy="502920"/>
          </a:xfrm>
          <a:prstGeom prst="ellipse">
            <a:avLst/>
          </a:prstGeom>
          <a:solidFill>
            <a:srgbClr val="1B2A41"/>
          </a:solidFill>
          <a:ln w="12700">
            <a:solidFill>
              <a:srgbClr val="1B2A41"/>
            </a:solidFill>
            <a:prstDash val="solid"/>
          </a:ln>
        </p:spPr>
      </p:sp>
      <p:pic>
        <p:nvPicPr>
          <p:cNvPr id="17" name="Image 0" descr="preencoded.png">    </p:cNvPr>
          <p:cNvPicPr>
            <a:picLocks noChangeAspect="1"/>
          </p:cNvPicPr>
          <p:nvPr/>
        </p:nvPicPr>
        <p:blipFill>
          <a:blip r:embed="rId1"/>
          <a:stretch>
            <a:fillRect/>
          </a:stretch>
        </p:blipFill>
        <p:spPr>
          <a:xfrm>
            <a:off x="577901" y="3732581"/>
            <a:ext cx="261518" cy="261518"/>
          </a:xfrm>
          <a:prstGeom prst="rect">
            <a:avLst/>
          </a:prstGeom>
        </p:spPr>
      </p:pic>
      <p:sp>
        <p:nvSpPr>
          <p:cNvPr id="18" name="Text 15"/>
          <p:cNvSpPr txBox="1"/>
          <p:nvPr/>
        </p:nvSpPr>
        <p:spPr>
          <a:xfrm>
            <a:off x="1143000" y="3611880"/>
            <a:ext cx="7543800" cy="640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designing a drug needs an accurate model of the electrons at the mutated site. Classical computers lose accuracy when many electrons interact strongly.</a:t>
            </a:r>
            <a:endParaRPr lang="en-US" sz="1400" dirty="0"/>
          </a:p>
        </p:txBody>
      </p:sp>
      <p:sp>
        <p:nvSpPr>
          <p:cNvPr id="19" name="Text 16"/>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Doron Cohen</a:t>
            </a:r>
            <a:endParaRPr lang="en-US" sz="900" dirty="0"/>
          </a:p>
        </p:txBody>
      </p:sp>
      <p:sp>
        <p:nvSpPr>
          <p:cNvPr id="20" name="Text 17"/>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Why quantum computing, and why not yet</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The technology we need matures after our milestones are due</a:t>
            </a:r>
            <a:endParaRPr lang="en-US" sz="1300" dirty="0"/>
          </a:p>
        </p:txBody>
      </p:sp>
      <p:sp>
        <p:nvSpPr>
          <p:cNvPr id="4" name="Shape 2"/>
          <p:cNvSpPr/>
          <p:nvPr/>
        </p:nvSpPr>
        <p:spPr>
          <a:xfrm>
            <a:off x="1280160" y="2011680"/>
            <a:ext cx="6583680" cy="0"/>
          </a:xfrm>
          <a:prstGeom prst="line">
            <a:avLst/>
          </a:prstGeom>
          <a:noFill/>
          <a:ln w="25400">
            <a:solidFill>
              <a:srgbClr val="5A6B7E"/>
            </a:solidFill>
            <a:prstDash val="solid"/>
          </a:ln>
        </p:spPr>
      </p:sp>
      <p:sp>
        <p:nvSpPr>
          <p:cNvPr id="5" name="Shape 3"/>
          <p:cNvSpPr/>
          <p:nvPr/>
        </p:nvSpPr>
        <p:spPr>
          <a:xfrm>
            <a:off x="1152144" y="1883664"/>
            <a:ext cx="256032" cy="256032"/>
          </a:xfrm>
          <a:prstGeom prst="ellipse">
            <a:avLst/>
          </a:prstGeom>
          <a:solidFill>
            <a:srgbClr val="1B2A41"/>
          </a:solidFill>
          <a:ln w="25400">
            <a:solidFill>
              <a:srgbClr val="FFFFFF"/>
            </a:solidFill>
            <a:prstDash val="solid"/>
          </a:ln>
        </p:spPr>
      </p:sp>
      <p:sp>
        <p:nvSpPr>
          <p:cNvPr id="6" name="Text 4"/>
          <p:cNvSpPr txBox="1"/>
          <p:nvPr/>
        </p:nvSpPr>
        <p:spPr>
          <a:xfrm>
            <a:off x="640080" y="1417320"/>
            <a:ext cx="1280160" cy="36576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2023</a:t>
            </a:r>
            <a:endParaRPr lang="en-US" sz="1800" dirty="0"/>
          </a:p>
        </p:txBody>
      </p:sp>
      <p:sp>
        <p:nvSpPr>
          <p:cNvPr id="7" name="Text 5"/>
          <p:cNvSpPr txBox="1"/>
          <p:nvPr/>
        </p:nvSpPr>
        <p:spPr>
          <a:xfrm>
            <a:off x="502920" y="2240280"/>
            <a:ext cx="1554480"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IBM "utility" claim, later matched classically</a:t>
            </a:r>
            <a:endParaRPr lang="en-US" sz="1100" dirty="0"/>
          </a:p>
        </p:txBody>
      </p:sp>
      <p:sp>
        <p:nvSpPr>
          <p:cNvPr id="8" name="Shape 6"/>
          <p:cNvSpPr/>
          <p:nvPr/>
        </p:nvSpPr>
        <p:spPr>
          <a:xfrm>
            <a:off x="3346704" y="1883664"/>
            <a:ext cx="256032" cy="256032"/>
          </a:xfrm>
          <a:prstGeom prst="ellipse">
            <a:avLst/>
          </a:prstGeom>
          <a:solidFill>
            <a:srgbClr val="1B2A41"/>
          </a:solidFill>
          <a:ln w="25400">
            <a:solidFill>
              <a:srgbClr val="FFFFFF"/>
            </a:solidFill>
            <a:prstDash val="solid"/>
          </a:ln>
        </p:spPr>
      </p:sp>
      <p:sp>
        <p:nvSpPr>
          <p:cNvPr id="9" name="Text 7"/>
          <p:cNvSpPr txBox="1"/>
          <p:nvPr/>
        </p:nvSpPr>
        <p:spPr>
          <a:xfrm>
            <a:off x="2834640" y="1417320"/>
            <a:ext cx="1280160" cy="36576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2026</a:t>
            </a:r>
            <a:endParaRPr lang="en-US" sz="1800" dirty="0"/>
          </a:p>
        </p:txBody>
      </p:sp>
      <p:sp>
        <p:nvSpPr>
          <p:cNvPr id="10" name="Text 8"/>
          <p:cNvSpPr txBox="1"/>
          <p:nvPr/>
        </p:nvSpPr>
        <p:spPr>
          <a:xfrm>
            <a:off x="2697480" y="2240280"/>
            <a:ext cx="1554480"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Today: noisy hardware, pipeline tests on 3 IBM devices</a:t>
            </a:r>
            <a:endParaRPr lang="en-US" sz="1100" dirty="0"/>
          </a:p>
        </p:txBody>
      </p:sp>
      <p:sp>
        <p:nvSpPr>
          <p:cNvPr id="11" name="Shape 9"/>
          <p:cNvSpPr/>
          <p:nvPr/>
        </p:nvSpPr>
        <p:spPr>
          <a:xfrm>
            <a:off x="5541264" y="1883664"/>
            <a:ext cx="256032" cy="256032"/>
          </a:xfrm>
          <a:prstGeom prst="ellipse">
            <a:avLst/>
          </a:prstGeom>
          <a:solidFill>
            <a:srgbClr val="1B2A41"/>
          </a:solidFill>
          <a:ln w="25400">
            <a:solidFill>
              <a:srgbClr val="FFFFFF"/>
            </a:solidFill>
            <a:prstDash val="solid"/>
          </a:ln>
        </p:spPr>
      </p:sp>
      <p:sp>
        <p:nvSpPr>
          <p:cNvPr id="12" name="Text 10"/>
          <p:cNvSpPr txBox="1"/>
          <p:nvPr/>
        </p:nvSpPr>
        <p:spPr>
          <a:xfrm>
            <a:off x="5029200" y="1417320"/>
            <a:ext cx="1280160" cy="36576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2027</a:t>
            </a:r>
            <a:endParaRPr lang="en-US" sz="1800" dirty="0"/>
          </a:p>
        </p:txBody>
      </p:sp>
      <p:sp>
        <p:nvSpPr>
          <p:cNvPr id="13" name="Text 11"/>
          <p:cNvSpPr txBox="1"/>
          <p:nvPr/>
        </p:nvSpPr>
        <p:spPr>
          <a:xfrm>
            <a:off x="4892040" y="2240280"/>
            <a:ext cx="1554480"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Our defense (Dec 2027)</a:t>
            </a:r>
            <a:endParaRPr lang="en-US" sz="1100" dirty="0"/>
          </a:p>
        </p:txBody>
      </p:sp>
      <p:sp>
        <p:nvSpPr>
          <p:cNvPr id="14" name="Shape 12"/>
          <p:cNvSpPr/>
          <p:nvPr/>
        </p:nvSpPr>
        <p:spPr>
          <a:xfrm>
            <a:off x="7735824" y="1883664"/>
            <a:ext cx="256032" cy="256032"/>
          </a:xfrm>
          <a:prstGeom prst="ellipse">
            <a:avLst/>
          </a:prstGeom>
          <a:solidFill>
            <a:srgbClr val="B8441F"/>
          </a:solidFill>
          <a:ln w="25400">
            <a:solidFill>
              <a:srgbClr val="FFFFFF"/>
            </a:solidFill>
            <a:prstDash val="solid"/>
          </a:ln>
        </p:spPr>
      </p:sp>
      <p:sp>
        <p:nvSpPr>
          <p:cNvPr id="15" name="Text 13"/>
          <p:cNvSpPr txBox="1"/>
          <p:nvPr/>
        </p:nvSpPr>
        <p:spPr>
          <a:xfrm>
            <a:off x="7223760" y="1417320"/>
            <a:ext cx="1280160" cy="365760"/>
          </a:xfrm>
          <a:prstGeom prst="rect">
            <a:avLst/>
          </a:prstGeom>
          <a:noFill/>
          <a:ln/>
        </p:spPr>
        <p:txBody>
          <a:bodyPr wrap="square" lIns="0" tIns="0" rIns="0" bIns="0" rtlCol="0" anchor="ctr"/>
          <a:lstStyle/>
          <a:p>
            <a:pPr algn="ctr" indent="0" marL="0">
              <a:buNone/>
            </a:pPr>
            <a:r>
              <a:rPr lang="en-US" sz="1800" b="1" dirty="0">
                <a:solidFill>
                  <a:srgbClr val="B8441F"/>
                </a:solidFill>
                <a:latin typeface="Cambria" pitchFamily="34" charset="0"/>
                <a:ea typeface="Cambria" pitchFamily="34" charset="-122"/>
                <a:cs typeface="Cambria" pitchFamily="34" charset="-120"/>
              </a:rPr>
              <a:t>2029</a:t>
            </a:r>
            <a:endParaRPr lang="en-US" sz="1800" dirty="0"/>
          </a:p>
        </p:txBody>
      </p:sp>
      <p:sp>
        <p:nvSpPr>
          <p:cNvPr id="16" name="Text 14"/>
          <p:cNvSpPr txBox="1"/>
          <p:nvPr/>
        </p:nvSpPr>
        <p:spPr>
          <a:xfrm>
            <a:off x="7086600" y="2240280"/>
            <a:ext cx="1554480"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IBM Starling: first large-scale fault-tolerant system</a:t>
            </a:r>
            <a:endParaRPr lang="en-US" sz="1100" dirty="0"/>
          </a:p>
        </p:txBody>
      </p:sp>
      <p:sp>
        <p:nvSpPr>
          <p:cNvPr id="17" name="Shape 15"/>
          <p:cNvSpPr/>
          <p:nvPr/>
        </p:nvSpPr>
        <p:spPr>
          <a:xfrm>
            <a:off x="457200" y="3246120"/>
            <a:ext cx="8229600" cy="1234440"/>
          </a:xfrm>
          <a:prstGeom prst="roundRect">
            <a:avLst>
              <a:gd name="adj" fmla="val 5926"/>
            </a:avLst>
          </a:prstGeom>
          <a:solidFill>
            <a:srgbClr val="F2F4F7"/>
          </a:solidFill>
          <a:ln w="12700">
            <a:solidFill>
              <a:srgbClr val="F2F4F7"/>
            </a:solidFill>
            <a:prstDash val="solid"/>
          </a:ln>
        </p:spPr>
      </p:sp>
      <p:sp>
        <p:nvSpPr>
          <p:cNvPr id="18" name="Shape 16"/>
          <p:cNvSpPr/>
          <p:nvPr/>
        </p:nvSpPr>
        <p:spPr>
          <a:xfrm>
            <a:off x="685800" y="3474720"/>
            <a:ext cx="731520" cy="731520"/>
          </a:xfrm>
          <a:prstGeom prst="ellipse">
            <a:avLst/>
          </a:prstGeom>
          <a:solidFill>
            <a:srgbClr val="B8441F"/>
          </a:solidFill>
          <a:ln w="12700">
            <a:solidFill>
              <a:srgbClr val="B8441F"/>
            </a:solidFill>
            <a:prstDash val="solid"/>
          </a:ln>
        </p:spPr>
      </p:sp>
      <p:pic>
        <p:nvPicPr>
          <p:cNvPr id="19" name="Image 0" descr="preencoded.png">    </p:cNvPr>
          <p:cNvPicPr>
            <a:picLocks noChangeAspect="1"/>
          </p:cNvPicPr>
          <p:nvPr/>
        </p:nvPicPr>
        <p:blipFill>
          <a:blip r:embed="rId1"/>
          <a:stretch>
            <a:fillRect/>
          </a:stretch>
        </p:blipFill>
        <p:spPr>
          <a:xfrm>
            <a:off x="861365" y="3650285"/>
            <a:ext cx="380390" cy="380390"/>
          </a:xfrm>
          <a:prstGeom prst="rect">
            <a:avLst/>
          </a:prstGeom>
        </p:spPr>
      </p:pic>
      <p:sp>
        <p:nvSpPr>
          <p:cNvPr id="20" name="Text 17"/>
          <p:cNvSpPr txBox="1"/>
          <p:nvPr/>
        </p:nvSpPr>
        <p:spPr>
          <a:xfrm>
            <a:off x="1645920" y="3383280"/>
            <a:ext cx="6858000" cy="3200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A wicked problem</a:t>
            </a:r>
            <a:endParaRPr lang="en-US" sz="1600" dirty="0"/>
          </a:p>
        </p:txBody>
      </p:sp>
      <p:sp>
        <p:nvSpPr>
          <p:cNvPr id="21" name="Text 18"/>
          <p:cNvSpPr txBox="1"/>
          <p:nvPr/>
        </p:nvSpPr>
        <p:spPr>
          <a:xfrm>
            <a:off x="1645920" y="3703320"/>
            <a:ext cx="685800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We cannot fully define what the platform must compute until we try to compute it (Rittel &amp; Webber, 1972). Each discipline also defines success differently.</a:t>
            </a:r>
            <a:endParaRPr lang="en-US" sz="1300" dirty="0"/>
          </a:p>
        </p:txBody>
      </p:sp>
      <p:sp>
        <p:nvSpPr>
          <p:cNvPr id="22" name="Text 19"/>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Doron Cohen</a:t>
            </a:r>
            <a:endParaRPr lang="en-US" sz="900" dirty="0"/>
          </a:p>
        </p:txBody>
      </p:sp>
      <p:sp>
        <p:nvSpPr>
          <p:cNvPr id="23" name="Text 20"/>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What SOLANGE does</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It decides, per mutation, whether a quantum computer is needed at all</a:t>
            </a:r>
            <a:endParaRPr lang="en-US" sz="1300" dirty="0"/>
          </a:p>
        </p:txBody>
      </p:sp>
      <p:sp>
        <p:nvSpPr>
          <p:cNvPr id="4" name="Shape 2"/>
          <p:cNvSpPr/>
          <p:nvPr/>
        </p:nvSpPr>
        <p:spPr>
          <a:xfrm>
            <a:off x="457200" y="1371600"/>
            <a:ext cx="1874520" cy="2148840"/>
          </a:xfrm>
          <a:prstGeom prst="roundRect">
            <a:avLst>
              <a:gd name="adj" fmla="val 3902"/>
            </a:avLst>
          </a:prstGeom>
          <a:solidFill>
            <a:srgbClr val="F2F4F7"/>
          </a:solidFill>
          <a:ln w="12700">
            <a:solidFill>
              <a:srgbClr val="F2F4F7"/>
            </a:solidFill>
            <a:prstDash val="solid"/>
          </a:ln>
        </p:spPr>
      </p:sp>
      <p:sp>
        <p:nvSpPr>
          <p:cNvPr id="5" name="Shape 3"/>
          <p:cNvSpPr/>
          <p:nvPr/>
        </p:nvSpPr>
        <p:spPr>
          <a:xfrm>
            <a:off x="1115568" y="1508760"/>
            <a:ext cx="548640" cy="54864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1247242" y="1640434"/>
            <a:ext cx="285293" cy="285293"/>
          </a:xfrm>
          <a:prstGeom prst="rect">
            <a:avLst/>
          </a:prstGeom>
        </p:spPr>
      </p:pic>
      <p:sp>
        <p:nvSpPr>
          <p:cNvPr id="7" name="Text 4"/>
          <p:cNvSpPr txBox="1"/>
          <p:nvPr/>
        </p:nvSpPr>
        <p:spPr>
          <a:xfrm>
            <a:off x="566928" y="2148840"/>
            <a:ext cx="1655064" cy="457200"/>
          </a:xfrm>
          <a:prstGeom prst="rect">
            <a:avLst/>
          </a:prstGeom>
          <a:noFill/>
          <a:ln/>
        </p:spPr>
        <p:txBody>
          <a:bodyPr wrap="square" lIns="0" tIns="0" rIns="0" bIns="0" rtlCol="0" anchor="ctr"/>
          <a:lstStyle/>
          <a:p>
            <a:pPr algn="ctr" indent="0" marL="0">
              <a:buNone/>
            </a:pPr>
            <a:r>
              <a:rPr lang="en-US" sz="1400" b="1" dirty="0">
                <a:solidFill>
                  <a:srgbClr val="1B2A41"/>
                </a:solidFill>
                <a:latin typeface="Calibri" pitchFamily="34" charset="0"/>
                <a:ea typeface="Calibri" pitchFamily="34" charset="-122"/>
                <a:cs typeface="Calibri" pitchFamily="34" charset="-120"/>
              </a:rPr>
              <a:t>Mutation</a:t>
            </a:r>
            <a:endParaRPr lang="en-US" sz="1400" dirty="0"/>
          </a:p>
        </p:txBody>
      </p:sp>
      <p:sp>
        <p:nvSpPr>
          <p:cNvPr id="8" name="Text 5"/>
          <p:cNvSpPr txBox="1"/>
          <p:nvPr/>
        </p:nvSpPr>
        <p:spPr>
          <a:xfrm>
            <a:off x="566928" y="2606040"/>
            <a:ext cx="1655064"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from real patient sequencing data</a:t>
            </a:r>
            <a:endParaRPr lang="en-US" sz="1100" dirty="0"/>
          </a:p>
        </p:txBody>
      </p:sp>
      <p:sp>
        <p:nvSpPr>
          <p:cNvPr id="9" name="Shape 6"/>
          <p:cNvSpPr/>
          <p:nvPr/>
        </p:nvSpPr>
        <p:spPr>
          <a:xfrm>
            <a:off x="2340864" y="2441448"/>
            <a:ext cx="201168" cy="0"/>
          </a:xfrm>
          <a:prstGeom prst="line">
            <a:avLst/>
          </a:prstGeom>
          <a:noFill/>
          <a:ln w="19050">
            <a:solidFill>
              <a:srgbClr val="5A6B7E"/>
            </a:solidFill>
            <a:prstDash val="solid"/>
            <a:tailEnd type="triangle"/>
          </a:ln>
        </p:spPr>
      </p:sp>
      <p:sp>
        <p:nvSpPr>
          <p:cNvPr id="10" name="Shape 7"/>
          <p:cNvSpPr/>
          <p:nvPr/>
        </p:nvSpPr>
        <p:spPr>
          <a:xfrm>
            <a:off x="2560320" y="1371600"/>
            <a:ext cx="1874520" cy="2148840"/>
          </a:xfrm>
          <a:prstGeom prst="roundRect">
            <a:avLst>
              <a:gd name="adj" fmla="val 3902"/>
            </a:avLst>
          </a:prstGeom>
          <a:solidFill>
            <a:srgbClr val="F2F4F7"/>
          </a:solidFill>
          <a:ln w="12700">
            <a:solidFill>
              <a:srgbClr val="F2F4F7"/>
            </a:solidFill>
            <a:prstDash val="solid"/>
          </a:ln>
        </p:spPr>
      </p:sp>
      <p:sp>
        <p:nvSpPr>
          <p:cNvPr id="11" name="Shape 8"/>
          <p:cNvSpPr/>
          <p:nvPr/>
        </p:nvSpPr>
        <p:spPr>
          <a:xfrm>
            <a:off x="3218688" y="1508760"/>
            <a:ext cx="548640" cy="548640"/>
          </a:xfrm>
          <a:prstGeom prst="ellipse">
            <a:avLst/>
          </a:prstGeom>
          <a:solidFill>
            <a:srgbClr val="5A6B7E"/>
          </a:solidFill>
          <a:ln w="12700">
            <a:solidFill>
              <a:srgbClr val="5A6B7E"/>
            </a:solidFill>
            <a:prstDash val="solid"/>
          </a:ln>
        </p:spPr>
      </p:sp>
      <p:pic>
        <p:nvPicPr>
          <p:cNvPr id="12" name="Image 1" descr="preencoded.png">    </p:cNvPr>
          <p:cNvPicPr>
            <a:picLocks noChangeAspect="1"/>
          </p:cNvPicPr>
          <p:nvPr/>
        </p:nvPicPr>
        <p:blipFill>
          <a:blip r:embed="rId2"/>
          <a:stretch>
            <a:fillRect/>
          </a:stretch>
        </p:blipFill>
        <p:spPr>
          <a:xfrm>
            <a:off x="3350362" y="1640434"/>
            <a:ext cx="285293" cy="285293"/>
          </a:xfrm>
          <a:prstGeom prst="rect">
            <a:avLst/>
          </a:prstGeom>
        </p:spPr>
      </p:pic>
      <p:sp>
        <p:nvSpPr>
          <p:cNvPr id="13" name="Text 9"/>
          <p:cNvSpPr txBox="1"/>
          <p:nvPr/>
        </p:nvSpPr>
        <p:spPr>
          <a:xfrm>
            <a:off x="2670048" y="2148840"/>
            <a:ext cx="1655064" cy="457200"/>
          </a:xfrm>
          <a:prstGeom prst="rect">
            <a:avLst/>
          </a:prstGeom>
          <a:noFill/>
          <a:ln/>
        </p:spPr>
        <p:txBody>
          <a:bodyPr wrap="square" lIns="0" tIns="0" rIns="0" bIns="0" rtlCol="0" anchor="ctr"/>
          <a:lstStyle/>
          <a:p>
            <a:pPr algn="ctr" indent="0" marL="0">
              <a:buNone/>
            </a:pPr>
            <a:r>
              <a:rPr lang="en-US" sz="1400" b="1" dirty="0">
                <a:solidFill>
                  <a:srgbClr val="1B2A41"/>
                </a:solidFill>
                <a:latin typeface="Calibri" pitchFamily="34" charset="0"/>
                <a:ea typeface="Calibri" pitchFamily="34" charset="-122"/>
                <a:cs typeface="Calibri" pitchFamily="34" charset="-120"/>
              </a:rPr>
              <a:t>Two classical methods</a:t>
            </a:r>
            <a:endParaRPr lang="en-US" sz="1400" dirty="0"/>
          </a:p>
        </p:txBody>
      </p:sp>
      <p:sp>
        <p:nvSpPr>
          <p:cNvPr id="14" name="Text 10"/>
          <p:cNvSpPr txBox="1"/>
          <p:nvPr/>
        </p:nvSpPr>
        <p:spPr>
          <a:xfrm>
            <a:off x="2670048" y="2606040"/>
            <a:ext cx="1655064"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DMRG and SHCI run independently</a:t>
            </a:r>
            <a:endParaRPr lang="en-US" sz="1100" dirty="0"/>
          </a:p>
        </p:txBody>
      </p:sp>
      <p:sp>
        <p:nvSpPr>
          <p:cNvPr id="15" name="Shape 11"/>
          <p:cNvSpPr/>
          <p:nvPr/>
        </p:nvSpPr>
        <p:spPr>
          <a:xfrm>
            <a:off x="4443984" y="2441448"/>
            <a:ext cx="201168" cy="0"/>
          </a:xfrm>
          <a:prstGeom prst="line">
            <a:avLst/>
          </a:prstGeom>
          <a:noFill/>
          <a:ln w="19050">
            <a:solidFill>
              <a:srgbClr val="5A6B7E"/>
            </a:solidFill>
            <a:prstDash val="solid"/>
            <a:tailEnd type="triangle"/>
          </a:ln>
        </p:spPr>
      </p:sp>
      <p:sp>
        <p:nvSpPr>
          <p:cNvPr id="16" name="Shape 12"/>
          <p:cNvSpPr/>
          <p:nvPr/>
        </p:nvSpPr>
        <p:spPr>
          <a:xfrm>
            <a:off x="4663440" y="1371600"/>
            <a:ext cx="1874520" cy="2148840"/>
          </a:xfrm>
          <a:prstGeom prst="roundRect">
            <a:avLst>
              <a:gd name="adj" fmla="val 3902"/>
            </a:avLst>
          </a:prstGeom>
          <a:solidFill>
            <a:srgbClr val="F2F4F7"/>
          </a:solidFill>
          <a:ln w="12700">
            <a:solidFill>
              <a:srgbClr val="F2F4F7"/>
            </a:solidFill>
            <a:prstDash val="solid"/>
          </a:ln>
        </p:spPr>
      </p:sp>
      <p:sp>
        <p:nvSpPr>
          <p:cNvPr id="17" name="Shape 13"/>
          <p:cNvSpPr/>
          <p:nvPr/>
        </p:nvSpPr>
        <p:spPr>
          <a:xfrm>
            <a:off x="5321808" y="1508760"/>
            <a:ext cx="548640" cy="548640"/>
          </a:xfrm>
          <a:prstGeom prst="ellipse">
            <a:avLst/>
          </a:prstGeom>
          <a:solidFill>
            <a:srgbClr val="2E7D6B"/>
          </a:solidFill>
          <a:ln w="12700">
            <a:solidFill>
              <a:srgbClr val="2E7D6B"/>
            </a:solidFill>
            <a:prstDash val="solid"/>
          </a:ln>
        </p:spPr>
      </p:sp>
      <p:pic>
        <p:nvPicPr>
          <p:cNvPr id="18" name="Image 2" descr="preencoded.png">    </p:cNvPr>
          <p:cNvPicPr>
            <a:picLocks noChangeAspect="1"/>
          </p:cNvPicPr>
          <p:nvPr/>
        </p:nvPicPr>
        <p:blipFill>
          <a:blip r:embed="rId3"/>
          <a:stretch>
            <a:fillRect/>
          </a:stretch>
        </p:blipFill>
        <p:spPr>
          <a:xfrm>
            <a:off x="5453482" y="1640434"/>
            <a:ext cx="285293" cy="285293"/>
          </a:xfrm>
          <a:prstGeom prst="rect">
            <a:avLst/>
          </a:prstGeom>
        </p:spPr>
      </p:pic>
      <p:sp>
        <p:nvSpPr>
          <p:cNvPr id="19" name="Text 14"/>
          <p:cNvSpPr txBox="1"/>
          <p:nvPr/>
        </p:nvSpPr>
        <p:spPr>
          <a:xfrm>
            <a:off x="4773168" y="2148840"/>
            <a:ext cx="1655064" cy="457200"/>
          </a:xfrm>
          <a:prstGeom prst="rect">
            <a:avLst/>
          </a:prstGeom>
          <a:noFill/>
          <a:ln/>
        </p:spPr>
        <p:txBody>
          <a:bodyPr wrap="square" lIns="0" tIns="0" rIns="0" bIns="0" rtlCol="0" anchor="ctr"/>
          <a:lstStyle/>
          <a:p>
            <a:pPr algn="ctr" indent="0" marL="0">
              <a:buNone/>
            </a:pPr>
            <a:r>
              <a:rPr lang="en-US" sz="1400" b="1" dirty="0">
                <a:solidFill>
                  <a:srgbClr val="1B2A41"/>
                </a:solidFill>
                <a:latin typeface="Calibri" pitchFamily="34" charset="0"/>
                <a:ea typeface="Calibri" pitchFamily="34" charset="-122"/>
                <a:cs typeface="Calibri" pitchFamily="34" charset="-120"/>
              </a:rPr>
              <a:t>Verdict</a:t>
            </a:r>
            <a:endParaRPr lang="en-US" sz="1400" dirty="0"/>
          </a:p>
        </p:txBody>
      </p:sp>
      <p:sp>
        <p:nvSpPr>
          <p:cNvPr id="20" name="Text 15"/>
          <p:cNvSpPr txBox="1"/>
          <p:nvPr/>
        </p:nvSpPr>
        <p:spPr>
          <a:xfrm>
            <a:off x="4773168" y="2606040"/>
            <a:ext cx="1655064"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Class B: classically tractable</a:t>
            </a:r>
            <a:endParaRPr lang="en-US" sz="1100" dirty="0"/>
          </a:p>
          <a:p>
            <a:pPr algn="ctr" indent="0" marL="0">
              <a:buNone/>
            </a:pPr>
            <a:r>
              <a:rPr lang="en-US" sz="1100" dirty="0">
                <a:solidFill>
                  <a:srgbClr val="1F2933"/>
                </a:solidFill>
                <a:latin typeface="Calibri" pitchFamily="34" charset="0"/>
                <a:ea typeface="Calibri" pitchFamily="34" charset="-122"/>
                <a:cs typeface="Calibri" pitchFamily="34" charset="-120"/>
              </a:rPr>
              <a:t>Class A: quantum-necessary</a:t>
            </a:r>
            <a:endParaRPr lang="en-US" sz="1100" dirty="0"/>
          </a:p>
        </p:txBody>
      </p:sp>
      <p:sp>
        <p:nvSpPr>
          <p:cNvPr id="21" name="Shape 16"/>
          <p:cNvSpPr/>
          <p:nvPr/>
        </p:nvSpPr>
        <p:spPr>
          <a:xfrm>
            <a:off x="6547104" y="2441448"/>
            <a:ext cx="201168" cy="0"/>
          </a:xfrm>
          <a:prstGeom prst="line">
            <a:avLst/>
          </a:prstGeom>
          <a:noFill/>
          <a:ln w="19050">
            <a:solidFill>
              <a:srgbClr val="5A6B7E"/>
            </a:solidFill>
            <a:prstDash val="solid"/>
            <a:tailEnd type="triangle"/>
          </a:ln>
        </p:spPr>
      </p:sp>
      <p:sp>
        <p:nvSpPr>
          <p:cNvPr id="22" name="Shape 17"/>
          <p:cNvSpPr/>
          <p:nvPr/>
        </p:nvSpPr>
        <p:spPr>
          <a:xfrm>
            <a:off x="6766560" y="1371600"/>
            <a:ext cx="1874520" cy="2148840"/>
          </a:xfrm>
          <a:prstGeom prst="roundRect">
            <a:avLst>
              <a:gd name="adj" fmla="val 3902"/>
            </a:avLst>
          </a:prstGeom>
          <a:solidFill>
            <a:srgbClr val="F2F4F7"/>
          </a:solidFill>
          <a:ln w="12700">
            <a:solidFill>
              <a:srgbClr val="F2F4F7"/>
            </a:solidFill>
            <a:prstDash val="solid"/>
          </a:ln>
        </p:spPr>
      </p:sp>
      <p:sp>
        <p:nvSpPr>
          <p:cNvPr id="23" name="Shape 18"/>
          <p:cNvSpPr/>
          <p:nvPr/>
        </p:nvSpPr>
        <p:spPr>
          <a:xfrm>
            <a:off x="7424928" y="1508760"/>
            <a:ext cx="548640" cy="548640"/>
          </a:xfrm>
          <a:prstGeom prst="ellipse">
            <a:avLst/>
          </a:prstGeom>
          <a:solidFill>
            <a:srgbClr val="B8441F"/>
          </a:solidFill>
          <a:ln w="12700">
            <a:solidFill>
              <a:srgbClr val="B8441F"/>
            </a:solidFill>
            <a:prstDash val="solid"/>
          </a:ln>
        </p:spPr>
      </p:sp>
      <p:pic>
        <p:nvPicPr>
          <p:cNvPr id="24" name="Image 3" descr="preencoded.png">    </p:cNvPr>
          <p:cNvPicPr>
            <a:picLocks noChangeAspect="1"/>
          </p:cNvPicPr>
          <p:nvPr/>
        </p:nvPicPr>
        <p:blipFill>
          <a:blip r:embed="rId4"/>
          <a:stretch>
            <a:fillRect/>
          </a:stretch>
        </p:blipFill>
        <p:spPr>
          <a:xfrm>
            <a:off x="7556602" y="1640434"/>
            <a:ext cx="285293" cy="285293"/>
          </a:xfrm>
          <a:prstGeom prst="rect">
            <a:avLst/>
          </a:prstGeom>
        </p:spPr>
      </p:pic>
      <p:sp>
        <p:nvSpPr>
          <p:cNvPr id="25" name="Text 19"/>
          <p:cNvSpPr txBox="1"/>
          <p:nvPr/>
        </p:nvSpPr>
        <p:spPr>
          <a:xfrm>
            <a:off x="6876288" y="2148840"/>
            <a:ext cx="1655064" cy="457200"/>
          </a:xfrm>
          <a:prstGeom prst="rect">
            <a:avLst/>
          </a:prstGeom>
          <a:noFill/>
          <a:ln/>
        </p:spPr>
        <p:txBody>
          <a:bodyPr wrap="square" lIns="0" tIns="0" rIns="0" bIns="0" rtlCol="0" anchor="ctr"/>
          <a:lstStyle/>
          <a:p>
            <a:pPr algn="ctr" indent="0" marL="0">
              <a:buNone/>
            </a:pPr>
            <a:r>
              <a:rPr lang="en-US" sz="1400" b="1" dirty="0">
                <a:solidFill>
                  <a:srgbClr val="1B2A41"/>
                </a:solidFill>
                <a:latin typeface="Calibri" pitchFamily="34" charset="0"/>
                <a:ea typeface="Calibri" pitchFamily="34" charset="-122"/>
                <a:cs typeface="Calibri" pitchFamily="34" charset="-120"/>
              </a:rPr>
              <a:t>LEON seals the record</a:t>
            </a:r>
            <a:endParaRPr lang="en-US" sz="1400" dirty="0"/>
          </a:p>
        </p:txBody>
      </p:sp>
      <p:sp>
        <p:nvSpPr>
          <p:cNvPr id="26" name="Text 20"/>
          <p:cNvSpPr txBox="1"/>
          <p:nvPr/>
        </p:nvSpPr>
        <p:spPr>
          <a:xfrm>
            <a:off x="6876288" y="2606040"/>
            <a:ext cx="1655064" cy="822960"/>
          </a:xfrm>
          <a:prstGeom prst="rect">
            <a:avLst/>
          </a:prstGeom>
          <a:noFill/>
          <a:ln/>
        </p:spPr>
        <p:txBody>
          <a:bodyPr wrap="square" lIns="0" tIns="0" rIns="0" bIns="0" rtlCol="0" anchor="t"/>
          <a:lstStyle/>
          <a:p>
            <a:pPr algn="ctr" indent="0" marL="0">
              <a:buNone/>
            </a:pPr>
            <a:r>
              <a:rPr lang="en-US" sz="1100" dirty="0">
                <a:solidFill>
                  <a:srgbClr val="1F2933"/>
                </a:solidFill>
                <a:latin typeface="Calibri" pitchFamily="34" charset="0"/>
                <a:ea typeface="Calibri" pitchFamily="34" charset="-122"/>
                <a:cs typeface="Calibri" pitchFamily="34" charset="-120"/>
              </a:rPr>
              <a:t>P1 to P9 provenance, re-verified (FDA Part 11 logic)</a:t>
            </a:r>
            <a:endParaRPr lang="en-US" sz="1100" dirty="0"/>
          </a:p>
        </p:txBody>
      </p:sp>
      <p:sp>
        <p:nvSpPr>
          <p:cNvPr id="27" name="Shape 21"/>
          <p:cNvSpPr/>
          <p:nvPr/>
        </p:nvSpPr>
        <p:spPr>
          <a:xfrm>
            <a:off x="457200" y="3794760"/>
            <a:ext cx="8229600" cy="731520"/>
          </a:xfrm>
          <a:prstGeom prst="roundRect">
            <a:avLst>
              <a:gd name="adj" fmla="val 10000"/>
            </a:avLst>
          </a:prstGeom>
          <a:solidFill>
            <a:srgbClr val="FBEDE7"/>
          </a:solidFill>
          <a:ln w="12700">
            <a:solidFill>
              <a:srgbClr val="FBEDE7"/>
            </a:solidFill>
            <a:prstDash val="solid"/>
          </a:ln>
        </p:spPr>
      </p:sp>
      <p:sp>
        <p:nvSpPr>
          <p:cNvPr id="28" name="Text 22"/>
          <p:cNvSpPr txBox="1"/>
          <p:nvPr/>
        </p:nvSpPr>
        <p:spPr>
          <a:xfrm>
            <a:off x="685800" y="3794760"/>
            <a:ext cx="7772400" cy="731520"/>
          </a:xfrm>
          <a:prstGeom prst="rect">
            <a:avLst/>
          </a:prstGeom>
          <a:noFill/>
          <a:ln/>
        </p:spPr>
        <p:txBody>
          <a:bodyPr wrap="square" lIns="0" tIns="0" rIns="0" bIns="0" rtlCol="0" anchor="ctr"/>
          <a:lstStyle/>
          <a:p>
            <a:pPr indent="0" marL="0">
              <a:buNone/>
            </a:pPr>
            <a:r>
              <a:rPr lang="en-US" sz="1400" b="1" dirty="0">
                <a:solidFill>
                  <a:srgbClr val="B8441F"/>
                </a:solidFill>
                <a:latin typeface="Calibri" pitchFamily="34" charset="0"/>
                <a:ea typeface="Calibri" pitchFamily="34" charset="-122"/>
                <a:cs typeface="Calibri" pitchFamily="34" charset="-120"/>
              </a:rPr>
              <a:t>Finding so far: every real biological target we measured was classically tractable. The platform reports this openly.</a:t>
            </a:r>
            <a:endParaRPr lang="en-US" sz="1400" dirty="0"/>
          </a:p>
        </p:txBody>
      </p:sp>
      <p:sp>
        <p:nvSpPr>
          <p:cNvPr id="29" name="Text 23"/>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Doron Cohen</a:t>
            </a:r>
            <a:endParaRPr lang="en-US" sz="900" dirty="0"/>
          </a:p>
        </p:txBody>
      </p:sp>
      <p:sp>
        <p:nvSpPr>
          <p:cNvPr id="30" name="Text 24"/>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SOLANGE today: a working platform</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Screens from the live system, September 2026</a:t>
            </a:r>
            <a:endParaRPr lang="en-US" sz="1300" dirty="0"/>
          </a:p>
        </p:txBody>
      </p:sp>
      <p:pic>
        <p:nvPicPr>
          <p:cNvPr id="4" name="Image 0" descr="plat_plane.png">    </p:cNvPr>
          <p:cNvPicPr>
            <a:picLocks noChangeAspect="1"/>
          </p:cNvPicPr>
          <p:nvPr/>
        </p:nvPicPr>
        <p:blipFill>
          <a:blip r:embed="rId1"/>
          <a:stretch>
            <a:fillRect/>
          </a:stretch>
        </p:blipFill>
        <p:spPr>
          <a:xfrm>
            <a:off x="457200" y="1280160"/>
            <a:ext cx="4754880" cy="2484786"/>
          </a:xfrm>
          <a:prstGeom prst="rect">
            <a:avLst/>
          </a:prstGeom>
        </p:spPr>
      </p:pic>
      <p:sp>
        <p:nvSpPr>
          <p:cNvPr id="5" name="Text 2"/>
          <p:cNvSpPr txBox="1"/>
          <p:nvPr/>
        </p:nvSpPr>
        <p:spPr>
          <a:xfrm>
            <a:off x="457200" y="3838098"/>
            <a:ext cx="4754880" cy="411480"/>
          </a:xfrm>
          <a:prstGeom prst="rect">
            <a:avLst/>
          </a:prstGeom>
          <a:noFill/>
          <a:ln/>
        </p:spPr>
        <p:txBody>
          <a:bodyPr wrap="square" lIns="0" tIns="0" rIns="0" bIns="0" rtlCol="0" anchor="t"/>
          <a:lstStyle/>
          <a:p>
            <a:pPr indent="0" marL="0">
              <a:buNone/>
            </a:pPr>
            <a:r>
              <a:rPr lang="en-US" sz="1100" i="1" dirty="0">
                <a:solidFill>
                  <a:srgbClr val="6B7785"/>
                </a:solidFill>
                <a:latin typeface="Calibri" pitchFamily="34" charset="0"/>
                <a:ea typeface="Calibri" pitchFamily="34" charset="-122"/>
                <a:cs typeface="Calibri" pitchFamily="34" charset="-120"/>
              </a:rPr>
              <a:t>Classifier map: every real target so far lands in Class B (classically tractable)</a:t>
            </a:r>
            <a:endParaRPr lang="en-US" sz="1100" dirty="0"/>
          </a:p>
        </p:txBody>
      </p:sp>
      <p:pic>
        <p:nvPicPr>
          <p:cNvPr id="6" name="Image 1" descr="plat_qpu_s.png">    </p:cNvPr>
          <p:cNvPicPr>
            <a:picLocks noChangeAspect="1"/>
          </p:cNvPicPr>
          <p:nvPr/>
        </p:nvPicPr>
        <p:blipFill>
          <a:blip r:embed="rId2"/>
          <a:stretch>
            <a:fillRect/>
          </a:stretch>
        </p:blipFill>
        <p:spPr>
          <a:xfrm>
            <a:off x="5394960" y="1280160"/>
            <a:ext cx="3291840" cy="1421147"/>
          </a:xfrm>
          <a:prstGeom prst="rect">
            <a:avLst/>
          </a:prstGeom>
        </p:spPr>
      </p:pic>
      <p:sp>
        <p:nvSpPr>
          <p:cNvPr id="7" name="Text 3"/>
          <p:cNvSpPr txBox="1"/>
          <p:nvPr/>
        </p:nvSpPr>
        <p:spPr>
          <a:xfrm>
            <a:off x="5394960" y="2737883"/>
            <a:ext cx="3291840" cy="228600"/>
          </a:xfrm>
          <a:prstGeom prst="rect">
            <a:avLst/>
          </a:prstGeom>
          <a:noFill/>
          <a:ln/>
        </p:spPr>
        <p:txBody>
          <a:bodyPr wrap="square" lIns="0" tIns="0" rIns="0" bIns="0" rtlCol="0" anchor="t"/>
          <a:lstStyle/>
          <a:p>
            <a:pPr indent="0" marL="0">
              <a:buNone/>
            </a:pPr>
            <a:r>
              <a:rPr lang="en-US" sz="1100" i="1" dirty="0">
                <a:solidFill>
                  <a:srgbClr val="6B7785"/>
                </a:solidFill>
                <a:latin typeface="Calibri" pitchFamily="34" charset="0"/>
                <a:ea typeface="Calibri" pitchFamily="34" charset="-122"/>
                <a:cs typeface="Calibri" pitchFamily="34" charset="-120"/>
              </a:rPr>
              <a:t>Test jobs on real IBM Heron hardware</a:t>
            </a:r>
            <a:endParaRPr lang="en-US" sz="1100" dirty="0"/>
          </a:p>
        </p:txBody>
      </p:sp>
      <p:pic>
        <p:nvPicPr>
          <p:cNvPr id="8" name="Image 2" descr="plat_compliance_s.png">    </p:cNvPr>
          <p:cNvPicPr>
            <a:picLocks noChangeAspect="1"/>
          </p:cNvPicPr>
          <p:nvPr/>
        </p:nvPicPr>
        <p:blipFill>
          <a:blip r:embed="rId3"/>
          <a:stretch>
            <a:fillRect/>
          </a:stretch>
        </p:blipFill>
        <p:spPr>
          <a:xfrm>
            <a:off x="5394960" y="3112787"/>
            <a:ext cx="3291840" cy="1341327"/>
          </a:xfrm>
          <a:prstGeom prst="rect">
            <a:avLst/>
          </a:prstGeom>
        </p:spPr>
      </p:pic>
      <p:sp>
        <p:nvSpPr>
          <p:cNvPr id="9" name="Text 4"/>
          <p:cNvSpPr txBox="1"/>
          <p:nvPr/>
        </p:nvSpPr>
        <p:spPr>
          <a:xfrm>
            <a:off x="5394960" y="4490690"/>
            <a:ext cx="3291840" cy="228600"/>
          </a:xfrm>
          <a:prstGeom prst="rect">
            <a:avLst/>
          </a:prstGeom>
          <a:noFill/>
          <a:ln/>
        </p:spPr>
        <p:txBody>
          <a:bodyPr wrap="square" lIns="0" tIns="0" rIns="0" bIns="0" rtlCol="0" anchor="t"/>
          <a:lstStyle/>
          <a:p>
            <a:pPr indent="0" marL="0">
              <a:buNone/>
            </a:pPr>
            <a:r>
              <a:rPr lang="en-US" sz="1100" i="1" dirty="0">
                <a:solidFill>
                  <a:srgbClr val="6B7785"/>
                </a:solidFill>
                <a:latin typeface="Calibri" pitchFamily="34" charset="0"/>
                <a:ea typeface="Calibri" pitchFamily="34" charset="-122"/>
                <a:cs typeface="Calibri" pitchFamily="34" charset="-120"/>
              </a:rPr>
              <a:t>LEON audit trail, P1 to P9 provenance</a:t>
            </a:r>
            <a:endParaRPr lang="en-US" sz="1100" dirty="0"/>
          </a:p>
        </p:txBody>
      </p:sp>
      <p:sp>
        <p:nvSpPr>
          <p:cNvPr id="10" name="Text 5"/>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Doron Cohen</a:t>
            </a:r>
            <a:endParaRPr lang="en-US" sz="900" dirty="0"/>
          </a:p>
        </p:txBody>
      </p:sp>
      <p:sp>
        <p:nvSpPr>
          <p:cNvPr id="11" name="Text 6"/>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What earlier projects teach us</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Progress came when evidence set the pace, not marketing</a:t>
            </a:r>
            <a:endParaRPr lang="en-US" sz="1300" dirty="0"/>
          </a:p>
        </p:txBody>
      </p:sp>
      <p:sp>
        <p:nvSpPr>
          <p:cNvPr id="4" name="Shape 2"/>
          <p:cNvSpPr/>
          <p:nvPr/>
        </p:nvSpPr>
        <p:spPr>
          <a:xfrm>
            <a:off x="457200" y="1325880"/>
            <a:ext cx="457200" cy="457200"/>
          </a:xfrm>
          <a:prstGeom prst="ellipse">
            <a:avLst/>
          </a:prstGeom>
          <a:solidFill>
            <a:srgbClr val="B8441F"/>
          </a:solidFill>
          <a:ln w="12700">
            <a:solidFill>
              <a:srgbClr val="B8441F"/>
            </a:solidFill>
            <a:prstDash val="solid"/>
          </a:ln>
        </p:spPr>
      </p:sp>
      <p:pic>
        <p:nvPicPr>
          <p:cNvPr id="5" name="Image 0" descr="preencoded.png">    </p:cNvPr>
          <p:cNvPicPr>
            <a:picLocks noChangeAspect="1"/>
          </p:cNvPicPr>
          <p:nvPr/>
        </p:nvPicPr>
        <p:blipFill>
          <a:blip r:embed="rId1"/>
          <a:stretch>
            <a:fillRect/>
          </a:stretch>
        </p:blipFill>
        <p:spPr>
          <a:xfrm>
            <a:off x="566928" y="1435608"/>
            <a:ext cx="237744" cy="237744"/>
          </a:xfrm>
          <a:prstGeom prst="rect">
            <a:avLst/>
          </a:prstGeom>
        </p:spPr>
      </p:pic>
      <p:sp>
        <p:nvSpPr>
          <p:cNvPr id="6" name="Text 3"/>
          <p:cNvSpPr txBox="1"/>
          <p:nvPr/>
        </p:nvSpPr>
        <p:spPr>
          <a:xfrm>
            <a:off x="1051560" y="1325880"/>
            <a:ext cx="3291840" cy="457200"/>
          </a:xfrm>
          <a:prstGeom prst="rect">
            <a:avLst/>
          </a:prstGeom>
          <a:noFill/>
          <a:ln/>
        </p:spPr>
        <p:txBody>
          <a:bodyPr wrap="square" lIns="0" tIns="0" rIns="0" bIns="0" rtlCol="0" anchor="ctr"/>
          <a:lstStyle/>
          <a:p>
            <a:pPr indent="0" marL="0">
              <a:buNone/>
            </a:pPr>
            <a:r>
              <a:rPr lang="en-US" sz="1700" b="1" dirty="0">
                <a:solidFill>
                  <a:srgbClr val="B8441F"/>
                </a:solidFill>
                <a:latin typeface="Calibri" pitchFamily="34" charset="0"/>
                <a:ea typeface="Calibri" pitchFamily="34" charset="-122"/>
                <a:cs typeface="Calibri" pitchFamily="34" charset="-120"/>
              </a:rPr>
              <a:t>What went wrong</a:t>
            </a:r>
            <a:endParaRPr lang="en-US" sz="1700" dirty="0"/>
          </a:p>
        </p:txBody>
      </p:sp>
      <p:sp>
        <p:nvSpPr>
          <p:cNvPr id="7" name="Shape 4"/>
          <p:cNvSpPr/>
          <p:nvPr/>
        </p:nvSpPr>
        <p:spPr>
          <a:xfrm>
            <a:off x="457200" y="1920240"/>
            <a:ext cx="4023360" cy="1188720"/>
          </a:xfrm>
          <a:prstGeom prst="roundRect">
            <a:avLst>
              <a:gd name="adj" fmla="val 6154"/>
            </a:avLst>
          </a:prstGeom>
          <a:solidFill>
            <a:srgbClr val="F2F4F7"/>
          </a:solidFill>
          <a:ln w="12700">
            <a:solidFill>
              <a:srgbClr val="F2F4F7"/>
            </a:solidFill>
            <a:prstDash val="solid"/>
          </a:ln>
        </p:spPr>
      </p:sp>
      <p:sp>
        <p:nvSpPr>
          <p:cNvPr id="8" name="Text 5"/>
          <p:cNvSpPr txBox="1"/>
          <p:nvPr/>
        </p:nvSpPr>
        <p:spPr>
          <a:xfrm>
            <a:off x="640080" y="2029968"/>
            <a:ext cx="3657600" cy="32004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IBM Watson for Oncology</a:t>
            </a:r>
            <a:endParaRPr lang="en-US" sz="1400" dirty="0"/>
          </a:p>
        </p:txBody>
      </p:sp>
      <p:sp>
        <p:nvSpPr>
          <p:cNvPr id="9" name="Text 6"/>
          <p:cNvSpPr txBox="1"/>
          <p:nvPr/>
        </p:nvSpPr>
        <p:spPr>
          <a:xfrm>
            <a:off x="640080" y="2359152"/>
            <a:ext cx="365760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MD Anderson spent $62M, then canceled. Little evidence of patient benefit (Strickland, 2019).</a:t>
            </a:r>
            <a:endParaRPr lang="en-US" sz="1200" dirty="0"/>
          </a:p>
        </p:txBody>
      </p:sp>
      <p:sp>
        <p:nvSpPr>
          <p:cNvPr id="10" name="Shape 7"/>
          <p:cNvSpPr/>
          <p:nvPr/>
        </p:nvSpPr>
        <p:spPr>
          <a:xfrm>
            <a:off x="457200" y="3246120"/>
            <a:ext cx="4023360" cy="1188720"/>
          </a:xfrm>
          <a:prstGeom prst="roundRect">
            <a:avLst>
              <a:gd name="adj" fmla="val 6154"/>
            </a:avLst>
          </a:prstGeom>
          <a:solidFill>
            <a:srgbClr val="F2F4F7"/>
          </a:solidFill>
          <a:ln w="12700">
            <a:solidFill>
              <a:srgbClr val="F2F4F7"/>
            </a:solidFill>
            <a:prstDash val="solid"/>
          </a:ln>
        </p:spPr>
      </p:sp>
      <p:sp>
        <p:nvSpPr>
          <p:cNvPr id="11" name="Text 8"/>
          <p:cNvSpPr txBox="1"/>
          <p:nvPr/>
        </p:nvSpPr>
        <p:spPr>
          <a:xfrm>
            <a:off x="640080" y="3355848"/>
            <a:ext cx="3657600" cy="32004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Quantum advantage claims</a:t>
            </a:r>
            <a:endParaRPr lang="en-US" sz="1400" dirty="0"/>
          </a:p>
        </p:txBody>
      </p:sp>
      <p:sp>
        <p:nvSpPr>
          <p:cNvPr id="12" name="Text 9"/>
          <p:cNvSpPr txBox="1"/>
          <p:nvPr/>
        </p:nvSpPr>
        <p:spPr>
          <a:xfrm>
            <a:off x="640080" y="3685032"/>
            <a:ext cx="365760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IBM's 2023 result was later matched on classical computers, partly on a phone (Schirber, 2024).</a:t>
            </a:r>
            <a:endParaRPr lang="en-US" sz="1200" dirty="0"/>
          </a:p>
        </p:txBody>
      </p:sp>
      <p:sp>
        <p:nvSpPr>
          <p:cNvPr id="13" name="Shape 10"/>
          <p:cNvSpPr/>
          <p:nvPr/>
        </p:nvSpPr>
        <p:spPr>
          <a:xfrm>
            <a:off x="4663440" y="1325880"/>
            <a:ext cx="457200" cy="457200"/>
          </a:xfrm>
          <a:prstGeom prst="ellipse">
            <a:avLst/>
          </a:prstGeom>
          <a:solidFill>
            <a:srgbClr val="2E7D6B"/>
          </a:solidFill>
          <a:ln w="12700">
            <a:solidFill>
              <a:srgbClr val="2E7D6B"/>
            </a:solidFill>
            <a:prstDash val="solid"/>
          </a:ln>
        </p:spPr>
      </p:sp>
      <p:pic>
        <p:nvPicPr>
          <p:cNvPr id="14" name="Image 1" descr="preencoded.png">    </p:cNvPr>
          <p:cNvPicPr>
            <a:picLocks noChangeAspect="1"/>
          </p:cNvPicPr>
          <p:nvPr/>
        </p:nvPicPr>
        <p:blipFill>
          <a:blip r:embed="rId2"/>
          <a:stretch>
            <a:fillRect/>
          </a:stretch>
        </p:blipFill>
        <p:spPr>
          <a:xfrm>
            <a:off x="4773168" y="1435608"/>
            <a:ext cx="237744" cy="237744"/>
          </a:xfrm>
          <a:prstGeom prst="rect">
            <a:avLst/>
          </a:prstGeom>
        </p:spPr>
      </p:pic>
      <p:sp>
        <p:nvSpPr>
          <p:cNvPr id="15" name="Text 11"/>
          <p:cNvSpPr txBox="1"/>
          <p:nvPr/>
        </p:nvSpPr>
        <p:spPr>
          <a:xfrm>
            <a:off x="5257800" y="1325880"/>
            <a:ext cx="3291840" cy="457200"/>
          </a:xfrm>
          <a:prstGeom prst="rect">
            <a:avLst/>
          </a:prstGeom>
          <a:noFill/>
          <a:ln/>
        </p:spPr>
        <p:txBody>
          <a:bodyPr wrap="square" lIns="0" tIns="0" rIns="0" bIns="0" rtlCol="0" anchor="ctr"/>
          <a:lstStyle/>
          <a:p>
            <a:pPr indent="0" marL="0">
              <a:buNone/>
            </a:pPr>
            <a:r>
              <a:rPr lang="en-US" sz="1700" b="1" dirty="0">
                <a:solidFill>
                  <a:srgbClr val="2E7D6B"/>
                </a:solidFill>
                <a:latin typeface="Calibri" pitchFamily="34" charset="0"/>
                <a:ea typeface="Calibri" pitchFamily="34" charset="-122"/>
                <a:cs typeface="Calibri" pitchFamily="34" charset="-120"/>
              </a:rPr>
              <a:t>What went well</a:t>
            </a:r>
            <a:endParaRPr lang="en-US" sz="1700" dirty="0"/>
          </a:p>
        </p:txBody>
      </p:sp>
      <p:sp>
        <p:nvSpPr>
          <p:cNvPr id="16" name="Shape 12"/>
          <p:cNvSpPr/>
          <p:nvPr/>
        </p:nvSpPr>
        <p:spPr>
          <a:xfrm>
            <a:off x="4663440" y="1920240"/>
            <a:ext cx="4023360" cy="1188720"/>
          </a:xfrm>
          <a:prstGeom prst="roundRect">
            <a:avLst>
              <a:gd name="adj" fmla="val 6154"/>
            </a:avLst>
          </a:prstGeom>
          <a:solidFill>
            <a:srgbClr val="F2F4F7"/>
          </a:solidFill>
          <a:ln w="12700">
            <a:solidFill>
              <a:srgbClr val="F2F4F7"/>
            </a:solidFill>
            <a:prstDash val="solid"/>
          </a:ln>
        </p:spPr>
      </p:sp>
      <p:sp>
        <p:nvSpPr>
          <p:cNvPr id="17" name="Text 13"/>
          <p:cNvSpPr txBox="1"/>
          <p:nvPr/>
        </p:nvSpPr>
        <p:spPr>
          <a:xfrm>
            <a:off x="4846320" y="2029968"/>
            <a:ext cx="3657600" cy="32004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KRAS G12C</a:t>
            </a:r>
            <a:endParaRPr lang="en-US" sz="1400" dirty="0"/>
          </a:p>
        </p:txBody>
      </p:sp>
      <p:sp>
        <p:nvSpPr>
          <p:cNvPr id="18" name="Text 14"/>
          <p:cNvSpPr txBox="1"/>
          <p:nvPr/>
        </p:nvSpPr>
        <p:spPr>
          <a:xfrm>
            <a:off x="4846320" y="2359152"/>
            <a:ext cx="365760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Pocket found in 2013, drug approved in 2021: eight years of patient work (Ostrem et al., 2013; FDA, 2021).</a:t>
            </a:r>
            <a:endParaRPr lang="en-US" sz="1200" dirty="0"/>
          </a:p>
        </p:txBody>
      </p:sp>
      <p:sp>
        <p:nvSpPr>
          <p:cNvPr id="19" name="Shape 15"/>
          <p:cNvSpPr/>
          <p:nvPr/>
        </p:nvSpPr>
        <p:spPr>
          <a:xfrm>
            <a:off x="4663440" y="3246120"/>
            <a:ext cx="4023360" cy="1188720"/>
          </a:xfrm>
          <a:prstGeom prst="roundRect">
            <a:avLst>
              <a:gd name="adj" fmla="val 6154"/>
            </a:avLst>
          </a:prstGeom>
          <a:solidFill>
            <a:srgbClr val="F2F4F7"/>
          </a:solidFill>
          <a:ln w="12700">
            <a:solidFill>
              <a:srgbClr val="F2F4F7"/>
            </a:solidFill>
            <a:prstDash val="solid"/>
          </a:ln>
        </p:spPr>
      </p:sp>
      <p:sp>
        <p:nvSpPr>
          <p:cNvPr id="20" name="Text 16"/>
          <p:cNvSpPr txBox="1"/>
          <p:nvPr/>
        </p:nvSpPr>
        <p:spPr>
          <a:xfrm>
            <a:off x="4846320" y="3355848"/>
            <a:ext cx="3657600" cy="32004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Long partnerships</a:t>
            </a:r>
            <a:endParaRPr lang="en-US" sz="1400" dirty="0"/>
          </a:p>
        </p:txBody>
      </p:sp>
      <p:sp>
        <p:nvSpPr>
          <p:cNvPr id="21" name="Text 17"/>
          <p:cNvSpPr txBox="1"/>
          <p:nvPr/>
        </p:nvSpPr>
        <p:spPr>
          <a:xfrm>
            <a:off x="4846320" y="3685032"/>
            <a:ext cx="3657600" cy="6858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Cleveland Clinic and IBM: a 10-year program that also trains people (Cleveland Clinic, 2023).</a:t>
            </a:r>
            <a:endParaRPr lang="en-US" sz="1200" dirty="0"/>
          </a:p>
        </p:txBody>
      </p:sp>
      <p:sp>
        <p:nvSpPr>
          <p:cNvPr id="22" name="Text 18"/>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Manuel Blanco</a:t>
            </a:r>
            <a:endParaRPr lang="en-US" sz="900" dirty="0"/>
          </a:p>
        </p:txBody>
      </p:sp>
      <p:sp>
        <p:nvSpPr>
          <p:cNvPr id="23" name="Text 19"/>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Our main model: Cynefin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PMBOK Guide, Section 4.2.5.1: match each part of the problem to its context</a:t>
            </a:r>
            <a:endParaRPr lang="en-US" sz="1300" dirty="0"/>
          </a:p>
        </p:txBody>
      </p:sp>
      <p:sp>
        <p:nvSpPr>
          <p:cNvPr id="4" name="Shape 2"/>
          <p:cNvSpPr/>
          <p:nvPr/>
        </p:nvSpPr>
        <p:spPr>
          <a:xfrm>
            <a:off x="457200" y="1280160"/>
            <a:ext cx="4069080" cy="1508760"/>
          </a:xfrm>
          <a:prstGeom prst="roundRect">
            <a:avLst>
              <a:gd name="adj" fmla="val 4848"/>
            </a:avLst>
          </a:prstGeom>
          <a:solidFill>
            <a:srgbClr val="F2F4F7"/>
          </a:solidFill>
          <a:ln w="12700">
            <a:solidFill>
              <a:srgbClr val="F2F4F7"/>
            </a:solidFill>
            <a:prstDash val="solid"/>
          </a:ln>
        </p:spPr>
      </p:sp>
      <p:sp>
        <p:nvSpPr>
          <p:cNvPr id="5" name="Text 3"/>
          <p:cNvSpPr txBox="1"/>
          <p:nvPr/>
        </p:nvSpPr>
        <p:spPr>
          <a:xfrm>
            <a:off x="640080" y="1389888"/>
            <a:ext cx="3703320" cy="365760"/>
          </a:xfrm>
          <a:prstGeom prst="rect">
            <a:avLst/>
          </a:prstGeom>
          <a:noFill/>
          <a:ln/>
        </p:spPr>
        <p:txBody>
          <a:bodyPr wrap="square" lIns="0" tIns="0" rIns="0" bIns="0" rtlCol="0" anchor="t"/>
          <a:lstStyle/>
          <a:p>
            <a:pPr indent="0" marL="0">
              <a:buNone/>
            </a:pPr>
            <a:r>
              <a:rPr lang="en-US" sz="1700" b="1" dirty="0">
                <a:solidFill>
                  <a:srgbClr val="1B2A41"/>
                </a:solidFill>
                <a:latin typeface="Calibri" pitchFamily="34" charset="0"/>
                <a:ea typeface="Calibri" pitchFamily="34" charset="-122"/>
                <a:cs typeface="Calibri" pitchFamily="34" charset="-120"/>
              </a:rPr>
              <a:t>Complicated</a:t>
            </a:r>
            <a:endParaRPr lang="en-US" sz="1700" dirty="0"/>
          </a:p>
        </p:txBody>
      </p:sp>
      <p:sp>
        <p:nvSpPr>
          <p:cNvPr id="6" name="Text 4"/>
          <p:cNvSpPr txBox="1"/>
          <p:nvPr/>
        </p:nvSpPr>
        <p:spPr>
          <a:xfrm>
            <a:off x="640080" y="1755648"/>
            <a:ext cx="3703320" cy="4572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Known unknowns. Analyze, then apply good practice.</a:t>
            </a:r>
            <a:endParaRPr lang="en-US" sz="1200" dirty="0"/>
          </a:p>
        </p:txBody>
      </p:sp>
      <p:sp>
        <p:nvSpPr>
          <p:cNvPr id="7" name="Text 5"/>
          <p:cNvSpPr txBox="1"/>
          <p:nvPr/>
        </p:nvSpPr>
        <p:spPr>
          <a:xfrm>
            <a:off x="640080" y="2240280"/>
            <a:ext cx="3703320" cy="457200"/>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SOLANGE: Classification stage: predictive plan, fixed milestones</a:t>
            </a:r>
            <a:endParaRPr lang="en-US" sz="1200" dirty="0"/>
          </a:p>
        </p:txBody>
      </p:sp>
      <p:sp>
        <p:nvSpPr>
          <p:cNvPr id="8" name="Shape 6"/>
          <p:cNvSpPr/>
          <p:nvPr/>
        </p:nvSpPr>
        <p:spPr>
          <a:xfrm>
            <a:off x="4617720" y="1280160"/>
            <a:ext cx="4069080" cy="1508760"/>
          </a:xfrm>
          <a:prstGeom prst="roundRect">
            <a:avLst>
              <a:gd name="adj" fmla="val 4848"/>
            </a:avLst>
          </a:prstGeom>
          <a:solidFill>
            <a:srgbClr val="F2F4F7"/>
          </a:solidFill>
          <a:ln w="12700">
            <a:solidFill>
              <a:srgbClr val="F2F4F7"/>
            </a:solidFill>
            <a:prstDash val="solid"/>
          </a:ln>
        </p:spPr>
      </p:sp>
      <p:sp>
        <p:nvSpPr>
          <p:cNvPr id="9" name="Text 7"/>
          <p:cNvSpPr txBox="1"/>
          <p:nvPr/>
        </p:nvSpPr>
        <p:spPr>
          <a:xfrm>
            <a:off x="4800600" y="1389888"/>
            <a:ext cx="3703320" cy="365760"/>
          </a:xfrm>
          <a:prstGeom prst="rect">
            <a:avLst/>
          </a:prstGeom>
          <a:noFill/>
          <a:ln/>
        </p:spPr>
        <p:txBody>
          <a:bodyPr wrap="square" lIns="0" tIns="0" rIns="0" bIns="0" rtlCol="0" anchor="t"/>
          <a:lstStyle/>
          <a:p>
            <a:pPr indent="0" marL="0">
              <a:buNone/>
            </a:pPr>
            <a:r>
              <a:rPr lang="en-US" sz="1700" b="1" dirty="0">
                <a:solidFill>
                  <a:srgbClr val="B8441F"/>
                </a:solidFill>
                <a:latin typeface="Calibri" pitchFamily="34" charset="0"/>
                <a:ea typeface="Calibri" pitchFamily="34" charset="-122"/>
                <a:cs typeface="Calibri" pitchFamily="34" charset="-120"/>
              </a:rPr>
              <a:t>Complex</a:t>
            </a:r>
            <a:endParaRPr lang="en-US" sz="1700" dirty="0"/>
          </a:p>
        </p:txBody>
      </p:sp>
      <p:sp>
        <p:nvSpPr>
          <p:cNvPr id="10" name="Text 8"/>
          <p:cNvSpPr txBox="1"/>
          <p:nvPr/>
        </p:nvSpPr>
        <p:spPr>
          <a:xfrm>
            <a:off x="4800600" y="1755648"/>
            <a:ext cx="3703320" cy="4572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Unknown unknowns. Probe, sense, respond in short cycles.</a:t>
            </a:r>
            <a:endParaRPr lang="en-US" sz="1200" dirty="0"/>
          </a:p>
        </p:txBody>
      </p:sp>
      <p:sp>
        <p:nvSpPr>
          <p:cNvPr id="11" name="Text 9"/>
          <p:cNvSpPr txBox="1"/>
          <p:nvPr/>
        </p:nvSpPr>
        <p:spPr>
          <a:xfrm>
            <a:off x="4800600" y="2240280"/>
            <a:ext cx="3703320" cy="457200"/>
          </a:xfrm>
          <a:prstGeom prst="rect">
            <a:avLst/>
          </a:prstGeom>
          <a:noFill/>
          <a:ln/>
        </p:spPr>
        <p:txBody>
          <a:bodyPr wrap="square" lIns="0" tIns="0" rIns="0" bIns="0" rtlCol="0" anchor="t"/>
          <a:lstStyle/>
          <a:p>
            <a:pPr indent="0" marL="0">
              <a:buNone/>
            </a:pPr>
            <a:r>
              <a:rPr lang="en-US" sz="1200" b="1" dirty="0">
                <a:solidFill>
                  <a:srgbClr val="B8441F"/>
                </a:solidFill>
                <a:latin typeface="Calibri" pitchFamily="34" charset="0"/>
                <a:ea typeface="Calibri" pitchFamily="34" charset="-122"/>
                <a:cs typeface="Calibri" pitchFamily="34" charset="-120"/>
              </a:rPr>
              <a:t>SOLANGE: Quantum stage: short cycles, quarterly re-plan</a:t>
            </a:r>
            <a:endParaRPr lang="en-US" sz="1200" dirty="0"/>
          </a:p>
        </p:txBody>
      </p:sp>
      <p:sp>
        <p:nvSpPr>
          <p:cNvPr id="12" name="Shape 10"/>
          <p:cNvSpPr/>
          <p:nvPr/>
        </p:nvSpPr>
        <p:spPr>
          <a:xfrm>
            <a:off x="457200" y="2926080"/>
            <a:ext cx="4069080" cy="1508760"/>
          </a:xfrm>
          <a:prstGeom prst="roundRect">
            <a:avLst>
              <a:gd name="adj" fmla="val 4848"/>
            </a:avLst>
          </a:prstGeom>
          <a:solidFill>
            <a:srgbClr val="F7F8FA"/>
          </a:solidFill>
          <a:ln w="12700">
            <a:solidFill>
              <a:srgbClr val="F7F8FA"/>
            </a:solidFill>
            <a:prstDash val="solid"/>
          </a:ln>
        </p:spPr>
      </p:sp>
      <p:sp>
        <p:nvSpPr>
          <p:cNvPr id="13" name="Text 11"/>
          <p:cNvSpPr txBox="1"/>
          <p:nvPr/>
        </p:nvSpPr>
        <p:spPr>
          <a:xfrm>
            <a:off x="640080" y="3035808"/>
            <a:ext cx="3703320" cy="365760"/>
          </a:xfrm>
          <a:prstGeom prst="rect">
            <a:avLst/>
          </a:prstGeom>
          <a:noFill/>
          <a:ln/>
        </p:spPr>
        <p:txBody>
          <a:bodyPr wrap="square" lIns="0" tIns="0" rIns="0" bIns="0" rtlCol="0" anchor="t"/>
          <a:lstStyle/>
          <a:p>
            <a:pPr indent="0" marL="0">
              <a:buNone/>
            </a:pPr>
            <a:r>
              <a:rPr lang="en-US" sz="1700" b="1" dirty="0">
                <a:solidFill>
                  <a:srgbClr val="5A6B7E"/>
                </a:solidFill>
                <a:latin typeface="Calibri" pitchFamily="34" charset="0"/>
                <a:ea typeface="Calibri" pitchFamily="34" charset="-122"/>
                <a:cs typeface="Calibri" pitchFamily="34" charset="-120"/>
              </a:rPr>
              <a:t>Clear</a:t>
            </a:r>
            <a:endParaRPr lang="en-US" sz="1700" dirty="0"/>
          </a:p>
        </p:txBody>
      </p:sp>
      <p:sp>
        <p:nvSpPr>
          <p:cNvPr id="14" name="Text 12"/>
          <p:cNvSpPr txBox="1"/>
          <p:nvPr/>
        </p:nvSpPr>
        <p:spPr>
          <a:xfrm>
            <a:off x="640080" y="3401568"/>
            <a:ext cx="3703320" cy="4572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Obvious cause and effect. Use best practice.</a:t>
            </a:r>
            <a:endParaRPr lang="en-US" sz="1200" dirty="0"/>
          </a:p>
        </p:txBody>
      </p:sp>
      <p:sp>
        <p:nvSpPr>
          <p:cNvPr id="15" name="Text 13"/>
          <p:cNvSpPr txBox="1"/>
          <p:nvPr/>
        </p:nvSpPr>
        <p:spPr>
          <a:xfrm>
            <a:off x="640080" y="3886200"/>
            <a:ext cx="3703320" cy="457200"/>
          </a:xfrm>
          <a:prstGeom prst="rect">
            <a:avLst/>
          </a:prstGeom>
          <a:noFill/>
          <a:ln/>
        </p:spPr>
        <p:txBody>
          <a:bodyPr wrap="square" lIns="0" tIns="0" rIns="0" bIns="0" rtlCol="0" anchor="t"/>
          <a:lstStyle/>
          <a:p>
            <a:pPr indent="0" marL="0">
              <a:buNone/>
            </a:pPr>
            <a:r>
              <a:rPr lang="en-US" sz="1200" b="1" dirty="0">
                <a:solidFill>
                  <a:srgbClr val="6B7785"/>
                </a:solidFill>
                <a:latin typeface="Calibri" pitchFamily="34" charset="0"/>
                <a:ea typeface="Calibri" pitchFamily="34" charset="-122"/>
                <a:cs typeface="Calibri" pitchFamily="34" charset="-120"/>
              </a:rPr>
              <a:t>SOLANGE: Routine operations</a:t>
            </a:r>
            <a:endParaRPr lang="en-US" sz="1200" dirty="0"/>
          </a:p>
        </p:txBody>
      </p:sp>
      <p:sp>
        <p:nvSpPr>
          <p:cNvPr id="16" name="Shape 14"/>
          <p:cNvSpPr/>
          <p:nvPr/>
        </p:nvSpPr>
        <p:spPr>
          <a:xfrm>
            <a:off x="4617720" y="2926080"/>
            <a:ext cx="4069080" cy="1508760"/>
          </a:xfrm>
          <a:prstGeom prst="roundRect">
            <a:avLst>
              <a:gd name="adj" fmla="val 4848"/>
            </a:avLst>
          </a:prstGeom>
          <a:solidFill>
            <a:srgbClr val="F7F8FA"/>
          </a:solidFill>
          <a:ln w="12700">
            <a:solidFill>
              <a:srgbClr val="F7F8FA"/>
            </a:solidFill>
            <a:prstDash val="solid"/>
          </a:ln>
        </p:spPr>
      </p:sp>
      <p:sp>
        <p:nvSpPr>
          <p:cNvPr id="17" name="Text 15"/>
          <p:cNvSpPr txBox="1"/>
          <p:nvPr/>
        </p:nvSpPr>
        <p:spPr>
          <a:xfrm>
            <a:off x="4800600" y="3035808"/>
            <a:ext cx="3703320" cy="365760"/>
          </a:xfrm>
          <a:prstGeom prst="rect">
            <a:avLst/>
          </a:prstGeom>
          <a:noFill/>
          <a:ln/>
        </p:spPr>
        <p:txBody>
          <a:bodyPr wrap="square" lIns="0" tIns="0" rIns="0" bIns="0" rtlCol="0" anchor="t"/>
          <a:lstStyle/>
          <a:p>
            <a:pPr indent="0" marL="0">
              <a:buNone/>
            </a:pPr>
            <a:r>
              <a:rPr lang="en-US" sz="1700" b="1" dirty="0">
                <a:solidFill>
                  <a:srgbClr val="5A6B7E"/>
                </a:solidFill>
                <a:latin typeface="Calibri" pitchFamily="34" charset="0"/>
                <a:ea typeface="Calibri" pitchFamily="34" charset="-122"/>
                <a:cs typeface="Calibri" pitchFamily="34" charset="-120"/>
              </a:rPr>
              <a:t>Chaotic</a:t>
            </a:r>
            <a:endParaRPr lang="en-US" sz="1700" dirty="0"/>
          </a:p>
        </p:txBody>
      </p:sp>
      <p:sp>
        <p:nvSpPr>
          <p:cNvPr id="18" name="Text 16"/>
          <p:cNvSpPr txBox="1"/>
          <p:nvPr/>
        </p:nvSpPr>
        <p:spPr>
          <a:xfrm>
            <a:off x="4800600" y="3401568"/>
            <a:ext cx="3703320" cy="4572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Act first to stabilize, then sense.</a:t>
            </a:r>
            <a:endParaRPr lang="en-US" sz="1200" dirty="0"/>
          </a:p>
        </p:txBody>
      </p:sp>
      <p:sp>
        <p:nvSpPr>
          <p:cNvPr id="19" name="Text 17"/>
          <p:cNvSpPr txBox="1"/>
          <p:nvPr/>
        </p:nvSpPr>
        <p:spPr>
          <a:xfrm>
            <a:off x="4800600" y="3886200"/>
            <a:ext cx="3703320" cy="457200"/>
          </a:xfrm>
          <a:prstGeom prst="rect">
            <a:avLst/>
          </a:prstGeom>
          <a:noFill/>
          <a:ln/>
        </p:spPr>
        <p:txBody>
          <a:bodyPr wrap="square" lIns="0" tIns="0" rIns="0" bIns="0" rtlCol="0" anchor="t"/>
          <a:lstStyle/>
          <a:p>
            <a:pPr indent="0" marL="0">
              <a:buNone/>
            </a:pPr>
            <a:r>
              <a:rPr lang="en-US" sz="1200" b="1" dirty="0">
                <a:solidFill>
                  <a:srgbClr val="6B7785"/>
                </a:solidFill>
                <a:latin typeface="Calibri" pitchFamily="34" charset="0"/>
                <a:ea typeface="Calibri" pitchFamily="34" charset="-122"/>
                <a:cs typeface="Calibri" pitchFamily="34" charset="-120"/>
              </a:rPr>
              <a:t>SOLANGE: Not expected in this project</a:t>
            </a:r>
            <a:endParaRPr lang="en-US" sz="1200" dirty="0"/>
          </a:p>
        </p:txBody>
      </p:sp>
      <p:sp>
        <p:nvSpPr>
          <p:cNvPr id="20" name="Text 18"/>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Manuel Blanco</a:t>
            </a:r>
            <a:endParaRPr lang="en-US" sz="900" dirty="0"/>
          </a:p>
        </p:txBody>
      </p:sp>
      <p:sp>
        <p:nvSpPr>
          <p:cNvPr id="21" name="Text 19"/>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Adding a communication model for people</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Cynefin does not cover stakeholders (PMBOK Table 4-1)</a:t>
            </a:r>
            <a:endParaRPr lang="en-US" sz="1300" dirty="0"/>
          </a:p>
        </p:txBody>
      </p:sp>
      <p:sp>
        <p:nvSpPr>
          <p:cNvPr id="4" name="Shape 2"/>
          <p:cNvSpPr/>
          <p:nvPr/>
        </p:nvSpPr>
        <p:spPr>
          <a:xfrm>
            <a:off x="1051560" y="1325880"/>
            <a:ext cx="685800" cy="685800"/>
          </a:xfrm>
          <a:prstGeom prst="ellipse">
            <a:avLst/>
          </a:prstGeom>
          <a:solidFill>
            <a:srgbClr val="1B2A41"/>
          </a:solidFill>
          <a:ln w="12700">
            <a:solidFill>
              <a:srgbClr val="1B2A41"/>
            </a:solidFill>
            <a:prstDash val="solid"/>
          </a:ln>
        </p:spPr>
      </p:sp>
      <p:pic>
        <p:nvPicPr>
          <p:cNvPr id="5" name="Image 0" descr="preencoded.png">    </p:cNvPr>
          <p:cNvPicPr>
            <a:picLocks noChangeAspect="1"/>
          </p:cNvPicPr>
          <p:nvPr/>
        </p:nvPicPr>
        <p:blipFill>
          <a:blip r:embed="rId1"/>
          <a:stretch>
            <a:fillRect/>
          </a:stretch>
        </p:blipFill>
        <p:spPr>
          <a:xfrm>
            <a:off x="1216152" y="1490472"/>
            <a:ext cx="356616" cy="356616"/>
          </a:xfrm>
          <a:prstGeom prst="rect">
            <a:avLst/>
          </a:prstGeom>
        </p:spPr>
      </p:pic>
      <p:sp>
        <p:nvSpPr>
          <p:cNvPr id="6" name="Text 3"/>
          <p:cNvSpPr txBox="1"/>
          <p:nvPr/>
        </p:nvSpPr>
        <p:spPr>
          <a:xfrm>
            <a:off x="457200" y="2103120"/>
            <a:ext cx="1874520" cy="320040"/>
          </a:xfrm>
          <a:prstGeom prst="rect">
            <a:avLst/>
          </a:prstGeom>
          <a:noFill/>
          <a:ln/>
        </p:spPr>
        <p:txBody>
          <a:bodyPr wrap="square" lIns="0" tIns="0" rIns="0" bIns="0" rtlCol="0" anchor="t"/>
          <a:lstStyle/>
          <a:p>
            <a:pPr algn="ctr" indent="0" marL="0">
              <a:buNone/>
            </a:pPr>
            <a:r>
              <a:rPr lang="en-US" sz="1400" b="1" dirty="0">
                <a:solidFill>
                  <a:srgbClr val="1B2A41"/>
                </a:solidFill>
                <a:latin typeface="Calibri" pitchFamily="34" charset="0"/>
                <a:ea typeface="Calibri" pitchFamily="34" charset="-122"/>
                <a:cs typeface="Calibri" pitchFamily="34" charset="-120"/>
              </a:rPr>
              <a:t>Chemist</a:t>
            </a:r>
            <a:endParaRPr lang="en-US" sz="1400" dirty="0"/>
          </a:p>
        </p:txBody>
      </p:sp>
      <p:sp>
        <p:nvSpPr>
          <p:cNvPr id="7" name="Text 4"/>
          <p:cNvSpPr txBox="1"/>
          <p:nvPr/>
        </p:nvSpPr>
        <p:spPr>
          <a:xfrm>
            <a:off x="457200" y="2423160"/>
            <a:ext cx="1874520" cy="32004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Success = Converged energy</a:t>
            </a:r>
            <a:endParaRPr lang="en-US" sz="1100" dirty="0"/>
          </a:p>
        </p:txBody>
      </p:sp>
      <p:sp>
        <p:nvSpPr>
          <p:cNvPr id="8" name="Shape 5"/>
          <p:cNvSpPr/>
          <p:nvPr/>
        </p:nvSpPr>
        <p:spPr>
          <a:xfrm>
            <a:off x="3154680" y="1325880"/>
            <a:ext cx="685800" cy="685800"/>
          </a:xfrm>
          <a:prstGeom prst="ellipse">
            <a:avLst/>
          </a:prstGeom>
          <a:solidFill>
            <a:srgbClr val="2E7D6B"/>
          </a:solidFill>
          <a:ln w="12700">
            <a:solidFill>
              <a:srgbClr val="2E7D6B"/>
            </a:solidFill>
            <a:prstDash val="solid"/>
          </a:ln>
        </p:spPr>
      </p:sp>
      <p:pic>
        <p:nvPicPr>
          <p:cNvPr id="9" name="Image 1" descr="preencoded.png">    </p:cNvPr>
          <p:cNvPicPr>
            <a:picLocks noChangeAspect="1"/>
          </p:cNvPicPr>
          <p:nvPr/>
        </p:nvPicPr>
        <p:blipFill>
          <a:blip r:embed="rId2"/>
          <a:stretch>
            <a:fillRect/>
          </a:stretch>
        </p:blipFill>
        <p:spPr>
          <a:xfrm>
            <a:off x="3319272" y="1490472"/>
            <a:ext cx="356616" cy="356616"/>
          </a:xfrm>
          <a:prstGeom prst="rect">
            <a:avLst/>
          </a:prstGeom>
        </p:spPr>
      </p:pic>
      <p:sp>
        <p:nvSpPr>
          <p:cNvPr id="10" name="Text 6"/>
          <p:cNvSpPr txBox="1"/>
          <p:nvPr/>
        </p:nvSpPr>
        <p:spPr>
          <a:xfrm>
            <a:off x="2560320" y="2103120"/>
            <a:ext cx="1874520" cy="320040"/>
          </a:xfrm>
          <a:prstGeom prst="rect">
            <a:avLst/>
          </a:prstGeom>
          <a:noFill/>
          <a:ln/>
        </p:spPr>
        <p:txBody>
          <a:bodyPr wrap="square" lIns="0" tIns="0" rIns="0" bIns="0" rtlCol="0" anchor="t"/>
          <a:lstStyle/>
          <a:p>
            <a:pPr algn="ctr" indent="0" marL="0">
              <a:buNone/>
            </a:pPr>
            <a:r>
              <a:rPr lang="en-US" sz="1400" b="1" dirty="0">
                <a:solidFill>
                  <a:srgbClr val="1B2A41"/>
                </a:solidFill>
                <a:latin typeface="Calibri" pitchFamily="34" charset="0"/>
                <a:ea typeface="Calibri" pitchFamily="34" charset="-122"/>
                <a:cs typeface="Calibri" pitchFamily="34" charset="-120"/>
              </a:rPr>
              <a:t>Oncologist</a:t>
            </a:r>
            <a:endParaRPr lang="en-US" sz="1400" dirty="0"/>
          </a:p>
        </p:txBody>
      </p:sp>
      <p:sp>
        <p:nvSpPr>
          <p:cNvPr id="11" name="Text 7"/>
          <p:cNvSpPr txBox="1"/>
          <p:nvPr/>
        </p:nvSpPr>
        <p:spPr>
          <a:xfrm>
            <a:off x="2560320" y="2423160"/>
            <a:ext cx="1874520" cy="32004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Success = Clinical relevance</a:t>
            </a:r>
            <a:endParaRPr lang="en-US" sz="1100" dirty="0"/>
          </a:p>
        </p:txBody>
      </p:sp>
      <p:sp>
        <p:nvSpPr>
          <p:cNvPr id="12" name="Shape 8"/>
          <p:cNvSpPr/>
          <p:nvPr/>
        </p:nvSpPr>
        <p:spPr>
          <a:xfrm>
            <a:off x="5257800" y="1325880"/>
            <a:ext cx="685800" cy="685800"/>
          </a:xfrm>
          <a:prstGeom prst="ellipse">
            <a:avLst/>
          </a:prstGeom>
          <a:solidFill>
            <a:srgbClr val="C28A1B"/>
          </a:solidFill>
          <a:ln w="12700">
            <a:solidFill>
              <a:srgbClr val="C28A1B"/>
            </a:solidFill>
            <a:prstDash val="solid"/>
          </a:ln>
        </p:spPr>
      </p:sp>
      <p:pic>
        <p:nvPicPr>
          <p:cNvPr id="13" name="Image 2" descr="preencoded.png">    </p:cNvPr>
          <p:cNvPicPr>
            <a:picLocks noChangeAspect="1"/>
          </p:cNvPicPr>
          <p:nvPr/>
        </p:nvPicPr>
        <p:blipFill>
          <a:blip r:embed="rId3"/>
          <a:stretch>
            <a:fillRect/>
          </a:stretch>
        </p:blipFill>
        <p:spPr>
          <a:xfrm>
            <a:off x="5422392" y="1490472"/>
            <a:ext cx="356616" cy="356616"/>
          </a:xfrm>
          <a:prstGeom prst="rect">
            <a:avLst/>
          </a:prstGeom>
        </p:spPr>
      </p:pic>
      <p:sp>
        <p:nvSpPr>
          <p:cNvPr id="14" name="Text 9"/>
          <p:cNvSpPr txBox="1"/>
          <p:nvPr/>
        </p:nvSpPr>
        <p:spPr>
          <a:xfrm>
            <a:off x="4663440" y="2103120"/>
            <a:ext cx="1874520" cy="320040"/>
          </a:xfrm>
          <a:prstGeom prst="rect">
            <a:avLst/>
          </a:prstGeom>
          <a:noFill/>
          <a:ln/>
        </p:spPr>
        <p:txBody>
          <a:bodyPr wrap="square" lIns="0" tIns="0" rIns="0" bIns="0" rtlCol="0" anchor="t"/>
          <a:lstStyle/>
          <a:p>
            <a:pPr algn="ctr" indent="0" marL="0">
              <a:buNone/>
            </a:pPr>
            <a:r>
              <a:rPr lang="en-US" sz="1400" b="1" dirty="0">
                <a:solidFill>
                  <a:srgbClr val="1B2A41"/>
                </a:solidFill>
                <a:latin typeface="Calibri" pitchFamily="34" charset="0"/>
                <a:ea typeface="Calibri" pitchFamily="34" charset="-122"/>
                <a:cs typeface="Calibri" pitchFamily="34" charset="-120"/>
              </a:rPr>
              <a:t>Investor</a:t>
            </a:r>
            <a:endParaRPr lang="en-US" sz="1400" dirty="0"/>
          </a:p>
        </p:txBody>
      </p:sp>
      <p:sp>
        <p:nvSpPr>
          <p:cNvPr id="15" name="Text 10"/>
          <p:cNvSpPr txBox="1"/>
          <p:nvPr/>
        </p:nvSpPr>
        <p:spPr>
          <a:xfrm>
            <a:off x="4663440" y="2423160"/>
            <a:ext cx="1874520" cy="32004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Success = Credible progress</a:t>
            </a:r>
            <a:endParaRPr lang="en-US" sz="1100" dirty="0"/>
          </a:p>
        </p:txBody>
      </p:sp>
      <p:sp>
        <p:nvSpPr>
          <p:cNvPr id="16" name="Shape 11"/>
          <p:cNvSpPr/>
          <p:nvPr/>
        </p:nvSpPr>
        <p:spPr>
          <a:xfrm>
            <a:off x="7360920" y="1325880"/>
            <a:ext cx="685800" cy="685800"/>
          </a:xfrm>
          <a:prstGeom prst="ellipse">
            <a:avLst/>
          </a:prstGeom>
          <a:solidFill>
            <a:srgbClr val="6B4FA0"/>
          </a:solidFill>
          <a:ln w="12700">
            <a:solidFill>
              <a:srgbClr val="6B4FA0"/>
            </a:solidFill>
            <a:prstDash val="solid"/>
          </a:ln>
        </p:spPr>
      </p:sp>
      <p:pic>
        <p:nvPicPr>
          <p:cNvPr id="17" name="Image 3" descr="preencoded.png">    </p:cNvPr>
          <p:cNvPicPr>
            <a:picLocks noChangeAspect="1"/>
          </p:cNvPicPr>
          <p:nvPr/>
        </p:nvPicPr>
        <p:blipFill>
          <a:blip r:embed="rId4"/>
          <a:stretch>
            <a:fillRect/>
          </a:stretch>
        </p:blipFill>
        <p:spPr>
          <a:xfrm>
            <a:off x="7525512" y="1490472"/>
            <a:ext cx="356616" cy="356616"/>
          </a:xfrm>
          <a:prstGeom prst="rect">
            <a:avLst/>
          </a:prstGeom>
        </p:spPr>
      </p:pic>
      <p:sp>
        <p:nvSpPr>
          <p:cNvPr id="18" name="Text 12"/>
          <p:cNvSpPr txBox="1"/>
          <p:nvPr/>
        </p:nvSpPr>
        <p:spPr>
          <a:xfrm>
            <a:off x="6766560" y="2103120"/>
            <a:ext cx="1874520" cy="320040"/>
          </a:xfrm>
          <a:prstGeom prst="rect">
            <a:avLst/>
          </a:prstGeom>
          <a:noFill/>
          <a:ln/>
        </p:spPr>
        <p:txBody>
          <a:bodyPr wrap="square" lIns="0" tIns="0" rIns="0" bIns="0" rtlCol="0" anchor="t"/>
          <a:lstStyle/>
          <a:p>
            <a:pPr algn="ctr" indent="0" marL="0">
              <a:buNone/>
            </a:pPr>
            <a:r>
              <a:rPr lang="en-US" sz="1400" b="1" dirty="0">
                <a:solidFill>
                  <a:srgbClr val="1B2A41"/>
                </a:solidFill>
                <a:latin typeface="Calibri" pitchFamily="34" charset="0"/>
                <a:ea typeface="Calibri" pitchFamily="34" charset="-122"/>
                <a:cs typeface="Calibri" pitchFamily="34" charset="-120"/>
              </a:rPr>
              <a:t>Health ministry</a:t>
            </a:r>
            <a:endParaRPr lang="en-US" sz="1400" dirty="0"/>
          </a:p>
        </p:txBody>
      </p:sp>
      <p:sp>
        <p:nvSpPr>
          <p:cNvPr id="19" name="Text 13"/>
          <p:cNvSpPr txBox="1"/>
          <p:nvPr/>
        </p:nvSpPr>
        <p:spPr>
          <a:xfrm>
            <a:off x="6766560" y="2423160"/>
            <a:ext cx="1874520" cy="32004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Success = Trust and access</a:t>
            </a:r>
            <a:endParaRPr lang="en-US" sz="1100" dirty="0"/>
          </a:p>
        </p:txBody>
      </p:sp>
      <p:sp>
        <p:nvSpPr>
          <p:cNvPr id="20" name="Shape 14"/>
          <p:cNvSpPr/>
          <p:nvPr/>
        </p:nvSpPr>
        <p:spPr>
          <a:xfrm>
            <a:off x="457200" y="2971800"/>
            <a:ext cx="8229600" cy="1554480"/>
          </a:xfrm>
          <a:prstGeom prst="roundRect">
            <a:avLst>
              <a:gd name="adj" fmla="val 4706"/>
            </a:avLst>
          </a:prstGeom>
          <a:solidFill>
            <a:srgbClr val="F2F4F7"/>
          </a:solidFill>
          <a:ln w="12700">
            <a:solidFill>
              <a:srgbClr val="F2F4F7"/>
            </a:solidFill>
            <a:prstDash val="solid"/>
          </a:ln>
        </p:spPr>
      </p:sp>
      <p:sp>
        <p:nvSpPr>
          <p:cNvPr id="21" name="Shape 15"/>
          <p:cNvSpPr/>
          <p:nvPr/>
        </p:nvSpPr>
        <p:spPr>
          <a:xfrm>
            <a:off x="685800" y="3246120"/>
            <a:ext cx="640080" cy="640080"/>
          </a:xfrm>
          <a:prstGeom prst="ellipse">
            <a:avLst/>
          </a:prstGeom>
          <a:solidFill>
            <a:srgbClr val="B8441F"/>
          </a:solidFill>
          <a:ln w="12700">
            <a:solidFill>
              <a:srgbClr val="B8441F"/>
            </a:solidFill>
            <a:prstDash val="solid"/>
          </a:ln>
        </p:spPr>
      </p:sp>
      <p:pic>
        <p:nvPicPr>
          <p:cNvPr id="22" name="Image 4" descr="preencoded.png">    </p:cNvPr>
          <p:cNvPicPr>
            <a:picLocks noChangeAspect="1"/>
          </p:cNvPicPr>
          <p:nvPr/>
        </p:nvPicPr>
        <p:blipFill>
          <a:blip r:embed="rId5"/>
          <a:stretch>
            <a:fillRect/>
          </a:stretch>
        </p:blipFill>
        <p:spPr>
          <a:xfrm>
            <a:off x="839419" y="3399739"/>
            <a:ext cx="332842" cy="332842"/>
          </a:xfrm>
          <a:prstGeom prst="rect">
            <a:avLst/>
          </a:prstGeom>
        </p:spPr>
      </p:pic>
      <p:sp>
        <p:nvSpPr>
          <p:cNvPr id="23" name="Text 16"/>
          <p:cNvSpPr txBox="1"/>
          <p:nvPr/>
        </p:nvSpPr>
        <p:spPr>
          <a:xfrm>
            <a:off x="1554480" y="3090672"/>
            <a:ext cx="6949440" cy="32004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Cross-cultural communication (PMBOK 4.2.2.1)</a:t>
            </a:r>
            <a:endParaRPr lang="en-US" sz="1500" dirty="0"/>
          </a:p>
        </p:txBody>
      </p:sp>
      <p:sp>
        <p:nvSpPr>
          <p:cNvPr id="24" name="Text 17"/>
          <p:cNvSpPr txBox="1"/>
          <p:nvPr/>
        </p:nvSpPr>
        <p:spPr>
          <a:xfrm>
            <a:off x="1554480" y="3429000"/>
            <a:ext cx="6949440"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3"/>
                </a:solidFill>
                <a:latin typeface="Calibri" pitchFamily="34" charset="0"/>
                <a:ea typeface="Calibri" pitchFamily="34" charset="-122"/>
                <a:cs typeface="Calibri" pitchFamily="34" charset="-120"/>
              </a:rPr>
              <a:t>Every result states its context: established or experimental.</a:t>
            </a:r>
            <a:endParaRPr lang="en-US" sz="1300" dirty="0"/>
          </a:p>
          <a:p>
            <a:pPr marL="342900" indent="-342900">
              <a:spcAft>
                <a:spcPts val="400"/>
              </a:spcAft>
              <a:buSzPct val="100000"/>
              <a:buChar char="•"/>
            </a:pPr>
            <a:r>
              <a:rPr lang="en-US" sz="1300" dirty="0">
                <a:solidFill>
                  <a:srgbClr val="1F2933"/>
                </a:solidFill>
                <a:latin typeface="Calibri" pitchFamily="34" charset="0"/>
                <a:ea typeface="Calibri" pitchFamily="34" charset="-122"/>
                <a:cs typeface="Calibri" pitchFamily="34" charset="-120"/>
              </a:rPr>
              <a:t>Uncertain results are explained in a live briefing, not only in a report.</a:t>
            </a:r>
            <a:endParaRPr lang="en-US" sz="1300" dirty="0"/>
          </a:p>
          <a:p>
            <a:pPr marL="342900" indent="-342900">
              <a:spcAft>
                <a:spcPts val="400"/>
              </a:spcAft>
              <a:buSzPct val="100000"/>
              <a:buChar char="•"/>
            </a:pPr>
            <a:r>
              <a:rPr lang="en-US" sz="1300" dirty="0">
                <a:solidFill>
                  <a:srgbClr val="1F2933"/>
                </a:solidFill>
                <a:latin typeface="Calibri" pitchFamily="34" charset="0"/>
                <a:ea typeface="Calibri" pitchFamily="34" charset="-122"/>
                <a:cs typeface="Calibri" pitchFamily="34" charset="-120"/>
              </a:rPr>
              <a:t>The same result must mean the same thing to every reader.</a:t>
            </a:r>
            <a:endParaRPr lang="en-US" sz="1300" dirty="0"/>
          </a:p>
        </p:txBody>
      </p:sp>
      <p:sp>
        <p:nvSpPr>
          <p:cNvPr id="25" name="Text 18"/>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Manuel Blanco</a:t>
            </a:r>
            <a:endParaRPr lang="en-US" sz="900" dirty="0"/>
          </a:p>
        </p:txBody>
      </p:sp>
      <p:sp>
        <p:nvSpPr>
          <p:cNvPr id="26" name="Text 19"/>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Team roles and responsibilities</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Each member leads the area of his own professional expertise</a:t>
            </a:r>
            <a:endParaRPr lang="en-US" sz="1300" dirty="0"/>
          </a:p>
        </p:txBody>
      </p:sp>
      <p:sp>
        <p:nvSpPr>
          <p:cNvPr id="4" name="Shape 2"/>
          <p:cNvSpPr/>
          <p:nvPr/>
        </p:nvSpPr>
        <p:spPr>
          <a:xfrm>
            <a:off x="457200" y="1325880"/>
            <a:ext cx="2606040" cy="3200400"/>
          </a:xfrm>
          <a:prstGeom prst="roundRect">
            <a:avLst>
              <a:gd name="adj" fmla="val 2807"/>
            </a:avLst>
          </a:prstGeom>
          <a:solidFill>
            <a:srgbClr val="F2F4F7"/>
          </a:solidFill>
          <a:ln w="12700">
            <a:solidFill>
              <a:srgbClr val="F2F4F7"/>
            </a:solidFill>
            <a:prstDash val="solid"/>
          </a:ln>
        </p:spPr>
      </p:sp>
      <p:sp>
        <p:nvSpPr>
          <p:cNvPr id="5" name="Shape 3"/>
          <p:cNvSpPr/>
          <p:nvPr/>
        </p:nvSpPr>
        <p:spPr>
          <a:xfrm>
            <a:off x="1417320" y="1508760"/>
            <a:ext cx="685800" cy="68580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1581912" y="1673352"/>
            <a:ext cx="356616" cy="356616"/>
          </a:xfrm>
          <a:prstGeom prst="rect">
            <a:avLst/>
          </a:prstGeom>
        </p:spPr>
      </p:pic>
      <p:sp>
        <p:nvSpPr>
          <p:cNvPr id="7" name="Text 4"/>
          <p:cNvSpPr txBox="1"/>
          <p:nvPr/>
        </p:nvSpPr>
        <p:spPr>
          <a:xfrm>
            <a:off x="594360" y="2286000"/>
            <a:ext cx="2331720" cy="365760"/>
          </a:xfrm>
          <a:prstGeom prst="rect">
            <a:avLst/>
          </a:prstGeom>
          <a:noFill/>
          <a:ln/>
        </p:spPr>
        <p:txBody>
          <a:bodyPr wrap="square" lIns="0" tIns="0" rIns="0" bIns="0" rtlCol="0" anchor="t"/>
          <a:lstStyle/>
          <a:p>
            <a:pPr algn="ctr" indent="0" marL="0">
              <a:buNone/>
            </a:pPr>
            <a:r>
              <a:rPr lang="en-US" sz="1600" b="1" dirty="0">
                <a:solidFill>
                  <a:srgbClr val="1B2A41"/>
                </a:solidFill>
                <a:latin typeface="Calibri" pitchFamily="34" charset="0"/>
                <a:ea typeface="Calibri" pitchFamily="34" charset="-122"/>
                <a:cs typeface="Calibri" pitchFamily="34" charset="-120"/>
              </a:rPr>
              <a:t>Doron Cohen</a:t>
            </a:r>
            <a:endParaRPr lang="en-US" sz="1600" dirty="0"/>
          </a:p>
        </p:txBody>
      </p:sp>
      <p:sp>
        <p:nvSpPr>
          <p:cNvPr id="8" name="Text 5"/>
          <p:cNvSpPr txBox="1"/>
          <p:nvPr/>
        </p:nvSpPr>
        <p:spPr>
          <a:xfrm>
            <a:off x="594360" y="2651760"/>
            <a:ext cx="2331720" cy="320040"/>
          </a:xfrm>
          <a:prstGeom prst="rect">
            <a:avLst/>
          </a:prstGeom>
          <a:noFill/>
          <a:ln/>
        </p:spPr>
        <p:txBody>
          <a:bodyPr wrap="square" lIns="0" tIns="0" rIns="0" bIns="0" rtlCol="0" anchor="t"/>
          <a:lstStyle/>
          <a:p>
            <a:pPr algn="ctr" indent="0" marL="0">
              <a:buNone/>
            </a:pPr>
            <a:r>
              <a:rPr lang="en-US" sz="1200" i="1" dirty="0">
                <a:solidFill>
                  <a:srgbClr val="1B2A41"/>
                </a:solidFill>
                <a:latin typeface="Calibri" pitchFamily="34" charset="0"/>
                <a:ea typeface="Calibri" pitchFamily="34" charset="-122"/>
                <a:cs typeface="Calibri" pitchFamily="34" charset="-120"/>
              </a:rPr>
              <a:t>Project lead and technical lead</a:t>
            </a:r>
            <a:endParaRPr lang="en-US" sz="1200" dirty="0"/>
          </a:p>
        </p:txBody>
      </p:sp>
      <p:sp>
        <p:nvSpPr>
          <p:cNvPr id="9" name="Text 6"/>
          <p:cNvSpPr txBox="1"/>
          <p:nvPr/>
        </p:nvSpPr>
        <p:spPr>
          <a:xfrm>
            <a:off x="685800" y="3108960"/>
            <a:ext cx="2194560" cy="12801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Platform architecture and science</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Research phases 1 to 7</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Evidence discipline (LEON)</a:t>
            </a:r>
            <a:endParaRPr lang="en-US" sz="1200" dirty="0"/>
          </a:p>
        </p:txBody>
      </p:sp>
      <p:sp>
        <p:nvSpPr>
          <p:cNvPr id="10" name="Shape 7"/>
          <p:cNvSpPr/>
          <p:nvPr/>
        </p:nvSpPr>
        <p:spPr>
          <a:xfrm>
            <a:off x="3246120" y="1325880"/>
            <a:ext cx="2606040" cy="3200400"/>
          </a:xfrm>
          <a:prstGeom prst="roundRect">
            <a:avLst>
              <a:gd name="adj" fmla="val 2807"/>
            </a:avLst>
          </a:prstGeom>
          <a:solidFill>
            <a:srgbClr val="F2F4F7"/>
          </a:solidFill>
          <a:ln w="12700">
            <a:solidFill>
              <a:srgbClr val="F2F4F7"/>
            </a:solidFill>
            <a:prstDash val="solid"/>
          </a:ln>
        </p:spPr>
      </p:sp>
      <p:sp>
        <p:nvSpPr>
          <p:cNvPr id="11" name="Shape 8"/>
          <p:cNvSpPr/>
          <p:nvPr/>
        </p:nvSpPr>
        <p:spPr>
          <a:xfrm>
            <a:off x="4206240" y="1508760"/>
            <a:ext cx="685800" cy="685800"/>
          </a:xfrm>
          <a:prstGeom prst="ellipse">
            <a:avLst/>
          </a:prstGeom>
          <a:solidFill>
            <a:srgbClr val="C28A1B"/>
          </a:solidFill>
          <a:ln w="12700">
            <a:solidFill>
              <a:srgbClr val="C28A1B"/>
            </a:solidFill>
            <a:prstDash val="solid"/>
          </a:ln>
        </p:spPr>
      </p:sp>
      <p:pic>
        <p:nvPicPr>
          <p:cNvPr id="12" name="Image 1" descr="preencoded.png">    </p:cNvPr>
          <p:cNvPicPr>
            <a:picLocks noChangeAspect="1"/>
          </p:cNvPicPr>
          <p:nvPr/>
        </p:nvPicPr>
        <p:blipFill>
          <a:blip r:embed="rId2"/>
          <a:stretch>
            <a:fillRect/>
          </a:stretch>
        </p:blipFill>
        <p:spPr>
          <a:xfrm>
            <a:off x="4370832" y="1673352"/>
            <a:ext cx="356616" cy="356616"/>
          </a:xfrm>
          <a:prstGeom prst="rect">
            <a:avLst/>
          </a:prstGeom>
        </p:spPr>
      </p:pic>
      <p:sp>
        <p:nvSpPr>
          <p:cNvPr id="13" name="Text 9"/>
          <p:cNvSpPr txBox="1"/>
          <p:nvPr/>
        </p:nvSpPr>
        <p:spPr>
          <a:xfrm>
            <a:off x="3383280" y="2286000"/>
            <a:ext cx="2331720" cy="365760"/>
          </a:xfrm>
          <a:prstGeom prst="rect">
            <a:avLst/>
          </a:prstGeom>
          <a:noFill/>
          <a:ln/>
        </p:spPr>
        <p:txBody>
          <a:bodyPr wrap="square" lIns="0" tIns="0" rIns="0" bIns="0" rtlCol="0" anchor="t"/>
          <a:lstStyle/>
          <a:p>
            <a:pPr algn="ctr" indent="0" marL="0">
              <a:buNone/>
            </a:pPr>
            <a:r>
              <a:rPr lang="en-US" sz="1600" b="1" dirty="0">
                <a:solidFill>
                  <a:srgbClr val="1B2A41"/>
                </a:solidFill>
                <a:latin typeface="Calibri" pitchFamily="34" charset="0"/>
                <a:ea typeface="Calibri" pitchFamily="34" charset="-122"/>
                <a:cs typeface="Calibri" pitchFamily="34" charset="-120"/>
              </a:rPr>
              <a:t>Manuel Blanco</a:t>
            </a:r>
            <a:endParaRPr lang="en-US" sz="1600" dirty="0"/>
          </a:p>
        </p:txBody>
      </p:sp>
      <p:sp>
        <p:nvSpPr>
          <p:cNvPr id="14" name="Text 10"/>
          <p:cNvSpPr txBox="1"/>
          <p:nvPr/>
        </p:nvSpPr>
        <p:spPr>
          <a:xfrm>
            <a:off x="3383280" y="2651760"/>
            <a:ext cx="2331720" cy="320040"/>
          </a:xfrm>
          <a:prstGeom prst="rect">
            <a:avLst/>
          </a:prstGeom>
          <a:noFill/>
          <a:ln/>
        </p:spPr>
        <p:txBody>
          <a:bodyPr wrap="square" lIns="0" tIns="0" rIns="0" bIns="0" rtlCol="0" anchor="t"/>
          <a:lstStyle/>
          <a:p>
            <a:pPr algn="ctr" indent="0" marL="0">
              <a:buNone/>
            </a:pPr>
            <a:r>
              <a:rPr lang="en-US" sz="1200" i="1" dirty="0">
                <a:solidFill>
                  <a:srgbClr val="C28A1B"/>
                </a:solidFill>
                <a:latin typeface="Calibri" pitchFamily="34" charset="0"/>
                <a:ea typeface="Calibri" pitchFamily="34" charset="-122"/>
                <a:cs typeface="Calibri" pitchFamily="34" charset="-120"/>
              </a:rPr>
              <a:t>Funding and investor relations</a:t>
            </a:r>
            <a:endParaRPr lang="en-US" sz="1200" dirty="0"/>
          </a:p>
        </p:txBody>
      </p:sp>
      <p:sp>
        <p:nvSpPr>
          <p:cNvPr id="15" name="Text 11"/>
          <p:cNvSpPr txBox="1"/>
          <p:nvPr/>
        </p:nvSpPr>
        <p:spPr>
          <a:xfrm>
            <a:off x="3474720" y="3108960"/>
            <a:ext cx="2194560" cy="12801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Grants and binational funding</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IBM Research Israel collaboration</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Budget and funder reporting</a:t>
            </a:r>
            <a:endParaRPr lang="en-US" sz="1200" dirty="0"/>
          </a:p>
        </p:txBody>
      </p:sp>
      <p:sp>
        <p:nvSpPr>
          <p:cNvPr id="16" name="Shape 12"/>
          <p:cNvSpPr/>
          <p:nvPr/>
        </p:nvSpPr>
        <p:spPr>
          <a:xfrm>
            <a:off x="6035040" y="1325880"/>
            <a:ext cx="2606040" cy="3200400"/>
          </a:xfrm>
          <a:prstGeom prst="roundRect">
            <a:avLst>
              <a:gd name="adj" fmla="val 2807"/>
            </a:avLst>
          </a:prstGeom>
          <a:solidFill>
            <a:srgbClr val="F2F4F7"/>
          </a:solidFill>
          <a:ln w="12700">
            <a:solidFill>
              <a:srgbClr val="F2F4F7"/>
            </a:solidFill>
            <a:prstDash val="solid"/>
          </a:ln>
        </p:spPr>
      </p:sp>
      <p:sp>
        <p:nvSpPr>
          <p:cNvPr id="17" name="Shape 13"/>
          <p:cNvSpPr/>
          <p:nvPr/>
        </p:nvSpPr>
        <p:spPr>
          <a:xfrm>
            <a:off x="6995160" y="1508760"/>
            <a:ext cx="685800" cy="685800"/>
          </a:xfrm>
          <a:prstGeom prst="ellipse">
            <a:avLst/>
          </a:prstGeom>
          <a:solidFill>
            <a:srgbClr val="6B4FA0"/>
          </a:solidFill>
          <a:ln w="12700">
            <a:solidFill>
              <a:srgbClr val="6B4FA0"/>
            </a:solidFill>
            <a:prstDash val="solid"/>
          </a:ln>
        </p:spPr>
      </p:sp>
      <p:pic>
        <p:nvPicPr>
          <p:cNvPr id="18" name="Image 2" descr="preencoded.png">    </p:cNvPr>
          <p:cNvPicPr>
            <a:picLocks noChangeAspect="1"/>
          </p:cNvPicPr>
          <p:nvPr/>
        </p:nvPicPr>
        <p:blipFill>
          <a:blip r:embed="rId3"/>
          <a:stretch>
            <a:fillRect/>
          </a:stretch>
        </p:blipFill>
        <p:spPr>
          <a:xfrm>
            <a:off x="7159752" y="1673352"/>
            <a:ext cx="356616" cy="356616"/>
          </a:xfrm>
          <a:prstGeom prst="rect">
            <a:avLst/>
          </a:prstGeom>
        </p:spPr>
      </p:pic>
      <p:sp>
        <p:nvSpPr>
          <p:cNvPr id="19" name="Text 14"/>
          <p:cNvSpPr txBox="1"/>
          <p:nvPr/>
        </p:nvSpPr>
        <p:spPr>
          <a:xfrm>
            <a:off x="6172200" y="2286000"/>
            <a:ext cx="2331720" cy="365760"/>
          </a:xfrm>
          <a:prstGeom prst="rect">
            <a:avLst/>
          </a:prstGeom>
          <a:noFill/>
          <a:ln/>
        </p:spPr>
        <p:txBody>
          <a:bodyPr wrap="square" lIns="0" tIns="0" rIns="0" bIns="0" rtlCol="0" anchor="t"/>
          <a:lstStyle/>
          <a:p>
            <a:pPr algn="ctr" indent="0" marL="0">
              <a:buNone/>
            </a:pPr>
            <a:r>
              <a:rPr lang="en-US" sz="1600" b="1" dirty="0">
                <a:solidFill>
                  <a:srgbClr val="1B2A41"/>
                </a:solidFill>
                <a:latin typeface="Calibri" pitchFamily="34" charset="0"/>
                <a:ea typeface="Calibri" pitchFamily="34" charset="-122"/>
                <a:cs typeface="Calibri" pitchFamily="34" charset="-120"/>
              </a:rPr>
              <a:t>Amit Mekel</a:t>
            </a:r>
            <a:endParaRPr lang="en-US" sz="1600" dirty="0"/>
          </a:p>
        </p:txBody>
      </p:sp>
      <p:sp>
        <p:nvSpPr>
          <p:cNvPr id="20" name="Text 15"/>
          <p:cNvSpPr txBox="1"/>
          <p:nvPr/>
        </p:nvSpPr>
        <p:spPr>
          <a:xfrm>
            <a:off x="6172200" y="2651760"/>
            <a:ext cx="2331720" cy="320040"/>
          </a:xfrm>
          <a:prstGeom prst="rect">
            <a:avLst/>
          </a:prstGeom>
          <a:noFill/>
          <a:ln/>
        </p:spPr>
        <p:txBody>
          <a:bodyPr wrap="square" lIns="0" tIns="0" rIns="0" bIns="0" rtlCol="0" anchor="t"/>
          <a:lstStyle/>
          <a:p>
            <a:pPr algn="ctr" indent="0" marL="0">
              <a:buNone/>
            </a:pPr>
            <a:r>
              <a:rPr lang="en-US" sz="1200" i="1" dirty="0">
                <a:solidFill>
                  <a:srgbClr val="6B4FA0"/>
                </a:solidFill>
                <a:latin typeface="Calibri" pitchFamily="34" charset="0"/>
                <a:ea typeface="Calibri" pitchFamily="34" charset="-122"/>
                <a:cs typeface="Calibri" pitchFamily="34" charset="-120"/>
              </a:rPr>
              <a:t>International partnerships</a:t>
            </a:r>
            <a:endParaRPr lang="en-US" sz="1200" dirty="0"/>
          </a:p>
        </p:txBody>
      </p:sp>
      <p:sp>
        <p:nvSpPr>
          <p:cNvPr id="21" name="Text 16"/>
          <p:cNvSpPr txBox="1"/>
          <p:nvPr/>
        </p:nvSpPr>
        <p:spPr>
          <a:xfrm>
            <a:off x="6263640" y="3108960"/>
            <a:ext cx="2194560" cy="12801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Health diplomacy</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Partner hospitals and ministries</a:t>
            </a:r>
            <a:endParaRPr lang="en-US" sz="1200" dirty="0"/>
          </a:p>
          <a:p>
            <a:pPr marL="342900" indent="-3429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Expert-panel sourcing</a:t>
            </a:r>
            <a:endParaRPr lang="en-US" sz="1200" dirty="0"/>
          </a:p>
        </p:txBody>
      </p:sp>
      <p:sp>
        <p:nvSpPr>
          <p:cNvPr id="22" name="Text 17"/>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Manuel Blanco</a:t>
            </a:r>
            <a:endParaRPr lang="en-US" sz="900" dirty="0"/>
          </a:p>
        </p:txBody>
      </p:sp>
      <p:sp>
        <p:nvSpPr>
          <p:cNvPr id="23" name="Text 18"/>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Project timeline: March 2026 to February 2028</a:t>
            </a:r>
            <a:endParaRPr lang="en-US" sz="2800" dirty="0"/>
          </a:p>
        </p:txBody>
      </p:sp>
      <p:pic>
        <p:nvPicPr>
          <p:cNvPr id="3" name="Image 0" descr="gantt_crop.png">    </p:cNvPr>
          <p:cNvPicPr>
            <a:picLocks noChangeAspect="1"/>
          </p:cNvPicPr>
          <p:nvPr/>
        </p:nvPicPr>
        <p:blipFill>
          <a:blip r:embed="rId1"/>
          <a:stretch>
            <a:fillRect/>
          </a:stretch>
        </p:blipFill>
        <p:spPr>
          <a:xfrm>
            <a:off x="1066190" y="896112"/>
            <a:ext cx="7012534" cy="3840480"/>
          </a:xfrm>
          <a:prstGeom prst="rect">
            <a:avLst/>
          </a:prstGeom>
        </p:spPr>
      </p:pic>
      <p:sp>
        <p:nvSpPr>
          <p:cNvPr id="4" name="Text 1"/>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Manuel Blanco</a:t>
            </a:r>
            <a:endParaRPr lang="en-US" sz="900" dirty="0"/>
          </a:p>
        </p:txBody>
      </p:sp>
      <p:sp>
        <p:nvSpPr>
          <p:cNvPr id="5" name="Text 2"/>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Plan walkthrough: where we are today</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Phases 1 to 3A</a:t>
            </a:r>
            <a:endParaRPr lang="en-US" sz="1300" dirty="0"/>
          </a:p>
        </p:txBody>
      </p:sp>
      <p:sp>
        <p:nvSpPr>
          <p:cNvPr id="4" name="Shape 2"/>
          <p:cNvSpPr/>
          <p:nvPr/>
        </p:nvSpPr>
        <p:spPr>
          <a:xfrm>
            <a:off x="457200" y="1325880"/>
            <a:ext cx="8229600" cy="713232"/>
          </a:xfrm>
          <a:prstGeom prst="roundRect">
            <a:avLst>
              <a:gd name="adj" fmla="val 10256"/>
            </a:avLst>
          </a:prstGeom>
          <a:solidFill>
            <a:srgbClr val="F2F4F7"/>
          </a:solidFill>
          <a:ln w="12700">
            <a:solidFill>
              <a:srgbClr val="F2F4F7"/>
            </a:solidFill>
            <a:prstDash val="solid"/>
          </a:ln>
        </p:spPr>
      </p:sp>
      <p:sp>
        <p:nvSpPr>
          <p:cNvPr id="5" name="Shape 3"/>
          <p:cNvSpPr/>
          <p:nvPr/>
        </p:nvSpPr>
        <p:spPr>
          <a:xfrm>
            <a:off x="594360" y="1435608"/>
            <a:ext cx="493776" cy="493776"/>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712866" y="1554114"/>
            <a:ext cx="256764" cy="256764"/>
          </a:xfrm>
          <a:prstGeom prst="rect">
            <a:avLst/>
          </a:prstGeom>
        </p:spPr>
      </p:pic>
      <p:sp>
        <p:nvSpPr>
          <p:cNvPr id="7" name="Text 4"/>
          <p:cNvSpPr txBox="1"/>
          <p:nvPr/>
        </p:nvSpPr>
        <p:spPr>
          <a:xfrm>
            <a:off x="1234440" y="1371600"/>
            <a:ext cx="123444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Phase 1</a:t>
            </a:r>
            <a:endParaRPr lang="en-US" sz="1400" dirty="0"/>
          </a:p>
        </p:txBody>
      </p:sp>
      <p:sp>
        <p:nvSpPr>
          <p:cNvPr id="8" name="Text 5"/>
          <p:cNvSpPr txBox="1"/>
          <p:nvPr/>
        </p:nvSpPr>
        <p:spPr>
          <a:xfrm>
            <a:off x="2468880" y="1371600"/>
            <a:ext cx="3566160" cy="62179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Foundation and literature review</a:t>
            </a:r>
            <a:endParaRPr lang="en-US" sz="1300" dirty="0"/>
          </a:p>
        </p:txBody>
      </p:sp>
      <p:sp>
        <p:nvSpPr>
          <p:cNvPr id="9" name="Text 6"/>
          <p:cNvSpPr txBox="1"/>
          <p:nvPr/>
        </p:nvSpPr>
        <p:spPr>
          <a:xfrm>
            <a:off x="6126480" y="1371600"/>
            <a:ext cx="2423160" cy="621792"/>
          </a:xfrm>
          <a:prstGeom prst="rect">
            <a:avLst/>
          </a:prstGeom>
          <a:noFill/>
          <a:ln/>
        </p:spPr>
        <p:txBody>
          <a:bodyPr wrap="square" lIns="0" tIns="0" rIns="0" bIns="0" rtlCol="0" anchor="ctr"/>
          <a:lstStyle/>
          <a:p>
            <a:pPr indent="0" marL="0">
              <a:buNone/>
            </a:pPr>
            <a:r>
              <a:rPr lang="en-US" sz="1200" b="1" dirty="0">
                <a:solidFill>
                  <a:srgbClr val="2E7D6B"/>
                </a:solidFill>
                <a:latin typeface="Calibri" pitchFamily="34" charset="0"/>
                <a:ea typeface="Calibri" pitchFamily="34" charset="-122"/>
                <a:cs typeface="Calibri" pitchFamily="34" charset="-120"/>
              </a:rPr>
              <a:t>Complete</a:t>
            </a:r>
            <a:endParaRPr lang="en-US" sz="1200" dirty="0"/>
          </a:p>
        </p:txBody>
      </p:sp>
      <p:sp>
        <p:nvSpPr>
          <p:cNvPr id="10" name="Shape 7"/>
          <p:cNvSpPr/>
          <p:nvPr/>
        </p:nvSpPr>
        <p:spPr>
          <a:xfrm>
            <a:off x="457200" y="2148840"/>
            <a:ext cx="8229600" cy="713232"/>
          </a:xfrm>
          <a:prstGeom prst="roundRect">
            <a:avLst>
              <a:gd name="adj" fmla="val 10256"/>
            </a:avLst>
          </a:prstGeom>
          <a:solidFill>
            <a:srgbClr val="F2F4F7"/>
          </a:solidFill>
          <a:ln w="12700">
            <a:solidFill>
              <a:srgbClr val="F2F4F7"/>
            </a:solidFill>
            <a:prstDash val="solid"/>
          </a:ln>
        </p:spPr>
      </p:sp>
      <p:sp>
        <p:nvSpPr>
          <p:cNvPr id="11" name="Shape 8"/>
          <p:cNvSpPr/>
          <p:nvPr/>
        </p:nvSpPr>
        <p:spPr>
          <a:xfrm>
            <a:off x="594360" y="2258568"/>
            <a:ext cx="493776" cy="493776"/>
          </a:xfrm>
          <a:prstGeom prst="ellipse">
            <a:avLst/>
          </a:prstGeom>
          <a:solidFill>
            <a:srgbClr val="2E7D6B"/>
          </a:solidFill>
          <a:ln w="12700">
            <a:solidFill>
              <a:srgbClr val="2E7D6B"/>
            </a:solidFill>
            <a:prstDash val="solid"/>
          </a:ln>
        </p:spPr>
      </p:sp>
      <p:pic>
        <p:nvPicPr>
          <p:cNvPr id="12" name="Image 1" descr="preencoded.png">    </p:cNvPr>
          <p:cNvPicPr>
            <a:picLocks noChangeAspect="1"/>
          </p:cNvPicPr>
          <p:nvPr/>
        </p:nvPicPr>
        <p:blipFill>
          <a:blip r:embed="rId2"/>
          <a:stretch>
            <a:fillRect/>
          </a:stretch>
        </p:blipFill>
        <p:spPr>
          <a:xfrm>
            <a:off x="712866" y="2377074"/>
            <a:ext cx="256764" cy="256764"/>
          </a:xfrm>
          <a:prstGeom prst="rect">
            <a:avLst/>
          </a:prstGeom>
        </p:spPr>
      </p:pic>
      <p:sp>
        <p:nvSpPr>
          <p:cNvPr id="13" name="Text 9"/>
          <p:cNvSpPr txBox="1"/>
          <p:nvPr/>
        </p:nvSpPr>
        <p:spPr>
          <a:xfrm>
            <a:off x="1234440" y="2194560"/>
            <a:ext cx="123444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Phase 2</a:t>
            </a:r>
            <a:endParaRPr lang="en-US" sz="1400" dirty="0"/>
          </a:p>
        </p:txBody>
      </p:sp>
      <p:sp>
        <p:nvSpPr>
          <p:cNvPr id="14" name="Text 10"/>
          <p:cNvSpPr txBox="1"/>
          <p:nvPr/>
        </p:nvSpPr>
        <p:spPr>
          <a:xfrm>
            <a:off x="2468880" y="2194560"/>
            <a:ext cx="3566160" cy="62179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Working prototype deployed</a:t>
            </a:r>
            <a:endParaRPr lang="en-US" sz="1300" dirty="0"/>
          </a:p>
        </p:txBody>
      </p:sp>
      <p:sp>
        <p:nvSpPr>
          <p:cNvPr id="15" name="Text 11"/>
          <p:cNvSpPr txBox="1"/>
          <p:nvPr/>
        </p:nvSpPr>
        <p:spPr>
          <a:xfrm>
            <a:off x="6126480" y="2194560"/>
            <a:ext cx="2423160" cy="621792"/>
          </a:xfrm>
          <a:prstGeom prst="rect">
            <a:avLst/>
          </a:prstGeom>
          <a:noFill/>
          <a:ln/>
        </p:spPr>
        <p:txBody>
          <a:bodyPr wrap="square" lIns="0" tIns="0" rIns="0" bIns="0" rtlCol="0" anchor="ctr"/>
          <a:lstStyle/>
          <a:p>
            <a:pPr indent="0" marL="0">
              <a:buNone/>
            </a:pPr>
            <a:r>
              <a:rPr lang="en-US" sz="1200" b="1" dirty="0">
                <a:solidFill>
                  <a:srgbClr val="2E7D6B"/>
                </a:solidFill>
                <a:latin typeface="Calibri" pitchFamily="34" charset="0"/>
                <a:ea typeface="Calibri" pitchFamily="34" charset="-122"/>
                <a:cs typeface="Calibri" pitchFamily="34" charset="-120"/>
              </a:rPr>
              <a:t>Complete</a:t>
            </a:r>
            <a:endParaRPr lang="en-US" sz="1200" dirty="0"/>
          </a:p>
        </p:txBody>
      </p:sp>
      <p:sp>
        <p:nvSpPr>
          <p:cNvPr id="16" name="Shape 12"/>
          <p:cNvSpPr/>
          <p:nvPr/>
        </p:nvSpPr>
        <p:spPr>
          <a:xfrm>
            <a:off x="457200" y="2971800"/>
            <a:ext cx="8229600" cy="713232"/>
          </a:xfrm>
          <a:prstGeom prst="roundRect">
            <a:avLst>
              <a:gd name="adj" fmla="val 10256"/>
            </a:avLst>
          </a:prstGeom>
          <a:solidFill>
            <a:srgbClr val="F2F4F7"/>
          </a:solidFill>
          <a:ln w="12700">
            <a:solidFill>
              <a:srgbClr val="F2F4F7"/>
            </a:solidFill>
            <a:prstDash val="solid"/>
          </a:ln>
        </p:spPr>
      </p:sp>
      <p:sp>
        <p:nvSpPr>
          <p:cNvPr id="17" name="Shape 13"/>
          <p:cNvSpPr/>
          <p:nvPr/>
        </p:nvSpPr>
        <p:spPr>
          <a:xfrm>
            <a:off x="594360" y="3081528"/>
            <a:ext cx="493776" cy="493776"/>
          </a:xfrm>
          <a:prstGeom prst="ellipse">
            <a:avLst/>
          </a:prstGeom>
          <a:solidFill>
            <a:srgbClr val="B8441F"/>
          </a:solidFill>
          <a:ln w="12700">
            <a:solidFill>
              <a:srgbClr val="B8441F"/>
            </a:solidFill>
            <a:prstDash val="solid"/>
          </a:ln>
        </p:spPr>
      </p:sp>
      <p:pic>
        <p:nvPicPr>
          <p:cNvPr id="18" name="Image 2" descr="preencoded.png">    </p:cNvPr>
          <p:cNvPicPr>
            <a:picLocks noChangeAspect="1"/>
          </p:cNvPicPr>
          <p:nvPr/>
        </p:nvPicPr>
        <p:blipFill>
          <a:blip r:embed="rId3"/>
          <a:stretch>
            <a:fillRect/>
          </a:stretch>
        </p:blipFill>
        <p:spPr>
          <a:xfrm>
            <a:off x="712866" y="3200034"/>
            <a:ext cx="256764" cy="256764"/>
          </a:xfrm>
          <a:prstGeom prst="rect">
            <a:avLst/>
          </a:prstGeom>
        </p:spPr>
      </p:pic>
      <p:sp>
        <p:nvSpPr>
          <p:cNvPr id="19" name="Text 14"/>
          <p:cNvSpPr txBox="1"/>
          <p:nvPr/>
        </p:nvSpPr>
        <p:spPr>
          <a:xfrm>
            <a:off x="1234440" y="3017520"/>
            <a:ext cx="123444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Phase 3A</a:t>
            </a:r>
            <a:endParaRPr lang="en-US" sz="1400" dirty="0"/>
          </a:p>
        </p:txBody>
      </p:sp>
      <p:sp>
        <p:nvSpPr>
          <p:cNvPr id="20" name="Text 15"/>
          <p:cNvSpPr txBox="1"/>
          <p:nvPr/>
        </p:nvSpPr>
        <p:spPr>
          <a:xfrm>
            <a:off x="2468880" y="3017520"/>
            <a:ext cx="3566160" cy="62179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Test the design on a simulator (May to Aug 2026)</a:t>
            </a:r>
            <a:endParaRPr lang="en-US" sz="1300" dirty="0"/>
          </a:p>
        </p:txBody>
      </p:sp>
      <p:sp>
        <p:nvSpPr>
          <p:cNvPr id="21" name="Text 16"/>
          <p:cNvSpPr txBox="1"/>
          <p:nvPr/>
        </p:nvSpPr>
        <p:spPr>
          <a:xfrm>
            <a:off x="6126480" y="3017520"/>
            <a:ext cx="2423160" cy="621792"/>
          </a:xfrm>
          <a:prstGeom prst="rect">
            <a:avLst/>
          </a:prstGeom>
          <a:noFill/>
          <a:ln/>
        </p:spPr>
        <p:txBody>
          <a:bodyPr wrap="square" lIns="0" tIns="0" rIns="0" bIns="0" rtlCol="0" anchor="ctr"/>
          <a:lstStyle/>
          <a:p>
            <a:pPr indent="0" marL="0">
              <a:buNone/>
            </a:pPr>
            <a:r>
              <a:rPr lang="en-US" sz="1200" b="1" dirty="0">
                <a:solidFill>
                  <a:srgbClr val="B8441F"/>
                </a:solidFill>
                <a:latin typeface="Calibri" pitchFamily="34" charset="0"/>
                <a:ea typeface="Calibri" pitchFamily="34" charset="-122"/>
                <a:cs typeface="Calibri" pitchFamily="34" charset="-120"/>
              </a:rPr>
              <a:t>Main run done Aug 4; larger run pending</a:t>
            </a:r>
            <a:endParaRPr lang="en-US" sz="1200" dirty="0"/>
          </a:p>
        </p:txBody>
      </p:sp>
      <p:sp>
        <p:nvSpPr>
          <p:cNvPr id="22" name="Shape 17"/>
          <p:cNvSpPr/>
          <p:nvPr/>
        </p:nvSpPr>
        <p:spPr>
          <a:xfrm>
            <a:off x="457200" y="3794760"/>
            <a:ext cx="8229600" cy="713232"/>
          </a:xfrm>
          <a:prstGeom prst="roundRect">
            <a:avLst>
              <a:gd name="adj" fmla="val 10256"/>
            </a:avLst>
          </a:prstGeom>
          <a:solidFill>
            <a:srgbClr val="F2F4F7"/>
          </a:solidFill>
          <a:ln w="12700">
            <a:solidFill>
              <a:srgbClr val="F2F4F7"/>
            </a:solidFill>
            <a:prstDash val="solid"/>
          </a:ln>
        </p:spPr>
      </p:sp>
      <p:sp>
        <p:nvSpPr>
          <p:cNvPr id="23" name="Shape 18"/>
          <p:cNvSpPr/>
          <p:nvPr/>
        </p:nvSpPr>
        <p:spPr>
          <a:xfrm>
            <a:off x="594360" y="3904488"/>
            <a:ext cx="493776" cy="493776"/>
          </a:xfrm>
          <a:prstGeom prst="ellipse">
            <a:avLst/>
          </a:prstGeom>
          <a:solidFill>
            <a:srgbClr val="1B2A41"/>
          </a:solidFill>
          <a:ln w="12700">
            <a:solidFill>
              <a:srgbClr val="1B2A41"/>
            </a:solidFill>
            <a:prstDash val="solid"/>
          </a:ln>
        </p:spPr>
      </p:sp>
      <p:pic>
        <p:nvPicPr>
          <p:cNvPr id="24" name="Image 3" descr="preencoded.png">    </p:cNvPr>
          <p:cNvPicPr>
            <a:picLocks noChangeAspect="1"/>
          </p:cNvPicPr>
          <p:nvPr/>
        </p:nvPicPr>
        <p:blipFill>
          <a:blip r:embed="rId4"/>
          <a:stretch>
            <a:fillRect/>
          </a:stretch>
        </p:blipFill>
        <p:spPr>
          <a:xfrm>
            <a:off x="712866" y="4022994"/>
            <a:ext cx="256764" cy="256764"/>
          </a:xfrm>
          <a:prstGeom prst="rect">
            <a:avLst/>
          </a:prstGeom>
        </p:spPr>
      </p:pic>
      <p:sp>
        <p:nvSpPr>
          <p:cNvPr id="25" name="Text 19"/>
          <p:cNvSpPr txBox="1"/>
          <p:nvPr/>
        </p:nvSpPr>
        <p:spPr>
          <a:xfrm>
            <a:off x="1234440" y="3840480"/>
            <a:ext cx="1234440" cy="621792"/>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Jul-Aug 2026</a:t>
            </a:r>
            <a:endParaRPr lang="en-US" sz="1400" dirty="0"/>
          </a:p>
        </p:txBody>
      </p:sp>
      <p:sp>
        <p:nvSpPr>
          <p:cNvPr id="26" name="Text 20"/>
          <p:cNvSpPr txBox="1"/>
          <p:nvPr/>
        </p:nvSpPr>
        <p:spPr>
          <a:xfrm>
            <a:off x="2468880" y="3840480"/>
            <a:ext cx="3566160" cy="621792"/>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Small test jobs on 3 real IBM computers: Kingston, Marrakesh, Fez</a:t>
            </a:r>
            <a:endParaRPr lang="en-US" sz="1300" dirty="0"/>
          </a:p>
        </p:txBody>
      </p:sp>
      <p:sp>
        <p:nvSpPr>
          <p:cNvPr id="27" name="Text 21"/>
          <p:cNvSpPr txBox="1"/>
          <p:nvPr/>
        </p:nvSpPr>
        <p:spPr>
          <a:xfrm>
            <a:off x="6126480" y="3840480"/>
            <a:ext cx="2423160" cy="621792"/>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Pipeline proven; not yet medical-grade chemistry</a:t>
            </a:r>
            <a:endParaRPr lang="en-US" sz="1200" dirty="0"/>
          </a:p>
        </p:txBody>
      </p:sp>
      <p:sp>
        <p:nvSpPr>
          <p:cNvPr id="28" name="Text 22"/>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Amit Mekel</a:t>
            </a:r>
            <a:endParaRPr lang="en-US" sz="900" dirty="0"/>
          </a:p>
        </p:txBody>
      </p:sp>
      <p:sp>
        <p:nvSpPr>
          <p:cNvPr id="29" name="Text 23"/>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The hardest phase: 3B on IBM Heron r3</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September to December 2026, contingent on access</a:t>
            </a:r>
            <a:endParaRPr lang="en-US" sz="1300" dirty="0"/>
          </a:p>
        </p:txBody>
      </p:sp>
      <p:sp>
        <p:nvSpPr>
          <p:cNvPr id="4" name="Shape 2"/>
          <p:cNvSpPr/>
          <p:nvPr/>
        </p:nvSpPr>
        <p:spPr>
          <a:xfrm>
            <a:off x="457200" y="1325880"/>
            <a:ext cx="4023360" cy="3200400"/>
          </a:xfrm>
          <a:prstGeom prst="roundRect">
            <a:avLst>
              <a:gd name="adj" fmla="val 2286"/>
            </a:avLst>
          </a:prstGeom>
          <a:solidFill>
            <a:srgbClr val="F2F4F7"/>
          </a:solidFill>
          <a:ln w="12700">
            <a:solidFill>
              <a:srgbClr val="F2F4F7"/>
            </a:solidFill>
            <a:prstDash val="solid"/>
          </a:ln>
        </p:spPr>
      </p:sp>
      <p:sp>
        <p:nvSpPr>
          <p:cNvPr id="5" name="Shape 3"/>
          <p:cNvSpPr/>
          <p:nvPr/>
        </p:nvSpPr>
        <p:spPr>
          <a:xfrm>
            <a:off x="685800" y="1481328"/>
            <a:ext cx="502920" cy="502920"/>
          </a:xfrm>
          <a:prstGeom prst="ellipse">
            <a:avLst/>
          </a:prstGeom>
          <a:solidFill>
            <a:srgbClr val="B8441F"/>
          </a:solidFill>
          <a:ln w="12700">
            <a:solidFill>
              <a:srgbClr val="B8441F"/>
            </a:solidFill>
            <a:prstDash val="solid"/>
          </a:ln>
        </p:spPr>
      </p:sp>
      <p:pic>
        <p:nvPicPr>
          <p:cNvPr id="6" name="Image 0" descr="preencoded.png">    </p:cNvPr>
          <p:cNvPicPr>
            <a:picLocks noChangeAspect="1"/>
          </p:cNvPicPr>
          <p:nvPr/>
        </p:nvPicPr>
        <p:blipFill>
          <a:blip r:embed="rId1"/>
          <a:stretch>
            <a:fillRect/>
          </a:stretch>
        </p:blipFill>
        <p:spPr>
          <a:xfrm>
            <a:off x="806501" y="1602029"/>
            <a:ext cx="261518" cy="261518"/>
          </a:xfrm>
          <a:prstGeom prst="rect">
            <a:avLst/>
          </a:prstGeom>
        </p:spPr>
      </p:pic>
      <p:sp>
        <p:nvSpPr>
          <p:cNvPr id="7" name="Text 4"/>
          <p:cNvSpPr txBox="1"/>
          <p:nvPr/>
        </p:nvSpPr>
        <p:spPr>
          <a:xfrm>
            <a:off x="1325880" y="1481328"/>
            <a:ext cx="3017520" cy="502920"/>
          </a:xfrm>
          <a:prstGeom prst="rect">
            <a:avLst/>
          </a:prstGeom>
          <a:noFill/>
          <a:ln/>
        </p:spPr>
        <p:txBody>
          <a:bodyPr wrap="square" lIns="0" tIns="0" rIns="0" bIns="0" rtlCol="0" anchor="ctr"/>
          <a:lstStyle/>
          <a:p>
            <a:pPr indent="0" marL="0">
              <a:buNone/>
            </a:pPr>
            <a:r>
              <a:rPr lang="en-US" sz="1700" b="1" dirty="0">
                <a:solidFill>
                  <a:srgbClr val="B8441F"/>
                </a:solidFill>
                <a:latin typeface="Calibri" pitchFamily="34" charset="0"/>
                <a:ea typeface="Calibri" pitchFamily="34" charset="-122"/>
                <a:cs typeface="Calibri" pitchFamily="34" charset="-120"/>
              </a:rPr>
              <a:t>Why it is hard</a:t>
            </a:r>
            <a:endParaRPr lang="en-US" sz="1700" dirty="0"/>
          </a:p>
        </p:txBody>
      </p:sp>
      <p:sp>
        <p:nvSpPr>
          <p:cNvPr id="8" name="Text 5"/>
          <p:cNvSpPr txBox="1"/>
          <p:nvPr/>
        </p:nvSpPr>
        <p:spPr>
          <a:xfrm>
            <a:off x="731520" y="2194560"/>
            <a:ext cx="356616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Access depends on IBM: 3 to 6 months</a:t>
            </a:r>
            <a:endParaRPr lang="en-US" sz="1400" dirty="0"/>
          </a:p>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Immature hardware can fail on its own</a:t>
            </a:r>
            <a:endParaRPr lang="en-US" sz="1400" dirty="0"/>
          </a:p>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Each discipline defines success differently</a:t>
            </a:r>
            <a:endParaRPr lang="en-US" sz="1400" dirty="0"/>
          </a:p>
        </p:txBody>
      </p:sp>
      <p:sp>
        <p:nvSpPr>
          <p:cNvPr id="9" name="Shape 6"/>
          <p:cNvSpPr/>
          <p:nvPr/>
        </p:nvSpPr>
        <p:spPr>
          <a:xfrm>
            <a:off x="4663440" y="1325880"/>
            <a:ext cx="4023360" cy="3200400"/>
          </a:xfrm>
          <a:prstGeom prst="roundRect">
            <a:avLst>
              <a:gd name="adj" fmla="val 2286"/>
            </a:avLst>
          </a:prstGeom>
          <a:solidFill>
            <a:srgbClr val="F2F4F7"/>
          </a:solidFill>
          <a:ln w="12700">
            <a:solidFill>
              <a:srgbClr val="F2F4F7"/>
            </a:solidFill>
            <a:prstDash val="solid"/>
          </a:ln>
        </p:spPr>
      </p:sp>
      <p:sp>
        <p:nvSpPr>
          <p:cNvPr id="10" name="Shape 7"/>
          <p:cNvSpPr/>
          <p:nvPr/>
        </p:nvSpPr>
        <p:spPr>
          <a:xfrm>
            <a:off x="4892040" y="1481328"/>
            <a:ext cx="502920" cy="502920"/>
          </a:xfrm>
          <a:prstGeom prst="ellipse">
            <a:avLst/>
          </a:prstGeom>
          <a:solidFill>
            <a:srgbClr val="2E7D6B"/>
          </a:solidFill>
          <a:ln w="12700">
            <a:solidFill>
              <a:srgbClr val="2E7D6B"/>
            </a:solidFill>
            <a:prstDash val="solid"/>
          </a:ln>
        </p:spPr>
      </p:sp>
      <p:pic>
        <p:nvPicPr>
          <p:cNvPr id="11" name="Image 1" descr="preencoded.png">    </p:cNvPr>
          <p:cNvPicPr>
            <a:picLocks noChangeAspect="1"/>
          </p:cNvPicPr>
          <p:nvPr/>
        </p:nvPicPr>
        <p:blipFill>
          <a:blip r:embed="rId2"/>
          <a:stretch>
            <a:fillRect/>
          </a:stretch>
        </p:blipFill>
        <p:spPr>
          <a:xfrm>
            <a:off x="5012741" y="1602029"/>
            <a:ext cx="261518" cy="261518"/>
          </a:xfrm>
          <a:prstGeom prst="rect">
            <a:avLst/>
          </a:prstGeom>
        </p:spPr>
      </p:pic>
      <p:sp>
        <p:nvSpPr>
          <p:cNvPr id="12" name="Text 8"/>
          <p:cNvSpPr txBox="1"/>
          <p:nvPr/>
        </p:nvSpPr>
        <p:spPr>
          <a:xfrm>
            <a:off x="5532120" y="1481328"/>
            <a:ext cx="3017520" cy="502920"/>
          </a:xfrm>
          <a:prstGeom prst="rect">
            <a:avLst/>
          </a:prstGeom>
          <a:noFill/>
          <a:ln/>
        </p:spPr>
        <p:txBody>
          <a:bodyPr wrap="square" lIns="0" tIns="0" rIns="0" bIns="0" rtlCol="0" anchor="ctr"/>
          <a:lstStyle/>
          <a:p>
            <a:pPr indent="0" marL="0">
              <a:buNone/>
            </a:pPr>
            <a:r>
              <a:rPr lang="en-US" sz="1700" b="1" dirty="0">
                <a:solidFill>
                  <a:srgbClr val="2E7D6B"/>
                </a:solidFill>
                <a:latin typeface="Calibri" pitchFamily="34" charset="0"/>
                <a:ea typeface="Calibri" pitchFamily="34" charset="-122"/>
                <a:cs typeface="Calibri" pitchFamily="34" charset="-120"/>
              </a:rPr>
              <a:t>How the plan responds</a:t>
            </a:r>
            <a:endParaRPr lang="en-US" sz="1700" dirty="0"/>
          </a:p>
        </p:txBody>
      </p:sp>
      <p:sp>
        <p:nvSpPr>
          <p:cNvPr id="13" name="Text 9"/>
          <p:cNvSpPr txBox="1"/>
          <p:nvPr/>
        </p:nvSpPr>
        <p:spPr>
          <a:xfrm>
            <a:off x="4937760" y="2194560"/>
            <a:ext cx="356616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Officially contingent: no access by December means future work, not failure</a:t>
            </a:r>
            <a:endParaRPr lang="en-US" sz="1400" dirty="0"/>
          </a:p>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A target goes to hardware only if it fits what we already ran</a:t>
            </a:r>
            <a:endParaRPr lang="en-US" sz="1400" dirty="0"/>
          </a:p>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Success criteria are written before each run</a:t>
            </a:r>
            <a:endParaRPr lang="en-US" sz="1400" dirty="0"/>
          </a:p>
        </p:txBody>
      </p:sp>
      <p:sp>
        <p:nvSpPr>
          <p:cNvPr id="14" name="Text 10"/>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Amit Mekel</a:t>
            </a:r>
            <a:endParaRPr lang="en-US" sz="900" dirty="0"/>
          </a:p>
        </p:txBody>
      </p:sp>
      <p:sp>
        <p:nvSpPr>
          <p:cNvPr id="15" name="Text 1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Phase 4: independent evaluation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January to April 2027, criteria frozen in advance on the Open Science Framework</a:t>
            </a:r>
            <a:endParaRPr lang="en-US" sz="1300" dirty="0"/>
          </a:p>
        </p:txBody>
      </p:sp>
      <p:sp>
        <p:nvSpPr>
          <p:cNvPr id="4" name="Shape 2"/>
          <p:cNvSpPr/>
          <p:nvPr/>
        </p:nvSpPr>
        <p:spPr>
          <a:xfrm>
            <a:off x="804672" y="1417320"/>
            <a:ext cx="566928" cy="566928"/>
          </a:xfrm>
          <a:prstGeom prst="ellipse">
            <a:avLst/>
          </a:prstGeom>
          <a:solidFill>
            <a:srgbClr val="1B2A41"/>
          </a:solidFill>
          <a:ln w="12700">
            <a:solidFill>
              <a:srgbClr val="1B2A41"/>
            </a:solidFill>
            <a:prstDash val="solid"/>
          </a:ln>
        </p:spPr>
      </p:sp>
      <p:sp>
        <p:nvSpPr>
          <p:cNvPr id="5" name="Text 3"/>
          <p:cNvSpPr txBox="1"/>
          <p:nvPr/>
        </p:nvSpPr>
        <p:spPr>
          <a:xfrm>
            <a:off x="804672"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a:t>
            </a:r>
            <a:endParaRPr lang="en-US" sz="1500" dirty="0"/>
          </a:p>
        </p:txBody>
      </p:sp>
      <p:sp>
        <p:nvSpPr>
          <p:cNvPr id="6" name="Shape 4"/>
          <p:cNvSpPr/>
          <p:nvPr/>
        </p:nvSpPr>
        <p:spPr>
          <a:xfrm>
            <a:off x="1417320" y="1700784"/>
            <a:ext cx="384048" cy="0"/>
          </a:xfrm>
          <a:prstGeom prst="line">
            <a:avLst/>
          </a:prstGeom>
          <a:noFill/>
          <a:ln w="19050">
            <a:solidFill>
              <a:srgbClr val="5A6B7E"/>
            </a:solidFill>
            <a:prstDash val="solid"/>
            <a:tailEnd type="triangle"/>
          </a:ln>
        </p:spPr>
      </p:sp>
      <p:sp>
        <p:nvSpPr>
          <p:cNvPr id="7" name="Text 5"/>
          <p:cNvSpPr txBox="1"/>
          <p:nvPr/>
        </p:nvSpPr>
        <p:spPr>
          <a:xfrm>
            <a:off x="457200" y="2103120"/>
            <a:ext cx="1261872" cy="640080"/>
          </a:xfrm>
          <a:prstGeom prst="rect">
            <a:avLst/>
          </a:prstGeom>
          <a:noFill/>
          <a:ln/>
        </p:spPr>
        <p:txBody>
          <a:bodyPr wrap="square" lIns="0" tIns="0" rIns="0" bIns="0" rtlCol="0" anchor="t"/>
          <a:lstStyle/>
          <a:p>
            <a:pPr algn="ctr" indent="0" marL="0">
              <a:buNone/>
            </a:pPr>
            <a:r>
              <a:rPr lang="en-US" sz="1200" b="1" dirty="0">
                <a:solidFill>
                  <a:srgbClr val="1B2A41"/>
                </a:solidFill>
                <a:latin typeface="Calibri" pitchFamily="34" charset="0"/>
                <a:ea typeface="Calibri" pitchFamily="34" charset="-122"/>
                <a:cs typeface="Calibri" pitchFamily="34" charset="-120"/>
              </a:rPr>
              <a:t>Technical test harness</a:t>
            </a:r>
            <a:endParaRPr lang="en-US" sz="1200" dirty="0"/>
          </a:p>
        </p:txBody>
      </p:sp>
      <p:sp>
        <p:nvSpPr>
          <p:cNvPr id="8" name="Text 6"/>
          <p:cNvSpPr txBox="1"/>
          <p:nvPr/>
        </p:nvSpPr>
        <p:spPr>
          <a:xfrm>
            <a:off x="457200" y="2743200"/>
            <a:ext cx="1261872" cy="27432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4 wk</a:t>
            </a:r>
            <a:endParaRPr lang="en-US" sz="1100" dirty="0"/>
          </a:p>
        </p:txBody>
      </p:sp>
      <p:sp>
        <p:nvSpPr>
          <p:cNvPr id="9" name="Shape 7"/>
          <p:cNvSpPr/>
          <p:nvPr/>
        </p:nvSpPr>
        <p:spPr>
          <a:xfrm>
            <a:off x="2194560" y="1417320"/>
            <a:ext cx="566928" cy="566928"/>
          </a:xfrm>
          <a:prstGeom prst="ellipse">
            <a:avLst/>
          </a:prstGeom>
          <a:solidFill>
            <a:srgbClr val="1B2A41"/>
          </a:solidFill>
          <a:ln w="12700">
            <a:solidFill>
              <a:srgbClr val="1B2A41"/>
            </a:solidFill>
            <a:prstDash val="solid"/>
          </a:ln>
        </p:spPr>
      </p:sp>
      <p:sp>
        <p:nvSpPr>
          <p:cNvPr id="10" name="Text 8"/>
          <p:cNvSpPr txBox="1"/>
          <p:nvPr/>
        </p:nvSpPr>
        <p:spPr>
          <a:xfrm>
            <a:off x="2194560"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4B</a:t>
            </a:r>
            <a:endParaRPr lang="en-US" sz="1500" dirty="0"/>
          </a:p>
        </p:txBody>
      </p:sp>
      <p:sp>
        <p:nvSpPr>
          <p:cNvPr id="11" name="Shape 9"/>
          <p:cNvSpPr/>
          <p:nvPr/>
        </p:nvSpPr>
        <p:spPr>
          <a:xfrm>
            <a:off x="2807208" y="1700784"/>
            <a:ext cx="384048" cy="0"/>
          </a:xfrm>
          <a:prstGeom prst="line">
            <a:avLst/>
          </a:prstGeom>
          <a:noFill/>
          <a:ln w="19050">
            <a:solidFill>
              <a:srgbClr val="5A6B7E"/>
            </a:solidFill>
            <a:prstDash val="solid"/>
            <a:tailEnd type="triangle"/>
          </a:ln>
        </p:spPr>
      </p:sp>
      <p:sp>
        <p:nvSpPr>
          <p:cNvPr id="12" name="Text 10"/>
          <p:cNvSpPr txBox="1"/>
          <p:nvPr/>
        </p:nvSpPr>
        <p:spPr>
          <a:xfrm>
            <a:off x="1847088" y="2103120"/>
            <a:ext cx="1261872" cy="640080"/>
          </a:xfrm>
          <a:prstGeom prst="rect">
            <a:avLst/>
          </a:prstGeom>
          <a:noFill/>
          <a:ln/>
        </p:spPr>
        <p:txBody>
          <a:bodyPr wrap="square" lIns="0" tIns="0" rIns="0" bIns="0" rtlCol="0" anchor="t"/>
          <a:lstStyle/>
          <a:p>
            <a:pPr algn="ctr" indent="0" marL="0">
              <a:buNone/>
            </a:pPr>
            <a:r>
              <a:rPr lang="en-US" sz="1200" b="1" dirty="0">
                <a:solidFill>
                  <a:srgbClr val="1B2A41"/>
                </a:solidFill>
                <a:latin typeface="Calibri" pitchFamily="34" charset="0"/>
                <a:ea typeface="Calibri" pitchFamily="34" charset="-122"/>
                <a:cs typeface="Calibri" pitchFamily="34" charset="-120"/>
              </a:rPr>
              <a:t>Comparative benchmarks</a:t>
            </a:r>
            <a:endParaRPr lang="en-US" sz="1200" dirty="0"/>
          </a:p>
        </p:txBody>
      </p:sp>
      <p:sp>
        <p:nvSpPr>
          <p:cNvPr id="13" name="Text 11"/>
          <p:cNvSpPr txBox="1"/>
          <p:nvPr/>
        </p:nvSpPr>
        <p:spPr>
          <a:xfrm>
            <a:off x="1847088" y="2743200"/>
            <a:ext cx="1261872" cy="27432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3 wk</a:t>
            </a:r>
            <a:endParaRPr lang="en-US" sz="1100" dirty="0"/>
          </a:p>
        </p:txBody>
      </p:sp>
      <p:sp>
        <p:nvSpPr>
          <p:cNvPr id="14" name="Shape 12"/>
          <p:cNvSpPr/>
          <p:nvPr/>
        </p:nvSpPr>
        <p:spPr>
          <a:xfrm>
            <a:off x="3584448" y="1417320"/>
            <a:ext cx="566928" cy="566928"/>
          </a:xfrm>
          <a:prstGeom prst="ellipse">
            <a:avLst/>
          </a:prstGeom>
          <a:solidFill>
            <a:srgbClr val="6B4FA0"/>
          </a:solidFill>
          <a:ln w="12700">
            <a:solidFill>
              <a:srgbClr val="6B4FA0"/>
            </a:solidFill>
            <a:prstDash val="solid"/>
          </a:ln>
        </p:spPr>
      </p:sp>
      <p:sp>
        <p:nvSpPr>
          <p:cNvPr id="15" name="Text 13"/>
          <p:cNvSpPr txBox="1"/>
          <p:nvPr/>
        </p:nvSpPr>
        <p:spPr>
          <a:xfrm>
            <a:off x="3584448"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4C</a:t>
            </a:r>
            <a:endParaRPr lang="en-US" sz="1500" dirty="0"/>
          </a:p>
        </p:txBody>
      </p:sp>
      <p:sp>
        <p:nvSpPr>
          <p:cNvPr id="16" name="Shape 14"/>
          <p:cNvSpPr/>
          <p:nvPr/>
        </p:nvSpPr>
        <p:spPr>
          <a:xfrm>
            <a:off x="4197096" y="1700784"/>
            <a:ext cx="384048" cy="0"/>
          </a:xfrm>
          <a:prstGeom prst="line">
            <a:avLst/>
          </a:prstGeom>
          <a:noFill/>
          <a:ln w="19050">
            <a:solidFill>
              <a:srgbClr val="5A6B7E"/>
            </a:solidFill>
            <a:prstDash val="solid"/>
            <a:tailEnd type="triangle"/>
          </a:ln>
        </p:spPr>
      </p:sp>
      <p:sp>
        <p:nvSpPr>
          <p:cNvPr id="17" name="Text 15"/>
          <p:cNvSpPr txBox="1"/>
          <p:nvPr/>
        </p:nvSpPr>
        <p:spPr>
          <a:xfrm>
            <a:off x="3236976" y="2103120"/>
            <a:ext cx="1261872" cy="640080"/>
          </a:xfrm>
          <a:prstGeom prst="rect">
            <a:avLst/>
          </a:prstGeom>
          <a:noFill/>
          <a:ln/>
        </p:spPr>
        <p:txBody>
          <a:bodyPr wrap="square" lIns="0" tIns="0" rIns="0" bIns="0" rtlCol="0" anchor="t"/>
          <a:lstStyle/>
          <a:p>
            <a:pPr algn="ctr" indent="0" marL="0">
              <a:buNone/>
            </a:pPr>
            <a:r>
              <a:rPr lang="en-US" sz="1200" b="1" dirty="0">
                <a:solidFill>
                  <a:srgbClr val="1B2A41"/>
                </a:solidFill>
                <a:latin typeface="Calibri" pitchFamily="34" charset="0"/>
                <a:ea typeface="Calibri" pitchFamily="34" charset="-122"/>
                <a:cs typeface="Calibri" pitchFamily="34" charset="-120"/>
              </a:rPr>
              <a:t>Recruit 4 to 6 experts</a:t>
            </a:r>
            <a:endParaRPr lang="en-US" sz="1200" dirty="0"/>
          </a:p>
        </p:txBody>
      </p:sp>
      <p:sp>
        <p:nvSpPr>
          <p:cNvPr id="18" name="Text 16"/>
          <p:cNvSpPr txBox="1"/>
          <p:nvPr/>
        </p:nvSpPr>
        <p:spPr>
          <a:xfrm>
            <a:off x="3236976" y="2743200"/>
            <a:ext cx="1261872" cy="27432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3 wk</a:t>
            </a:r>
            <a:endParaRPr lang="en-US" sz="1100" dirty="0"/>
          </a:p>
        </p:txBody>
      </p:sp>
      <p:sp>
        <p:nvSpPr>
          <p:cNvPr id="19" name="Shape 17"/>
          <p:cNvSpPr/>
          <p:nvPr/>
        </p:nvSpPr>
        <p:spPr>
          <a:xfrm>
            <a:off x="4974336" y="1417320"/>
            <a:ext cx="566928" cy="566928"/>
          </a:xfrm>
          <a:prstGeom prst="ellipse">
            <a:avLst/>
          </a:prstGeom>
          <a:solidFill>
            <a:srgbClr val="1B2A41"/>
          </a:solidFill>
          <a:ln w="12700">
            <a:solidFill>
              <a:srgbClr val="1B2A41"/>
            </a:solidFill>
            <a:prstDash val="solid"/>
          </a:ln>
        </p:spPr>
      </p:sp>
      <p:sp>
        <p:nvSpPr>
          <p:cNvPr id="20" name="Text 18"/>
          <p:cNvSpPr txBox="1"/>
          <p:nvPr/>
        </p:nvSpPr>
        <p:spPr>
          <a:xfrm>
            <a:off x="4974336"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4D</a:t>
            </a:r>
            <a:endParaRPr lang="en-US" sz="1500" dirty="0"/>
          </a:p>
        </p:txBody>
      </p:sp>
      <p:sp>
        <p:nvSpPr>
          <p:cNvPr id="21" name="Shape 19"/>
          <p:cNvSpPr/>
          <p:nvPr/>
        </p:nvSpPr>
        <p:spPr>
          <a:xfrm>
            <a:off x="5586984" y="1700784"/>
            <a:ext cx="384048" cy="0"/>
          </a:xfrm>
          <a:prstGeom prst="line">
            <a:avLst/>
          </a:prstGeom>
          <a:noFill/>
          <a:ln w="19050">
            <a:solidFill>
              <a:srgbClr val="5A6B7E"/>
            </a:solidFill>
            <a:prstDash val="solid"/>
            <a:tailEnd type="triangle"/>
          </a:ln>
        </p:spPr>
      </p:sp>
      <p:sp>
        <p:nvSpPr>
          <p:cNvPr id="22" name="Text 20"/>
          <p:cNvSpPr txBox="1"/>
          <p:nvPr/>
        </p:nvSpPr>
        <p:spPr>
          <a:xfrm>
            <a:off x="4626864" y="2103120"/>
            <a:ext cx="1261872" cy="640080"/>
          </a:xfrm>
          <a:prstGeom prst="rect">
            <a:avLst/>
          </a:prstGeom>
          <a:noFill/>
          <a:ln/>
        </p:spPr>
        <p:txBody>
          <a:bodyPr wrap="square" lIns="0" tIns="0" rIns="0" bIns="0" rtlCol="0" anchor="t"/>
          <a:lstStyle/>
          <a:p>
            <a:pPr algn="ctr" indent="0" marL="0">
              <a:buNone/>
            </a:pPr>
            <a:r>
              <a:rPr lang="en-US" sz="1200" b="1" dirty="0">
                <a:solidFill>
                  <a:srgbClr val="1B2A41"/>
                </a:solidFill>
                <a:latin typeface="Calibri" pitchFamily="34" charset="0"/>
                <a:ea typeface="Calibri" pitchFamily="34" charset="-122"/>
                <a:cs typeface="Calibri" pitchFamily="34" charset="-120"/>
              </a:rPr>
              <a:t>Two rounds of panel sessions</a:t>
            </a:r>
            <a:endParaRPr lang="en-US" sz="1200" dirty="0"/>
          </a:p>
        </p:txBody>
      </p:sp>
      <p:sp>
        <p:nvSpPr>
          <p:cNvPr id="23" name="Text 21"/>
          <p:cNvSpPr txBox="1"/>
          <p:nvPr/>
        </p:nvSpPr>
        <p:spPr>
          <a:xfrm>
            <a:off x="4626864" y="2743200"/>
            <a:ext cx="1261872" cy="27432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4 wk</a:t>
            </a:r>
            <a:endParaRPr lang="en-US" sz="1100" dirty="0"/>
          </a:p>
        </p:txBody>
      </p:sp>
      <p:sp>
        <p:nvSpPr>
          <p:cNvPr id="24" name="Shape 22"/>
          <p:cNvSpPr/>
          <p:nvPr/>
        </p:nvSpPr>
        <p:spPr>
          <a:xfrm>
            <a:off x="6364224" y="1417320"/>
            <a:ext cx="566928" cy="566928"/>
          </a:xfrm>
          <a:prstGeom prst="ellipse">
            <a:avLst/>
          </a:prstGeom>
          <a:solidFill>
            <a:srgbClr val="1B2A41"/>
          </a:solidFill>
          <a:ln w="12700">
            <a:solidFill>
              <a:srgbClr val="1B2A41"/>
            </a:solidFill>
            <a:prstDash val="solid"/>
          </a:ln>
        </p:spPr>
      </p:sp>
      <p:sp>
        <p:nvSpPr>
          <p:cNvPr id="25" name="Text 23"/>
          <p:cNvSpPr txBox="1"/>
          <p:nvPr/>
        </p:nvSpPr>
        <p:spPr>
          <a:xfrm>
            <a:off x="6364224"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4E</a:t>
            </a:r>
            <a:endParaRPr lang="en-US" sz="1500" dirty="0"/>
          </a:p>
        </p:txBody>
      </p:sp>
      <p:sp>
        <p:nvSpPr>
          <p:cNvPr id="26" name="Shape 24"/>
          <p:cNvSpPr/>
          <p:nvPr/>
        </p:nvSpPr>
        <p:spPr>
          <a:xfrm>
            <a:off x="6976872" y="1700784"/>
            <a:ext cx="384048" cy="0"/>
          </a:xfrm>
          <a:prstGeom prst="line">
            <a:avLst/>
          </a:prstGeom>
          <a:noFill/>
          <a:ln w="19050">
            <a:solidFill>
              <a:srgbClr val="5A6B7E"/>
            </a:solidFill>
            <a:prstDash val="solid"/>
            <a:tailEnd type="triangle"/>
          </a:ln>
        </p:spPr>
      </p:sp>
      <p:sp>
        <p:nvSpPr>
          <p:cNvPr id="27" name="Text 25"/>
          <p:cNvSpPr txBox="1"/>
          <p:nvPr/>
        </p:nvSpPr>
        <p:spPr>
          <a:xfrm>
            <a:off x="6016752" y="2103120"/>
            <a:ext cx="1261872" cy="640080"/>
          </a:xfrm>
          <a:prstGeom prst="rect">
            <a:avLst/>
          </a:prstGeom>
          <a:noFill/>
          <a:ln/>
        </p:spPr>
        <p:txBody>
          <a:bodyPr wrap="square" lIns="0" tIns="0" rIns="0" bIns="0" rtlCol="0" anchor="t"/>
          <a:lstStyle/>
          <a:p>
            <a:pPr algn="ctr" indent="0" marL="0">
              <a:buNone/>
            </a:pPr>
            <a:r>
              <a:rPr lang="en-US" sz="1200" b="1" dirty="0">
                <a:solidFill>
                  <a:srgbClr val="1B2A41"/>
                </a:solidFill>
                <a:latin typeface="Calibri" pitchFamily="34" charset="0"/>
                <a:ea typeface="Calibri" pitchFamily="34" charset="-122"/>
                <a:cs typeface="Calibri" pitchFamily="34" charset="-120"/>
              </a:rPr>
              <a:t>Real case walkthroughs</a:t>
            </a:r>
            <a:endParaRPr lang="en-US" sz="1200" dirty="0"/>
          </a:p>
        </p:txBody>
      </p:sp>
      <p:sp>
        <p:nvSpPr>
          <p:cNvPr id="28" name="Text 26"/>
          <p:cNvSpPr txBox="1"/>
          <p:nvPr/>
        </p:nvSpPr>
        <p:spPr>
          <a:xfrm>
            <a:off x="6016752" y="2743200"/>
            <a:ext cx="1261872" cy="27432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2 wk</a:t>
            </a:r>
            <a:endParaRPr lang="en-US" sz="1100" dirty="0"/>
          </a:p>
        </p:txBody>
      </p:sp>
      <p:sp>
        <p:nvSpPr>
          <p:cNvPr id="29" name="Shape 27"/>
          <p:cNvSpPr/>
          <p:nvPr/>
        </p:nvSpPr>
        <p:spPr>
          <a:xfrm>
            <a:off x="7754112" y="1417320"/>
            <a:ext cx="566928" cy="566928"/>
          </a:xfrm>
          <a:prstGeom prst="ellipse">
            <a:avLst/>
          </a:prstGeom>
          <a:solidFill>
            <a:srgbClr val="1B2A41"/>
          </a:solidFill>
          <a:ln w="12700">
            <a:solidFill>
              <a:srgbClr val="1B2A41"/>
            </a:solidFill>
            <a:prstDash val="solid"/>
          </a:ln>
        </p:spPr>
      </p:sp>
      <p:sp>
        <p:nvSpPr>
          <p:cNvPr id="30" name="Text 28"/>
          <p:cNvSpPr txBox="1"/>
          <p:nvPr/>
        </p:nvSpPr>
        <p:spPr>
          <a:xfrm>
            <a:off x="7754112" y="1417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4F</a:t>
            </a:r>
            <a:endParaRPr lang="en-US" sz="1500" dirty="0"/>
          </a:p>
        </p:txBody>
      </p:sp>
      <p:sp>
        <p:nvSpPr>
          <p:cNvPr id="31" name="Text 29"/>
          <p:cNvSpPr txBox="1"/>
          <p:nvPr/>
        </p:nvSpPr>
        <p:spPr>
          <a:xfrm>
            <a:off x="7406640" y="2103120"/>
            <a:ext cx="1261872" cy="640080"/>
          </a:xfrm>
          <a:prstGeom prst="rect">
            <a:avLst/>
          </a:prstGeom>
          <a:noFill/>
          <a:ln/>
        </p:spPr>
        <p:txBody>
          <a:bodyPr wrap="square" lIns="0" tIns="0" rIns="0" bIns="0" rtlCol="0" anchor="t"/>
          <a:lstStyle/>
          <a:p>
            <a:pPr algn="ctr" indent="0" marL="0">
              <a:buNone/>
            </a:pPr>
            <a:r>
              <a:rPr lang="en-US" sz="1200" b="1" dirty="0">
                <a:solidFill>
                  <a:srgbClr val="1B2A41"/>
                </a:solidFill>
                <a:latin typeface="Calibri" pitchFamily="34" charset="0"/>
                <a:ea typeface="Calibri" pitchFamily="34" charset="-122"/>
                <a:cs typeface="Calibri" pitchFamily="34" charset="-120"/>
              </a:rPr>
              <a:t>Triangulation and report</a:t>
            </a:r>
            <a:endParaRPr lang="en-US" sz="1200" dirty="0"/>
          </a:p>
        </p:txBody>
      </p:sp>
      <p:sp>
        <p:nvSpPr>
          <p:cNvPr id="32" name="Text 30"/>
          <p:cNvSpPr txBox="1"/>
          <p:nvPr/>
        </p:nvSpPr>
        <p:spPr>
          <a:xfrm>
            <a:off x="7406640" y="2743200"/>
            <a:ext cx="1261872" cy="274320"/>
          </a:xfrm>
          <a:prstGeom prst="rect">
            <a:avLst/>
          </a:prstGeom>
          <a:noFill/>
          <a:ln/>
        </p:spPr>
        <p:txBody>
          <a:bodyPr wrap="square" lIns="0" tIns="0" rIns="0" bIns="0" rtlCol="0" anchor="t"/>
          <a:lstStyle/>
          <a:p>
            <a:pPr algn="ctr" indent="0" marL="0">
              <a:buNone/>
            </a:pPr>
            <a:r>
              <a:rPr lang="en-US" sz="1100" dirty="0">
                <a:solidFill>
                  <a:srgbClr val="6B7785"/>
                </a:solidFill>
                <a:latin typeface="Calibri" pitchFamily="34" charset="0"/>
                <a:ea typeface="Calibri" pitchFamily="34" charset="-122"/>
                <a:cs typeface="Calibri" pitchFamily="34" charset="-120"/>
              </a:rPr>
              <a:t>3 wk</a:t>
            </a:r>
            <a:endParaRPr lang="en-US" sz="1100" dirty="0"/>
          </a:p>
        </p:txBody>
      </p:sp>
      <p:sp>
        <p:nvSpPr>
          <p:cNvPr id="33" name="Shape 31"/>
          <p:cNvSpPr/>
          <p:nvPr/>
        </p:nvSpPr>
        <p:spPr>
          <a:xfrm>
            <a:off x="457200" y="3291840"/>
            <a:ext cx="8229600" cy="1234440"/>
          </a:xfrm>
          <a:prstGeom prst="roundRect">
            <a:avLst>
              <a:gd name="adj" fmla="val 5926"/>
            </a:avLst>
          </a:prstGeom>
          <a:solidFill>
            <a:srgbClr val="F2F4F7"/>
          </a:solidFill>
          <a:ln w="12700">
            <a:solidFill>
              <a:srgbClr val="F2F4F7"/>
            </a:solidFill>
            <a:prstDash val="solid"/>
          </a:ln>
        </p:spPr>
      </p:sp>
      <p:sp>
        <p:nvSpPr>
          <p:cNvPr id="34" name="Shape 32"/>
          <p:cNvSpPr/>
          <p:nvPr/>
        </p:nvSpPr>
        <p:spPr>
          <a:xfrm>
            <a:off x="685800" y="3520440"/>
            <a:ext cx="731520" cy="731520"/>
          </a:xfrm>
          <a:prstGeom prst="ellipse">
            <a:avLst/>
          </a:prstGeom>
          <a:solidFill>
            <a:srgbClr val="6B4FA0"/>
          </a:solidFill>
          <a:ln w="12700">
            <a:solidFill>
              <a:srgbClr val="6B4FA0"/>
            </a:solidFill>
            <a:prstDash val="solid"/>
          </a:ln>
        </p:spPr>
      </p:sp>
      <p:pic>
        <p:nvPicPr>
          <p:cNvPr id="35" name="Image 0" descr="preencoded.png">    </p:cNvPr>
          <p:cNvPicPr>
            <a:picLocks noChangeAspect="1"/>
          </p:cNvPicPr>
          <p:nvPr/>
        </p:nvPicPr>
        <p:blipFill>
          <a:blip r:embed="rId1"/>
          <a:stretch>
            <a:fillRect/>
          </a:stretch>
        </p:blipFill>
        <p:spPr>
          <a:xfrm>
            <a:off x="861365" y="3696005"/>
            <a:ext cx="380390" cy="380390"/>
          </a:xfrm>
          <a:prstGeom prst="rect">
            <a:avLst/>
          </a:prstGeom>
        </p:spPr>
      </p:pic>
      <p:sp>
        <p:nvSpPr>
          <p:cNvPr id="36" name="Text 33"/>
          <p:cNvSpPr txBox="1"/>
          <p:nvPr/>
        </p:nvSpPr>
        <p:spPr>
          <a:xfrm>
            <a:off x="1645920" y="3383280"/>
            <a:ext cx="6812280" cy="10515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hardest step here is 4C: finding experts from several fields in three weeks. Our international partner network supports this recruitment.</a:t>
            </a:r>
            <a:endParaRPr lang="en-US" sz="1400" dirty="0"/>
          </a:p>
        </p:txBody>
      </p:sp>
      <p:sp>
        <p:nvSpPr>
          <p:cNvPr id="37" name="Text 34"/>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Amit Mekel</a:t>
            </a:r>
            <a:endParaRPr lang="en-US" sz="900" dirty="0"/>
          </a:p>
        </p:txBody>
      </p:sp>
      <p:sp>
        <p:nvSpPr>
          <p:cNvPr id="38" name="Text 35"/>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Management tracks next to the research</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People, money, and partnerships run in parallel with the science</a:t>
            </a:r>
            <a:endParaRPr lang="en-US" sz="1300" dirty="0"/>
          </a:p>
        </p:txBody>
      </p:sp>
      <p:sp>
        <p:nvSpPr>
          <p:cNvPr id="4" name="Shape 2"/>
          <p:cNvSpPr/>
          <p:nvPr/>
        </p:nvSpPr>
        <p:spPr>
          <a:xfrm>
            <a:off x="457200" y="1325880"/>
            <a:ext cx="8229600" cy="960120"/>
          </a:xfrm>
          <a:prstGeom prst="roundRect">
            <a:avLst>
              <a:gd name="adj" fmla="val 7619"/>
            </a:avLst>
          </a:prstGeom>
          <a:solidFill>
            <a:srgbClr val="F2F4F7"/>
          </a:solidFill>
          <a:ln w="12700">
            <a:solidFill>
              <a:srgbClr val="F2F4F7"/>
            </a:solidFill>
            <a:prstDash val="solid"/>
          </a:ln>
        </p:spPr>
      </p:sp>
      <p:sp>
        <p:nvSpPr>
          <p:cNvPr id="5" name="Shape 3"/>
          <p:cNvSpPr/>
          <p:nvPr/>
        </p:nvSpPr>
        <p:spPr>
          <a:xfrm>
            <a:off x="640080" y="1508760"/>
            <a:ext cx="594360" cy="59436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782726" y="1651406"/>
            <a:ext cx="309067" cy="309067"/>
          </a:xfrm>
          <a:prstGeom prst="rect">
            <a:avLst/>
          </a:prstGeom>
        </p:spPr>
      </p:pic>
      <p:sp>
        <p:nvSpPr>
          <p:cNvPr id="7" name="Text 4"/>
          <p:cNvSpPr txBox="1"/>
          <p:nvPr/>
        </p:nvSpPr>
        <p:spPr>
          <a:xfrm>
            <a:off x="1463040" y="1417320"/>
            <a:ext cx="2103120" cy="777240"/>
          </a:xfrm>
          <a:prstGeom prst="rect">
            <a:avLst/>
          </a:prstGeom>
          <a:noFill/>
          <a:ln/>
        </p:spPr>
        <p:txBody>
          <a:bodyPr wrap="square" lIns="0" tIns="0" rIns="0" bIns="0" rtlCol="0" anchor="ctr"/>
          <a:lstStyle/>
          <a:p>
            <a:pPr indent="0" marL="0">
              <a:buNone/>
            </a:pPr>
            <a:r>
              <a:rPr lang="en-US" sz="1600" b="1" dirty="0">
                <a:solidFill>
                  <a:srgbClr val="2E7D6B"/>
                </a:solidFill>
                <a:latin typeface="Calibri" pitchFamily="34" charset="0"/>
                <a:ea typeface="Calibri" pitchFamily="34" charset="-122"/>
                <a:cs typeface="Calibri" pitchFamily="34" charset="-120"/>
              </a:rPr>
              <a:t>Quarterly re-plan</a:t>
            </a:r>
            <a:endParaRPr lang="en-US" sz="1600" dirty="0"/>
          </a:p>
        </p:txBody>
      </p:sp>
      <p:sp>
        <p:nvSpPr>
          <p:cNvPr id="8" name="Text 5"/>
          <p:cNvSpPr txBox="1"/>
          <p:nvPr/>
        </p:nvSpPr>
        <p:spPr>
          <a:xfrm>
            <a:off x="3566160" y="1417320"/>
            <a:ext cx="3931920" cy="77724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Every quarter, the plan is updated from what we actually achieved, never from vendor promises.</a:t>
            </a:r>
            <a:endParaRPr lang="en-US" sz="1250" dirty="0"/>
          </a:p>
        </p:txBody>
      </p:sp>
      <p:sp>
        <p:nvSpPr>
          <p:cNvPr id="9" name="Text 6"/>
          <p:cNvSpPr txBox="1"/>
          <p:nvPr/>
        </p:nvSpPr>
        <p:spPr>
          <a:xfrm>
            <a:off x="7498080" y="1417320"/>
            <a:ext cx="1051560" cy="777240"/>
          </a:xfrm>
          <a:prstGeom prst="rect">
            <a:avLst/>
          </a:prstGeom>
          <a:noFill/>
          <a:ln/>
        </p:spPr>
        <p:txBody>
          <a:bodyPr wrap="square" lIns="0" tIns="0" rIns="0" bIns="0" rtlCol="0" anchor="ctr"/>
          <a:lstStyle/>
          <a:p>
            <a:pPr algn="r" indent="0" marL="0">
              <a:buNone/>
            </a:pPr>
            <a:r>
              <a:rPr lang="en-US" sz="1200" b="1" dirty="0">
                <a:solidFill>
                  <a:srgbClr val="1B2A41"/>
                </a:solidFill>
                <a:latin typeface="Calibri" pitchFamily="34" charset="0"/>
                <a:ea typeface="Calibri" pitchFamily="34" charset="-122"/>
                <a:cs typeface="Calibri" pitchFamily="34" charset="-120"/>
              </a:rPr>
              <a:t>Whole team</a:t>
            </a:r>
            <a:endParaRPr lang="en-US" sz="1200" dirty="0"/>
          </a:p>
        </p:txBody>
      </p:sp>
      <p:sp>
        <p:nvSpPr>
          <p:cNvPr id="10" name="Shape 7"/>
          <p:cNvSpPr/>
          <p:nvPr/>
        </p:nvSpPr>
        <p:spPr>
          <a:xfrm>
            <a:off x="457200" y="2423160"/>
            <a:ext cx="8229600" cy="960120"/>
          </a:xfrm>
          <a:prstGeom prst="roundRect">
            <a:avLst>
              <a:gd name="adj" fmla="val 7619"/>
            </a:avLst>
          </a:prstGeom>
          <a:solidFill>
            <a:srgbClr val="F2F4F7"/>
          </a:solidFill>
          <a:ln w="12700">
            <a:solidFill>
              <a:srgbClr val="F2F4F7"/>
            </a:solidFill>
            <a:prstDash val="solid"/>
          </a:ln>
        </p:spPr>
      </p:sp>
      <p:sp>
        <p:nvSpPr>
          <p:cNvPr id="11" name="Shape 8"/>
          <p:cNvSpPr/>
          <p:nvPr/>
        </p:nvSpPr>
        <p:spPr>
          <a:xfrm>
            <a:off x="640080" y="2606040"/>
            <a:ext cx="594360" cy="594360"/>
          </a:xfrm>
          <a:prstGeom prst="ellipse">
            <a:avLst/>
          </a:prstGeom>
          <a:solidFill>
            <a:srgbClr val="C28A1B"/>
          </a:solidFill>
          <a:ln w="12700">
            <a:solidFill>
              <a:srgbClr val="C28A1B"/>
            </a:solidFill>
            <a:prstDash val="solid"/>
          </a:ln>
        </p:spPr>
      </p:sp>
      <p:pic>
        <p:nvPicPr>
          <p:cNvPr id="12" name="Image 1" descr="preencoded.png">    </p:cNvPr>
          <p:cNvPicPr>
            <a:picLocks noChangeAspect="1"/>
          </p:cNvPicPr>
          <p:nvPr/>
        </p:nvPicPr>
        <p:blipFill>
          <a:blip r:embed="rId2"/>
          <a:stretch>
            <a:fillRect/>
          </a:stretch>
        </p:blipFill>
        <p:spPr>
          <a:xfrm>
            <a:off x="782726" y="2748686"/>
            <a:ext cx="309067" cy="309067"/>
          </a:xfrm>
          <a:prstGeom prst="rect">
            <a:avLst/>
          </a:prstGeom>
        </p:spPr>
      </p:pic>
      <p:sp>
        <p:nvSpPr>
          <p:cNvPr id="13" name="Text 9"/>
          <p:cNvSpPr txBox="1"/>
          <p:nvPr/>
        </p:nvSpPr>
        <p:spPr>
          <a:xfrm>
            <a:off x="1463040" y="2514600"/>
            <a:ext cx="2103120" cy="777240"/>
          </a:xfrm>
          <a:prstGeom prst="rect">
            <a:avLst/>
          </a:prstGeom>
          <a:noFill/>
          <a:ln/>
        </p:spPr>
        <p:txBody>
          <a:bodyPr wrap="square" lIns="0" tIns="0" rIns="0" bIns="0" rtlCol="0" anchor="ctr"/>
          <a:lstStyle/>
          <a:p>
            <a:pPr indent="0" marL="0">
              <a:buNone/>
            </a:pPr>
            <a:r>
              <a:rPr lang="en-US" sz="1600" b="1" dirty="0">
                <a:solidFill>
                  <a:srgbClr val="C28A1B"/>
                </a:solidFill>
                <a:latin typeface="Calibri" pitchFamily="34" charset="0"/>
                <a:ea typeface="Calibri" pitchFamily="34" charset="-122"/>
                <a:cs typeface="Calibri" pitchFamily="34" charset="-120"/>
              </a:rPr>
              <a:t>Funding track</a:t>
            </a:r>
            <a:endParaRPr lang="en-US" sz="1600" dirty="0"/>
          </a:p>
        </p:txBody>
      </p:sp>
      <p:sp>
        <p:nvSpPr>
          <p:cNvPr id="14" name="Text 10"/>
          <p:cNvSpPr txBox="1"/>
          <p:nvPr/>
        </p:nvSpPr>
        <p:spPr>
          <a:xfrm>
            <a:off x="3566160" y="2514600"/>
            <a:ext cx="3931920" cy="77724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Grants, binational funding, IBM Research Israel collaboration. October 2026 to June 2027.</a:t>
            </a:r>
            <a:endParaRPr lang="en-US" sz="1250" dirty="0"/>
          </a:p>
        </p:txBody>
      </p:sp>
      <p:sp>
        <p:nvSpPr>
          <p:cNvPr id="15" name="Text 11"/>
          <p:cNvSpPr txBox="1"/>
          <p:nvPr/>
        </p:nvSpPr>
        <p:spPr>
          <a:xfrm>
            <a:off x="7498080" y="2514600"/>
            <a:ext cx="1051560" cy="777240"/>
          </a:xfrm>
          <a:prstGeom prst="rect">
            <a:avLst/>
          </a:prstGeom>
          <a:noFill/>
          <a:ln/>
        </p:spPr>
        <p:txBody>
          <a:bodyPr wrap="square" lIns="0" tIns="0" rIns="0" bIns="0" rtlCol="0" anchor="ctr"/>
          <a:lstStyle/>
          <a:p>
            <a:pPr algn="r" indent="0" marL="0">
              <a:buNone/>
            </a:pPr>
            <a:r>
              <a:rPr lang="en-US" sz="1200" b="1" dirty="0">
                <a:solidFill>
                  <a:srgbClr val="1B2A41"/>
                </a:solidFill>
                <a:latin typeface="Calibri" pitchFamily="34" charset="0"/>
                <a:ea typeface="Calibri" pitchFamily="34" charset="-122"/>
                <a:cs typeface="Calibri" pitchFamily="34" charset="-120"/>
              </a:rPr>
              <a:t>Manuel</a:t>
            </a:r>
            <a:endParaRPr lang="en-US" sz="1200" dirty="0"/>
          </a:p>
        </p:txBody>
      </p:sp>
      <p:sp>
        <p:nvSpPr>
          <p:cNvPr id="16" name="Shape 12"/>
          <p:cNvSpPr/>
          <p:nvPr/>
        </p:nvSpPr>
        <p:spPr>
          <a:xfrm>
            <a:off x="457200" y="3520440"/>
            <a:ext cx="8229600" cy="960120"/>
          </a:xfrm>
          <a:prstGeom prst="roundRect">
            <a:avLst>
              <a:gd name="adj" fmla="val 7619"/>
            </a:avLst>
          </a:prstGeom>
          <a:solidFill>
            <a:srgbClr val="F2F4F7"/>
          </a:solidFill>
          <a:ln w="12700">
            <a:solidFill>
              <a:srgbClr val="F2F4F7"/>
            </a:solidFill>
            <a:prstDash val="solid"/>
          </a:ln>
        </p:spPr>
      </p:sp>
      <p:sp>
        <p:nvSpPr>
          <p:cNvPr id="17" name="Shape 13"/>
          <p:cNvSpPr/>
          <p:nvPr/>
        </p:nvSpPr>
        <p:spPr>
          <a:xfrm>
            <a:off x="640080" y="3703320"/>
            <a:ext cx="594360" cy="594360"/>
          </a:xfrm>
          <a:prstGeom prst="ellipse">
            <a:avLst/>
          </a:prstGeom>
          <a:solidFill>
            <a:srgbClr val="6B4FA0"/>
          </a:solidFill>
          <a:ln w="12700">
            <a:solidFill>
              <a:srgbClr val="6B4FA0"/>
            </a:solidFill>
            <a:prstDash val="solid"/>
          </a:ln>
        </p:spPr>
      </p:sp>
      <p:pic>
        <p:nvPicPr>
          <p:cNvPr id="18" name="Image 2" descr="preencoded.png">    </p:cNvPr>
          <p:cNvPicPr>
            <a:picLocks noChangeAspect="1"/>
          </p:cNvPicPr>
          <p:nvPr/>
        </p:nvPicPr>
        <p:blipFill>
          <a:blip r:embed="rId3"/>
          <a:stretch>
            <a:fillRect/>
          </a:stretch>
        </p:blipFill>
        <p:spPr>
          <a:xfrm>
            <a:off x="782726" y="3845966"/>
            <a:ext cx="309067" cy="309067"/>
          </a:xfrm>
          <a:prstGeom prst="rect">
            <a:avLst/>
          </a:prstGeom>
        </p:spPr>
      </p:pic>
      <p:sp>
        <p:nvSpPr>
          <p:cNvPr id="19" name="Text 14"/>
          <p:cNvSpPr txBox="1"/>
          <p:nvPr/>
        </p:nvSpPr>
        <p:spPr>
          <a:xfrm>
            <a:off x="1463040" y="3611880"/>
            <a:ext cx="2103120" cy="777240"/>
          </a:xfrm>
          <a:prstGeom prst="rect">
            <a:avLst/>
          </a:prstGeom>
          <a:noFill/>
          <a:ln/>
        </p:spPr>
        <p:txBody>
          <a:bodyPr wrap="square" lIns="0" tIns="0" rIns="0" bIns="0" rtlCol="0" anchor="ctr"/>
          <a:lstStyle/>
          <a:p>
            <a:pPr indent="0" marL="0">
              <a:buNone/>
            </a:pPr>
            <a:r>
              <a:rPr lang="en-US" sz="1600" b="1" dirty="0">
                <a:solidFill>
                  <a:srgbClr val="6B4FA0"/>
                </a:solidFill>
                <a:latin typeface="Calibri" pitchFamily="34" charset="0"/>
                <a:ea typeface="Calibri" pitchFamily="34" charset="-122"/>
                <a:cs typeface="Calibri" pitchFamily="34" charset="-120"/>
              </a:rPr>
              <a:t>Health diplomacy</a:t>
            </a:r>
            <a:endParaRPr lang="en-US" sz="1600" dirty="0"/>
          </a:p>
        </p:txBody>
      </p:sp>
      <p:sp>
        <p:nvSpPr>
          <p:cNvPr id="20" name="Text 15"/>
          <p:cNvSpPr txBox="1"/>
          <p:nvPr/>
        </p:nvSpPr>
        <p:spPr>
          <a:xfrm>
            <a:off x="3566160" y="3611880"/>
            <a:ext cx="3931920" cy="77724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Partner hospitals and health ministries. Cancer does not stop at borders; shared science brings countries together.</a:t>
            </a:r>
            <a:endParaRPr lang="en-US" sz="1250" dirty="0"/>
          </a:p>
        </p:txBody>
      </p:sp>
      <p:sp>
        <p:nvSpPr>
          <p:cNvPr id="21" name="Text 16"/>
          <p:cNvSpPr txBox="1"/>
          <p:nvPr/>
        </p:nvSpPr>
        <p:spPr>
          <a:xfrm>
            <a:off x="7498080" y="3611880"/>
            <a:ext cx="1051560" cy="777240"/>
          </a:xfrm>
          <a:prstGeom prst="rect">
            <a:avLst/>
          </a:prstGeom>
          <a:noFill/>
          <a:ln/>
        </p:spPr>
        <p:txBody>
          <a:bodyPr wrap="square" lIns="0" tIns="0" rIns="0" bIns="0" rtlCol="0" anchor="ctr"/>
          <a:lstStyle/>
          <a:p>
            <a:pPr algn="r" indent="0" marL="0">
              <a:buNone/>
            </a:pPr>
            <a:r>
              <a:rPr lang="en-US" sz="1200" b="1" dirty="0">
                <a:solidFill>
                  <a:srgbClr val="1B2A41"/>
                </a:solidFill>
                <a:latin typeface="Calibri" pitchFamily="34" charset="0"/>
                <a:ea typeface="Calibri" pitchFamily="34" charset="-122"/>
                <a:cs typeface="Calibri" pitchFamily="34" charset="-120"/>
              </a:rPr>
              <a:t>Amit</a:t>
            </a:r>
            <a:endParaRPr lang="en-US" sz="1200" dirty="0"/>
          </a:p>
        </p:txBody>
      </p:sp>
      <p:sp>
        <p:nvSpPr>
          <p:cNvPr id="22" name="Text 17"/>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Amit Mekel</a:t>
            </a:r>
            <a:endParaRPr lang="en-US" sz="900" dirty="0"/>
          </a:p>
        </p:txBody>
      </p:sp>
      <p:sp>
        <p:nvSpPr>
          <p:cNvPr id="23" name="Text 18"/>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Key project artifacts</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Categories from PMBOK Guide Section 4.6</a:t>
            </a:r>
            <a:endParaRPr lang="en-US" sz="1300" dirty="0"/>
          </a:p>
        </p:txBody>
      </p:sp>
      <p:sp>
        <p:nvSpPr>
          <p:cNvPr id="4" name="Shape 2"/>
          <p:cNvSpPr/>
          <p:nvPr/>
        </p:nvSpPr>
        <p:spPr>
          <a:xfrm>
            <a:off x="457200" y="1325880"/>
            <a:ext cx="1920240" cy="1463040"/>
          </a:xfrm>
          <a:prstGeom prst="roundRect">
            <a:avLst>
              <a:gd name="adj" fmla="val 5000"/>
            </a:avLst>
          </a:prstGeom>
          <a:solidFill>
            <a:srgbClr val="F2F4F7"/>
          </a:solidFill>
          <a:ln w="12700">
            <a:solidFill>
              <a:srgbClr val="F2F4F7"/>
            </a:solidFill>
            <a:prstDash val="solid"/>
          </a:ln>
        </p:spPr>
      </p:sp>
      <p:sp>
        <p:nvSpPr>
          <p:cNvPr id="5" name="Shape 3"/>
          <p:cNvSpPr/>
          <p:nvPr/>
        </p:nvSpPr>
        <p:spPr>
          <a:xfrm>
            <a:off x="594360" y="1463040"/>
            <a:ext cx="457200" cy="457200"/>
          </a:xfrm>
          <a:prstGeom prst="ellipse">
            <a:avLst/>
          </a:prstGeom>
          <a:solidFill>
            <a:srgbClr val="1B2A41"/>
          </a:solidFill>
          <a:ln w="12700">
            <a:solidFill>
              <a:srgbClr val="1B2A41"/>
            </a:solidFill>
            <a:prstDash val="solid"/>
          </a:ln>
        </p:spPr>
      </p:sp>
      <p:pic>
        <p:nvPicPr>
          <p:cNvPr id="6" name="Image 0" descr="preencoded.png">    </p:cNvPr>
          <p:cNvPicPr>
            <a:picLocks noChangeAspect="1"/>
          </p:cNvPicPr>
          <p:nvPr/>
        </p:nvPicPr>
        <p:blipFill>
          <a:blip r:embed="rId1"/>
          <a:stretch>
            <a:fillRect/>
          </a:stretch>
        </p:blipFill>
        <p:spPr>
          <a:xfrm>
            <a:off x="704088" y="1572768"/>
            <a:ext cx="237744" cy="237744"/>
          </a:xfrm>
          <a:prstGeom prst="rect">
            <a:avLst/>
          </a:prstGeom>
        </p:spPr>
      </p:pic>
      <p:sp>
        <p:nvSpPr>
          <p:cNvPr id="7" name="Text 4"/>
          <p:cNvSpPr txBox="1"/>
          <p:nvPr/>
        </p:nvSpPr>
        <p:spPr>
          <a:xfrm>
            <a:off x="594360" y="19842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Project charter</a:t>
            </a:r>
            <a:endParaRPr lang="en-US" sz="1300" dirty="0"/>
          </a:p>
        </p:txBody>
      </p:sp>
      <p:sp>
        <p:nvSpPr>
          <p:cNvPr id="8" name="Text 5"/>
          <p:cNvSpPr txBox="1"/>
          <p:nvPr/>
        </p:nvSpPr>
        <p:spPr>
          <a:xfrm>
            <a:off x="594360" y="22860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Authority, milestones, 3B contingency</a:t>
            </a:r>
            <a:endParaRPr lang="en-US" sz="1100" dirty="0"/>
          </a:p>
        </p:txBody>
      </p:sp>
      <p:sp>
        <p:nvSpPr>
          <p:cNvPr id="9" name="Shape 6"/>
          <p:cNvSpPr/>
          <p:nvPr/>
        </p:nvSpPr>
        <p:spPr>
          <a:xfrm>
            <a:off x="2560320" y="1325880"/>
            <a:ext cx="1920240" cy="1463040"/>
          </a:xfrm>
          <a:prstGeom prst="roundRect">
            <a:avLst>
              <a:gd name="adj" fmla="val 5000"/>
            </a:avLst>
          </a:prstGeom>
          <a:solidFill>
            <a:srgbClr val="F2F4F7"/>
          </a:solidFill>
          <a:ln w="12700">
            <a:solidFill>
              <a:srgbClr val="F2F4F7"/>
            </a:solidFill>
            <a:prstDash val="solid"/>
          </a:ln>
        </p:spPr>
      </p:sp>
      <p:sp>
        <p:nvSpPr>
          <p:cNvPr id="10" name="Shape 7"/>
          <p:cNvSpPr/>
          <p:nvPr/>
        </p:nvSpPr>
        <p:spPr>
          <a:xfrm>
            <a:off x="2697480" y="1463040"/>
            <a:ext cx="457200" cy="457200"/>
          </a:xfrm>
          <a:prstGeom prst="ellipse">
            <a:avLst/>
          </a:prstGeom>
          <a:solidFill>
            <a:srgbClr val="1B2A41"/>
          </a:solidFill>
          <a:ln w="12700">
            <a:solidFill>
              <a:srgbClr val="1B2A41"/>
            </a:solidFill>
            <a:prstDash val="solid"/>
          </a:ln>
        </p:spPr>
      </p:sp>
      <p:pic>
        <p:nvPicPr>
          <p:cNvPr id="11" name="Image 1" descr="preencoded.png">    </p:cNvPr>
          <p:cNvPicPr>
            <a:picLocks noChangeAspect="1"/>
          </p:cNvPicPr>
          <p:nvPr/>
        </p:nvPicPr>
        <p:blipFill>
          <a:blip r:embed="rId2"/>
          <a:stretch>
            <a:fillRect/>
          </a:stretch>
        </p:blipFill>
        <p:spPr>
          <a:xfrm>
            <a:off x="2807208" y="1572768"/>
            <a:ext cx="237744" cy="237744"/>
          </a:xfrm>
          <a:prstGeom prst="rect">
            <a:avLst/>
          </a:prstGeom>
        </p:spPr>
      </p:pic>
      <p:sp>
        <p:nvSpPr>
          <p:cNvPr id="12" name="Text 8"/>
          <p:cNvSpPr txBox="1"/>
          <p:nvPr/>
        </p:nvSpPr>
        <p:spPr>
          <a:xfrm>
            <a:off x="2697480" y="19842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Roadmap</a:t>
            </a:r>
            <a:endParaRPr lang="en-US" sz="1300" dirty="0"/>
          </a:p>
        </p:txBody>
      </p:sp>
      <p:sp>
        <p:nvSpPr>
          <p:cNvPr id="13" name="Text 9"/>
          <p:cNvSpPr txBox="1"/>
          <p:nvPr/>
        </p:nvSpPr>
        <p:spPr>
          <a:xfrm>
            <a:off x="2697480" y="22860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Re-planned each quarter</a:t>
            </a:r>
            <a:endParaRPr lang="en-US" sz="1100" dirty="0"/>
          </a:p>
        </p:txBody>
      </p:sp>
      <p:sp>
        <p:nvSpPr>
          <p:cNvPr id="14" name="Shape 10"/>
          <p:cNvSpPr/>
          <p:nvPr/>
        </p:nvSpPr>
        <p:spPr>
          <a:xfrm>
            <a:off x="4663440" y="1325880"/>
            <a:ext cx="1920240" cy="1463040"/>
          </a:xfrm>
          <a:prstGeom prst="roundRect">
            <a:avLst>
              <a:gd name="adj" fmla="val 5000"/>
            </a:avLst>
          </a:prstGeom>
          <a:solidFill>
            <a:srgbClr val="F2F4F7"/>
          </a:solidFill>
          <a:ln w="12700">
            <a:solidFill>
              <a:srgbClr val="F2F4F7"/>
            </a:solidFill>
            <a:prstDash val="solid"/>
          </a:ln>
        </p:spPr>
      </p:sp>
      <p:sp>
        <p:nvSpPr>
          <p:cNvPr id="15" name="Shape 11"/>
          <p:cNvSpPr/>
          <p:nvPr/>
        </p:nvSpPr>
        <p:spPr>
          <a:xfrm>
            <a:off x="4800600" y="1463040"/>
            <a:ext cx="457200" cy="457200"/>
          </a:xfrm>
          <a:prstGeom prst="ellipse">
            <a:avLst/>
          </a:prstGeom>
          <a:solidFill>
            <a:srgbClr val="2E7D6B"/>
          </a:solidFill>
          <a:ln w="12700">
            <a:solidFill>
              <a:srgbClr val="2E7D6B"/>
            </a:solidFill>
            <a:prstDash val="solid"/>
          </a:ln>
        </p:spPr>
      </p:sp>
      <p:pic>
        <p:nvPicPr>
          <p:cNvPr id="16" name="Image 2" descr="preencoded.png">    </p:cNvPr>
          <p:cNvPicPr>
            <a:picLocks noChangeAspect="1"/>
          </p:cNvPicPr>
          <p:nvPr/>
        </p:nvPicPr>
        <p:blipFill>
          <a:blip r:embed="rId3"/>
          <a:stretch>
            <a:fillRect/>
          </a:stretch>
        </p:blipFill>
        <p:spPr>
          <a:xfrm>
            <a:off x="4910328" y="1572768"/>
            <a:ext cx="237744" cy="237744"/>
          </a:xfrm>
          <a:prstGeom prst="rect">
            <a:avLst/>
          </a:prstGeom>
        </p:spPr>
      </p:pic>
      <p:sp>
        <p:nvSpPr>
          <p:cNvPr id="17" name="Text 12"/>
          <p:cNvSpPr txBox="1"/>
          <p:nvPr/>
        </p:nvSpPr>
        <p:spPr>
          <a:xfrm>
            <a:off x="4800600" y="19842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Assumption log</a:t>
            </a:r>
            <a:endParaRPr lang="en-US" sz="1300" dirty="0"/>
          </a:p>
        </p:txBody>
      </p:sp>
      <p:sp>
        <p:nvSpPr>
          <p:cNvPr id="18" name="Text 13"/>
          <p:cNvSpPr txBox="1"/>
          <p:nvPr/>
        </p:nvSpPr>
        <p:spPr>
          <a:xfrm>
            <a:off x="4800600" y="22860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Every modeling choice behind a result</a:t>
            </a:r>
            <a:endParaRPr lang="en-US" sz="1100" dirty="0"/>
          </a:p>
        </p:txBody>
      </p:sp>
      <p:sp>
        <p:nvSpPr>
          <p:cNvPr id="19" name="Shape 14"/>
          <p:cNvSpPr/>
          <p:nvPr/>
        </p:nvSpPr>
        <p:spPr>
          <a:xfrm>
            <a:off x="6766560" y="1325880"/>
            <a:ext cx="1920240" cy="1463040"/>
          </a:xfrm>
          <a:prstGeom prst="roundRect">
            <a:avLst>
              <a:gd name="adj" fmla="val 5000"/>
            </a:avLst>
          </a:prstGeom>
          <a:solidFill>
            <a:srgbClr val="F2F4F7"/>
          </a:solidFill>
          <a:ln w="12700">
            <a:solidFill>
              <a:srgbClr val="F2F4F7"/>
            </a:solidFill>
            <a:prstDash val="solid"/>
          </a:ln>
        </p:spPr>
      </p:sp>
      <p:sp>
        <p:nvSpPr>
          <p:cNvPr id="20" name="Shape 15"/>
          <p:cNvSpPr/>
          <p:nvPr/>
        </p:nvSpPr>
        <p:spPr>
          <a:xfrm>
            <a:off x="6903720" y="1463040"/>
            <a:ext cx="457200" cy="457200"/>
          </a:xfrm>
          <a:prstGeom prst="ellipse">
            <a:avLst/>
          </a:prstGeom>
          <a:solidFill>
            <a:srgbClr val="B8441F"/>
          </a:solidFill>
          <a:ln w="12700">
            <a:solidFill>
              <a:srgbClr val="B8441F"/>
            </a:solidFill>
            <a:prstDash val="solid"/>
          </a:ln>
        </p:spPr>
      </p:sp>
      <p:pic>
        <p:nvPicPr>
          <p:cNvPr id="21" name="Image 3" descr="preencoded.png">    </p:cNvPr>
          <p:cNvPicPr>
            <a:picLocks noChangeAspect="1"/>
          </p:cNvPicPr>
          <p:nvPr/>
        </p:nvPicPr>
        <p:blipFill>
          <a:blip r:embed="rId4"/>
          <a:stretch>
            <a:fillRect/>
          </a:stretch>
        </p:blipFill>
        <p:spPr>
          <a:xfrm>
            <a:off x="7013448" y="1572768"/>
            <a:ext cx="237744" cy="237744"/>
          </a:xfrm>
          <a:prstGeom prst="rect">
            <a:avLst/>
          </a:prstGeom>
        </p:spPr>
      </p:pic>
      <p:sp>
        <p:nvSpPr>
          <p:cNvPr id="22" name="Text 16"/>
          <p:cNvSpPr txBox="1"/>
          <p:nvPr/>
        </p:nvSpPr>
        <p:spPr>
          <a:xfrm>
            <a:off x="6903720" y="19842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Risk register</a:t>
            </a:r>
            <a:endParaRPr lang="en-US" sz="1300" dirty="0"/>
          </a:p>
        </p:txBody>
      </p:sp>
      <p:sp>
        <p:nvSpPr>
          <p:cNvPr id="23" name="Text 17"/>
          <p:cNvSpPr txBox="1"/>
          <p:nvPr/>
        </p:nvSpPr>
        <p:spPr>
          <a:xfrm>
            <a:off x="6903720" y="22860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Access, hardware, funding, recruitment</a:t>
            </a:r>
            <a:endParaRPr lang="en-US" sz="1100" dirty="0"/>
          </a:p>
        </p:txBody>
      </p:sp>
      <p:sp>
        <p:nvSpPr>
          <p:cNvPr id="24" name="Shape 18"/>
          <p:cNvSpPr/>
          <p:nvPr/>
        </p:nvSpPr>
        <p:spPr>
          <a:xfrm>
            <a:off x="457200" y="2926080"/>
            <a:ext cx="1920240" cy="1463040"/>
          </a:xfrm>
          <a:prstGeom prst="roundRect">
            <a:avLst>
              <a:gd name="adj" fmla="val 5000"/>
            </a:avLst>
          </a:prstGeom>
          <a:solidFill>
            <a:srgbClr val="F2F4F7"/>
          </a:solidFill>
          <a:ln w="12700">
            <a:solidFill>
              <a:srgbClr val="F2F4F7"/>
            </a:solidFill>
            <a:prstDash val="solid"/>
          </a:ln>
        </p:spPr>
      </p:sp>
      <p:sp>
        <p:nvSpPr>
          <p:cNvPr id="25" name="Shape 19"/>
          <p:cNvSpPr/>
          <p:nvPr/>
        </p:nvSpPr>
        <p:spPr>
          <a:xfrm>
            <a:off x="594360" y="3063240"/>
            <a:ext cx="457200" cy="457200"/>
          </a:xfrm>
          <a:prstGeom prst="ellipse">
            <a:avLst/>
          </a:prstGeom>
          <a:solidFill>
            <a:srgbClr val="6B4FA0"/>
          </a:solidFill>
          <a:ln w="12700">
            <a:solidFill>
              <a:srgbClr val="6B4FA0"/>
            </a:solidFill>
            <a:prstDash val="solid"/>
          </a:ln>
        </p:spPr>
      </p:sp>
      <p:pic>
        <p:nvPicPr>
          <p:cNvPr id="26" name="Image 4" descr="preencoded.png">    </p:cNvPr>
          <p:cNvPicPr>
            <a:picLocks noChangeAspect="1"/>
          </p:cNvPicPr>
          <p:nvPr/>
        </p:nvPicPr>
        <p:blipFill>
          <a:blip r:embed="rId5"/>
          <a:stretch>
            <a:fillRect/>
          </a:stretch>
        </p:blipFill>
        <p:spPr>
          <a:xfrm>
            <a:off x="704088" y="3172968"/>
            <a:ext cx="237744" cy="237744"/>
          </a:xfrm>
          <a:prstGeom prst="rect">
            <a:avLst/>
          </a:prstGeom>
        </p:spPr>
      </p:pic>
      <p:sp>
        <p:nvSpPr>
          <p:cNvPr id="27" name="Text 20"/>
          <p:cNvSpPr txBox="1"/>
          <p:nvPr/>
        </p:nvSpPr>
        <p:spPr>
          <a:xfrm>
            <a:off x="594360" y="35844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Stakeholder register</a:t>
            </a:r>
            <a:endParaRPr lang="en-US" sz="1300" dirty="0"/>
          </a:p>
        </p:txBody>
      </p:sp>
      <p:sp>
        <p:nvSpPr>
          <p:cNvPr id="28" name="Text 21"/>
          <p:cNvSpPr txBox="1"/>
          <p:nvPr/>
        </p:nvSpPr>
        <p:spPr>
          <a:xfrm>
            <a:off x="594360" y="38862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What success means to each group</a:t>
            </a:r>
            <a:endParaRPr lang="en-US" sz="1100" dirty="0"/>
          </a:p>
        </p:txBody>
      </p:sp>
      <p:sp>
        <p:nvSpPr>
          <p:cNvPr id="29" name="Shape 22"/>
          <p:cNvSpPr/>
          <p:nvPr/>
        </p:nvSpPr>
        <p:spPr>
          <a:xfrm>
            <a:off x="2560320" y="2926080"/>
            <a:ext cx="1920240" cy="1463040"/>
          </a:xfrm>
          <a:prstGeom prst="roundRect">
            <a:avLst>
              <a:gd name="adj" fmla="val 5000"/>
            </a:avLst>
          </a:prstGeom>
          <a:solidFill>
            <a:srgbClr val="F2F4F7"/>
          </a:solidFill>
          <a:ln w="12700">
            <a:solidFill>
              <a:srgbClr val="F2F4F7"/>
            </a:solidFill>
            <a:prstDash val="solid"/>
          </a:ln>
        </p:spPr>
      </p:sp>
      <p:sp>
        <p:nvSpPr>
          <p:cNvPr id="30" name="Shape 23"/>
          <p:cNvSpPr/>
          <p:nvPr/>
        </p:nvSpPr>
        <p:spPr>
          <a:xfrm>
            <a:off x="2697480" y="3063240"/>
            <a:ext cx="457200" cy="457200"/>
          </a:xfrm>
          <a:prstGeom prst="ellipse">
            <a:avLst/>
          </a:prstGeom>
          <a:solidFill>
            <a:srgbClr val="5A6B7E"/>
          </a:solidFill>
          <a:ln w="12700">
            <a:solidFill>
              <a:srgbClr val="5A6B7E"/>
            </a:solidFill>
            <a:prstDash val="solid"/>
          </a:ln>
        </p:spPr>
      </p:sp>
      <p:pic>
        <p:nvPicPr>
          <p:cNvPr id="31" name="Image 5" descr="preencoded.png">    </p:cNvPr>
          <p:cNvPicPr>
            <a:picLocks noChangeAspect="1"/>
          </p:cNvPicPr>
          <p:nvPr/>
        </p:nvPicPr>
        <p:blipFill>
          <a:blip r:embed="rId6"/>
          <a:stretch>
            <a:fillRect/>
          </a:stretch>
        </p:blipFill>
        <p:spPr>
          <a:xfrm>
            <a:off x="2807208" y="3172968"/>
            <a:ext cx="237744" cy="237744"/>
          </a:xfrm>
          <a:prstGeom prst="rect">
            <a:avLst/>
          </a:prstGeom>
        </p:spPr>
      </p:pic>
      <p:sp>
        <p:nvSpPr>
          <p:cNvPr id="32" name="Text 24"/>
          <p:cNvSpPr txBox="1"/>
          <p:nvPr/>
        </p:nvSpPr>
        <p:spPr>
          <a:xfrm>
            <a:off x="2697480" y="35844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Change log</a:t>
            </a:r>
            <a:endParaRPr lang="en-US" sz="1300" dirty="0"/>
          </a:p>
        </p:txBody>
      </p:sp>
      <p:sp>
        <p:nvSpPr>
          <p:cNvPr id="33" name="Text 25"/>
          <p:cNvSpPr txBox="1"/>
          <p:nvPr/>
        </p:nvSpPr>
        <p:spPr>
          <a:xfrm>
            <a:off x="2697480" y="38862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Formal changes and retractions</a:t>
            </a:r>
            <a:endParaRPr lang="en-US" sz="1100" dirty="0"/>
          </a:p>
        </p:txBody>
      </p:sp>
      <p:sp>
        <p:nvSpPr>
          <p:cNvPr id="34" name="Shape 26"/>
          <p:cNvSpPr/>
          <p:nvPr/>
        </p:nvSpPr>
        <p:spPr>
          <a:xfrm>
            <a:off x="4663440" y="2926080"/>
            <a:ext cx="1920240" cy="1463040"/>
          </a:xfrm>
          <a:prstGeom prst="roundRect">
            <a:avLst>
              <a:gd name="adj" fmla="val 5000"/>
            </a:avLst>
          </a:prstGeom>
          <a:solidFill>
            <a:srgbClr val="F2F4F7"/>
          </a:solidFill>
          <a:ln w="12700">
            <a:solidFill>
              <a:srgbClr val="F2F4F7"/>
            </a:solidFill>
            <a:prstDash val="solid"/>
          </a:ln>
        </p:spPr>
      </p:sp>
      <p:sp>
        <p:nvSpPr>
          <p:cNvPr id="35" name="Shape 27"/>
          <p:cNvSpPr/>
          <p:nvPr/>
        </p:nvSpPr>
        <p:spPr>
          <a:xfrm>
            <a:off x="4800600" y="3063240"/>
            <a:ext cx="457200" cy="457200"/>
          </a:xfrm>
          <a:prstGeom prst="ellipse">
            <a:avLst/>
          </a:prstGeom>
          <a:solidFill>
            <a:srgbClr val="6B4FA0"/>
          </a:solidFill>
          <a:ln w="12700">
            <a:solidFill>
              <a:srgbClr val="6B4FA0"/>
            </a:solidFill>
            <a:prstDash val="solid"/>
          </a:ln>
        </p:spPr>
      </p:sp>
      <p:pic>
        <p:nvPicPr>
          <p:cNvPr id="36" name="Image 6" descr="preencoded.png">    </p:cNvPr>
          <p:cNvPicPr>
            <a:picLocks noChangeAspect="1"/>
          </p:cNvPicPr>
          <p:nvPr/>
        </p:nvPicPr>
        <p:blipFill>
          <a:blip r:embed="rId7"/>
          <a:stretch>
            <a:fillRect/>
          </a:stretch>
        </p:blipFill>
        <p:spPr>
          <a:xfrm>
            <a:off x="4910328" y="3172968"/>
            <a:ext cx="237744" cy="237744"/>
          </a:xfrm>
          <a:prstGeom prst="rect">
            <a:avLst/>
          </a:prstGeom>
        </p:spPr>
      </p:pic>
      <p:sp>
        <p:nvSpPr>
          <p:cNvPr id="37" name="Text 28"/>
          <p:cNvSpPr txBox="1"/>
          <p:nvPr/>
        </p:nvSpPr>
        <p:spPr>
          <a:xfrm>
            <a:off x="4800600" y="35844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Communications plan</a:t>
            </a:r>
            <a:endParaRPr lang="en-US" sz="1300" dirty="0"/>
          </a:p>
        </p:txBody>
      </p:sp>
      <p:sp>
        <p:nvSpPr>
          <p:cNvPr id="38" name="Text 29"/>
          <p:cNvSpPr txBox="1"/>
          <p:nvPr/>
        </p:nvSpPr>
        <p:spPr>
          <a:xfrm>
            <a:off x="4800600" y="38862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Who hears what, and how</a:t>
            </a:r>
            <a:endParaRPr lang="en-US" sz="1100" dirty="0"/>
          </a:p>
        </p:txBody>
      </p:sp>
      <p:sp>
        <p:nvSpPr>
          <p:cNvPr id="39" name="Shape 30"/>
          <p:cNvSpPr/>
          <p:nvPr/>
        </p:nvSpPr>
        <p:spPr>
          <a:xfrm>
            <a:off x="6766560" y="2926080"/>
            <a:ext cx="1920240" cy="1463040"/>
          </a:xfrm>
          <a:prstGeom prst="roundRect">
            <a:avLst>
              <a:gd name="adj" fmla="val 5000"/>
            </a:avLst>
          </a:prstGeom>
          <a:solidFill>
            <a:srgbClr val="F2F4F7"/>
          </a:solidFill>
          <a:ln w="12700">
            <a:solidFill>
              <a:srgbClr val="F2F4F7"/>
            </a:solidFill>
            <a:prstDash val="solid"/>
          </a:ln>
        </p:spPr>
      </p:sp>
      <p:sp>
        <p:nvSpPr>
          <p:cNvPr id="40" name="Shape 31"/>
          <p:cNvSpPr/>
          <p:nvPr/>
        </p:nvSpPr>
        <p:spPr>
          <a:xfrm>
            <a:off x="6903720" y="3063240"/>
            <a:ext cx="457200" cy="457200"/>
          </a:xfrm>
          <a:prstGeom prst="ellipse">
            <a:avLst/>
          </a:prstGeom>
          <a:solidFill>
            <a:srgbClr val="C28A1B"/>
          </a:solidFill>
          <a:ln w="12700">
            <a:solidFill>
              <a:srgbClr val="C28A1B"/>
            </a:solidFill>
            <a:prstDash val="solid"/>
          </a:ln>
        </p:spPr>
      </p:sp>
      <p:pic>
        <p:nvPicPr>
          <p:cNvPr id="41" name="Image 7" descr="preencoded.png">    </p:cNvPr>
          <p:cNvPicPr>
            <a:picLocks noChangeAspect="1"/>
          </p:cNvPicPr>
          <p:nvPr/>
        </p:nvPicPr>
        <p:blipFill>
          <a:blip r:embed="rId8"/>
          <a:stretch>
            <a:fillRect/>
          </a:stretch>
        </p:blipFill>
        <p:spPr>
          <a:xfrm>
            <a:off x="7013448" y="3172968"/>
            <a:ext cx="237744" cy="237744"/>
          </a:xfrm>
          <a:prstGeom prst="rect">
            <a:avLst/>
          </a:prstGeom>
        </p:spPr>
      </p:pic>
      <p:sp>
        <p:nvSpPr>
          <p:cNvPr id="42" name="Text 32"/>
          <p:cNvSpPr txBox="1"/>
          <p:nvPr/>
        </p:nvSpPr>
        <p:spPr>
          <a:xfrm>
            <a:off x="6903720" y="3584448"/>
            <a:ext cx="1691640" cy="32004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Budget</a:t>
            </a:r>
            <a:endParaRPr lang="en-US" sz="1300" dirty="0"/>
          </a:p>
        </p:txBody>
      </p:sp>
      <p:sp>
        <p:nvSpPr>
          <p:cNvPr id="43" name="Text 33"/>
          <p:cNvSpPr txBox="1"/>
          <p:nvPr/>
        </p:nvSpPr>
        <p:spPr>
          <a:xfrm>
            <a:off x="6903720" y="3886200"/>
            <a:ext cx="1691640" cy="45720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Compared with actuals each quarter</a:t>
            </a:r>
            <a:endParaRPr lang="en-US" sz="1100" dirty="0"/>
          </a:p>
        </p:txBody>
      </p:sp>
      <p:sp>
        <p:nvSpPr>
          <p:cNvPr id="44" name="Text 34"/>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Amit Mekel</a:t>
            </a:r>
            <a:endParaRPr lang="en-US" sz="900" dirty="0"/>
          </a:p>
        </p:txBody>
      </p:sp>
      <p:sp>
        <p:nvSpPr>
          <p:cNvPr id="45" name="Text 35"/>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course changed in our plan</a:t>
            </a:r>
            <a:endParaRPr lang="en-US" sz="2800" dirty="0"/>
          </a:p>
        </p:txBody>
      </p:sp>
      <p:sp>
        <p:nvSpPr>
          <p:cNvPr id="3" name="Shape 1"/>
          <p:cNvSpPr/>
          <p:nvPr/>
        </p:nvSpPr>
        <p:spPr>
          <a:xfrm>
            <a:off x="457200" y="1234440"/>
            <a:ext cx="2606040" cy="2377440"/>
          </a:xfrm>
          <a:prstGeom prst="roundRect">
            <a:avLst>
              <a:gd name="adj" fmla="val 3077"/>
            </a:avLst>
          </a:prstGeom>
          <a:solidFill>
            <a:srgbClr val="26395A"/>
          </a:solidFill>
          <a:ln w="12700">
            <a:solidFill>
              <a:srgbClr val="26395A"/>
            </a:solidFill>
            <a:prstDash val="solid"/>
          </a:ln>
        </p:spPr>
      </p:sp>
      <p:sp>
        <p:nvSpPr>
          <p:cNvPr id="4" name="Shape 2"/>
          <p:cNvSpPr/>
          <p:nvPr/>
        </p:nvSpPr>
        <p:spPr>
          <a:xfrm>
            <a:off x="1417320" y="1417320"/>
            <a:ext cx="685800" cy="685800"/>
          </a:xfrm>
          <a:prstGeom prst="ellipse">
            <a:avLst/>
          </a:prstGeom>
          <a:solidFill>
            <a:srgbClr val="B8441F"/>
          </a:solidFill>
          <a:ln w="12700">
            <a:solidFill>
              <a:srgbClr val="B8441F"/>
            </a:solidFill>
            <a:prstDash val="solid"/>
          </a:ln>
        </p:spPr>
      </p:sp>
      <p:pic>
        <p:nvPicPr>
          <p:cNvPr id="5" name="Image 0" descr="preencoded.png">    </p:cNvPr>
          <p:cNvPicPr>
            <a:picLocks noChangeAspect="1"/>
          </p:cNvPicPr>
          <p:nvPr/>
        </p:nvPicPr>
        <p:blipFill>
          <a:blip r:embed="rId1"/>
          <a:stretch>
            <a:fillRect/>
          </a:stretch>
        </p:blipFill>
        <p:spPr>
          <a:xfrm>
            <a:off x="1581912" y="1581912"/>
            <a:ext cx="356616" cy="356616"/>
          </a:xfrm>
          <a:prstGeom prst="rect">
            <a:avLst/>
          </a:prstGeom>
        </p:spPr>
      </p:pic>
      <p:sp>
        <p:nvSpPr>
          <p:cNvPr id="6" name="Text 3"/>
          <p:cNvSpPr txBox="1"/>
          <p:nvPr/>
        </p:nvSpPr>
        <p:spPr>
          <a:xfrm>
            <a:off x="640080" y="2240280"/>
            <a:ext cx="2240280" cy="41148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Tailoring</a:t>
            </a:r>
            <a:endParaRPr lang="en-US" sz="1700" dirty="0"/>
          </a:p>
        </p:txBody>
      </p:sp>
      <p:sp>
        <p:nvSpPr>
          <p:cNvPr id="7" name="Text 4"/>
          <p:cNvSpPr txBox="1"/>
          <p:nvPr/>
        </p:nvSpPr>
        <p:spPr>
          <a:xfrm>
            <a:off x="640080" y="2651760"/>
            <a:ext cx="2240280" cy="822960"/>
          </a:xfrm>
          <a:prstGeom prst="rect">
            <a:avLst/>
          </a:prstGeom>
          <a:noFill/>
          <a:ln/>
        </p:spPr>
        <p:txBody>
          <a:bodyPr wrap="square" lIns="0" tIns="0" rIns="0" bIns="0" rtlCol="0" anchor="t"/>
          <a:lstStyle/>
          <a:p>
            <a:pPr algn="ctr" indent="0" marL="0">
              <a:buNone/>
            </a:pPr>
            <a:r>
              <a:rPr lang="en-US" sz="1300" dirty="0">
                <a:solidFill>
                  <a:srgbClr val="D9E1EA"/>
                </a:solidFill>
                <a:latin typeface="Calibri" pitchFamily="34" charset="0"/>
                <a:ea typeface="Calibri" pitchFamily="34" charset="-122"/>
                <a:cs typeface="Calibri" pitchFamily="34" charset="-120"/>
              </a:rPr>
              <a:t>One project, different approaches for different parts.</a:t>
            </a:r>
            <a:endParaRPr lang="en-US" sz="1300" dirty="0"/>
          </a:p>
        </p:txBody>
      </p:sp>
      <p:sp>
        <p:nvSpPr>
          <p:cNvPr id="8" name="Shape 5"/>
          <p:cNvSpPr/>
          <p:nvPr/>
        </p:nvSpPr>
        <p:spPr>
          <a:xfrm>
            <a:off x="3246120" y="1234440"/>
            <a:ext cx="2606040" cy="2377440"/>
          </a:xfrm>
          <a:prstGeom prst="roundRect">
            <a:avLst>
              <a:gd name="adj" fmla="val 3077"/>
            </a:avLst>
          </a:prstGeom>
          <a:solidFill>
            <a:srgbClr val="26395A"/>
          </a:solidFill>
          <a:ln w="12700">
            <a:solidFill>
              <a:srgbClr val="26395A"/>
            </a:solidFill>
            <a:prstDash val="solid"/>
          </a:ln>
        </p:spPr>
      </p:sp>
      <p:sp>
        <p:nvSpPr>
          <p:cNvPr id="9" name="Shape 6"/>
          <p:cNvSpPr/>
          <p:nvPr/>
        </p:nvSpPr>
        <p:spPr>
          <a:xfrm>
            <a:off x="4206240" y="1417320"/>
            <a:ext cx="685800" cy="685800"/>
          </a:xfrm>
          <a:prstGeom prst="ellipse">
            <a:avLst/>
          </a:prstGeom>
          <a:solidFill>
            <a:srgbClr val="B8441F"/>
          </a:solidFill>
          <a:ln w="12700">
            <a:solidFill>
              <a:srgbClr val="B8441F"/>
            </a:solidFill>
            <a:prstDash val="solid"/>
          </a:ln>
        </p:spPr>
      </p:sp>
      <p:pic>
        <p:nvPicPr>
          <p:cNvPr id="10" name="Image 1" descr="preencoded.png">    </p:cNvPr>
          <p:cNvPicPr>
            <a:picLocks noChangeAspect="1"/>
          </p:cNvPicPr>
          <p:nvPr/>
        </p:nvPicPr>
        <p:blipFill>
          <a:blip r:embed="rId2"/>
          <a:stretch>
            <a:fillRect/>
          </a:stretch>
        </p:blipFill>
        <p:spPr>
          <a:xfrm>
            <a:off x="4370832" y="1581912"/>
            <a:ext cx="356616" cy="356616"/>
          </a:xfrm>
          <a:prstGeom prst="rect">
            <a:avLst/>
          </a:prstGeom>
        </p:spPr>
      </p:pic>
      <p:sp>
        <p:nvSpPr>
          <p:cNvPr id="11" name="Text 7"/>
          <p:cNvSpPr txBox="1"/>
          <p:nvPr/>
        </p:nvSpPr>
        <p:spPr>
          <a:xfrm>
            <a:off x="3429000" y="2240280"/>
            <a:ext cx="2240280" cy="41148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Models for coverage</a:t>
            </a:r>
            <a:endParaRPr lang="en-US" sz="1700" dirty="0"/>
          </a:p>
        </p:txBody>
      </p:sp>
      <p:sp>
        <p:nvSpPr>
          <p:cNvPr id="12" name="Text 8"/>
          <p:cNvSpPr txBox="1"/>
          <p:nvPr/>
        </p:nvSpPr>
        <p:spPr>
          <a:xfrm>
            <a:off x="3429000" y="2651760"/>
            <a:ext cx="2240280" cy="822960"/>
          </a:xfrm>
          <a:prstGeom prst="rect">
            <a:avLst/>
          </a:prstGeom>
          <a:noFill/>
          <a:ln/>
        </p:spPr>
        <p:txBody>
          <a:bodyPr wrap="square" lIns="0" tIns="0" rIns="0" bIns="0" rtlCol="0" anchor="t"/>
          <a:lstStyle/>
          <a:p>
            <a:pPr algn="ctr" indent="0" marL="0">
              <a:buNone/>
            </a:pPr>
            <a:r>
              <a:rPr lang="en-US" sz="1300" dirty="0">
                <a:solidFill>
                  <a:srgbClr val="D9E1EA"/>
                </a:solidFill>
                <a:latin typeface="Calibri" pitchFamily="34" charset="0"/>
                <a:ea typeface="Calibri" pitchFamily="34" charset="-122"/>
                <a:cs typeface="Calibri" pitchFamily="34" charset="-120"/>
              </a:rPr>
              <a:t>Cynefin for uncertainty, communication for people.</a:t>
            </a:r>
            <a:endParaRPr lang="en-US" sz="1300" dirty="0"/>
          </a:p>
        </p:txBody>
      </p:sp>
      <p:sp>
        <p:nvSpPr>
          <p:cNvPr id="13" name="Shape 9"/>
          <p:cNvSpPr/>
          <p:nvPr/>
        </p:nvSpPr>
        <p:spPr>
          <a:xfrm>
            <a:off x="6035040" y="1234440"/>
            <a:ext cx="2606040" cy="2377440"/>
          </a:xfrm>
          <a:prstGeom prst="roundRect">
            <a:avLst>
              <a:gd name="adj" fmla="val 3077"/>
            </a:avLst>
          </a:prstGeom>
          <a:solidFill>
            <a:srgbClr val="26395A"/>
          </a:solidFill>
          <a:ln w="12700">
            <a:solidFill>
              <a:srgbClr val="26395A"/>
            </a:solidFill>
            <a:prstDash val="solid"/>
          </a:ln>
        </p:spPr>
      </p:sp>
      <p:sp>
        <p:nvSpPr>
          <p:cNvPr id="14" name="Shape 10"/>
          <p:cNvSpPr/>
          <p:nvPr/>
        </p:nvSpPr>
        <p:spPr>
          <a:xfrm>
            <a:off x="6995160" y="1417320"/>
            <a:ext cx="685800" cy="685800"/>
          </a:xfrm>
          <a:prstGeom prst="ellipse">
            <a:avLst/>
          </a:prstGeom>
          <a:solidFill>
            <a:srgbClr val="B8441F"/>
          </a:solidFill>
          <a:ln w="12700">
            <a:solidFill>
              <a:srgbClr val="B8441F"/>
            </a:solidFill>
            <a:prstDash val="solid"/>
          </a:ln>
        </p:spPr>
      </p:sp>
      <p:pic>
        <p:nvPicPr>
          <p:cNvPr id="15" name="Image 2" descr="preencoded.png">    </p:cNvPr>
          <p:cNvPicPr>
            <a:picLocks noChangeAspect="1"/>
          </p:cNvPicPr>
          <p:nvPr/>
        </p:nvPicPr>
        <p:blipFill>
          <a:blip r:embed="rId3"/>
          <a:stretch>
            <a:fillRect/>
          </a:stretch>
        </p:blipFill>
        <p:spPr>
          <a:xfrm>
            <a:off x="7159752" y="1581912"/>
            <a:ext cx="356616" cy="356616"/>
          </a:xfrm>
          <a:prstGeom prst="rect">
            <a:avLst/>
          </a:prstGeom>
        </p:spPr>
      </p:pic>
      <p:sp>
        <p:nvSpPr>
          <p:cNvPr id="16" name="Text 11"/>
          <p:cNvSpPr txBox="1"/>
          <p:nvPr/>
        </p:nvSpPr>
        <p:spPr>
          <a:xfrm>
            <a:off x="6217920" y="2240280"/>
            <a:ext cx="2240280" cy="41148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Evidence first</a:t>
            </a:r>
            <a:endParaRPr lang="en-US" sz="1700" dirty="0"/>
          </a:p>
        </p:txBody>
      </p:sp>
      <p:sp>
        <p:nvSpPr>
          <p:cNvPr id="17" name="Text 12"/>
          <p:cNvSpPr txBox="1"/>
          <p:nvPr/>
        </p:nvSpPr>
        <p:spPr>
          <a:xfrm>
            <a:off x="6217920" y="2651760"/>
            <a:ext cx="2240280" cy="822960"/>
          </a:xfrm>
          <a:prstGeom prst="rect">
            <a:avLst/>
          </a:prstGeom>
          <a:noFill/>
          <a:ln/>
        </p:spPr>
        <p:txBody>
          <a:bodyPr wrap="square" lIns="0" tIns="0" rIns="0" bIns="0" rtlCol="0" anchor="t"/>
          <a:lstStyle/>
          <a:p>
            <a:pPr algn="ctr" indent="0" marL="0">
              <a:buNone/>
            </a:pPr>
            <a:r>
              <a:rPr lang="en-US" sz="1300" dirty="0">
                <a:solidFill>
                  <a:srgbClr val="D9E1EA"/>
                </a:solidFill>
                <a:latin typeface="Calibri" pitchFamily="34" charset="0"/>
                <a:ea typeface="Calibri" pitchFamily="34" charset="-122"/>
                <a:cs typeface="Calibri" pitchFamily="34" charset="-120"/>
              </a:rPr>
              <a:t>"No quantum computer needed" is a result, not a failure.</a:t>
            </a:r>
            <a:endParaRPr lang="en-US" sz="1300" dirty="0"/>
          </a:p>
        </p:txBody>
      </p:sp>
      <p:sp>
        <p:nvSpPr>
          <p:cNvPr id="18" name="Text 13"/>
          <p:cNvSpPr txBox="1"/>
          <p:nvPr/>
        </p:nvSpPr>
        <p:spPr>
          <a:xfrm>
            <a:off x="457200" y="3931920"/>
            <a:ext cx="8229600" cy="548640"/>
          </a:xfrm>
          <a:prstGeom prst="rect">
            <a:avLst/>
          </a:prstGeom>
          <a:noFill/>
          <a:ln/>
        </p:spPr>
        <p:txBody>
          <a:bodyPr wrap="square" lIns="0" tIns="0" rIns="0" bIns="0" rtlCol="0" anchor="ctr"/>
          <a:lstStyle/>
          <a:p>
            <a:pPr algn="ctr" indent="0" marL="0">
              <a:buNone/>
            </a:pPr>
            <a:r>
              <a:rPr lang="en-US" sz="1500" i="1" dirty="0">
                <a:solidFill>
                  <a:srgbClr val="F3C9B8"/>
                </a:solidFill>
                <a:latin typeface="Calibri" pitchFamily="34" charset="0"/>
                <a:ea typeface="Calibri" pitchFamily="34" charset="-122"/>
                <a:cs typeface="Calibri" pitchFamily="34" charset="-120"/>
              </a:rPr>
              <a:t>Uncertain hardware becomes a managed condition: every phase delivers value on its own.</a:t>
            </a:r>
            <a:endParaRPr lang="en-US" sz="1500" dirty="0"/>
          </a:p>
        </p:txBody>
      </p:sp>
      <p:sp>
        <p:nvSpPr>
          <p:cNvPr id="19" name="Text 14"/>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AAB6C4"/>
                </a:solidFill>
                <a:latin typeface="Calibri" pitchFamily="34" charset="0"/>
                <a:ea typeface="Calibri" pitchFamily="34" charset="-122"/>
                <a:cs typeface="Calibri" pitchFamily="34" charset="-120"/>
              </a:rPr>
              <a:t>Presenter: Doron Cohen</a:t>
            </a:r>
            <a:endParaRPr lang="en-US" sz="900" dirty="0"/>
          </a:p>
        </p:txBody>
      </p:sp>
      <p:sp>
        <p:nvSpPr>
          <p:cNvPr id="20" name="Text 15"/>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AAB6C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4160520" y="822960"/>
            <a:ext cx="822960" cy="822960"/>
          </a:xfrm>
          <a:prstGeom prst="ellipse">
            <a:avLst/>
          </a:prstGeom>
          <a:solidFill>
            <a:srgbClr val="B8441F"/>
          </a:solidFill>
          <a:ln w="12700">
            <a:solidFill>
              <a:srgbClr val="B8441F"/>
            </a:solidFill>
            <a:prstDash val="solid"/>
          </a:ln>
        </p:spPr>
      </p:sp>
      <p:pic>
        <p:nvPicPr>
          <p:cNvPr id="3" name="Image 0" descr="preencoded.png">    </p:cNvPr>
          <p:cNvPicPr>
            <a:picLocks noChangeAspect="1"/>
          </p:cNvPicPr>
          <p:nvPr/>
        </p:nvPicPr>
        <p:blipFill>
          <a:blip r:embed="rId1"/>
          <a:stretch>
            <a:fillRect/>
          </a:stretch>
        </p:blipFill>
        <p:spPr>
          <a:xfrm>
            <a:off x="4358030" y="1020470"/>
            <a:ext cx="427939" cy="427939"/>
          </a:xfrm>
          <a:prstGeom prst="rect">
            <a:avLst/>
          </a:prstGeom>
        </p:spPr>
      </p:pic>
      <p:sp>
        <p:nvSpPr>
          <p:cNvPr id="4" name="Text 1"/>
          <p:cNvSpPr txBox="1"/>
          <p:nvPr/>
        </p:nvSpPr>
        <p:spPr>
          <a:xfrm>
            <a:off x="457200" y="1828800"/>
            <a:ext cx="822960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txBox="1"/>
          <p:nvPr/>
        </p:nvSpPr>
        <p:spPr>
          <a:xfrm>
            <a:off x="457200" y="2560320"/>
            <a:ext cx="8229600" cy="411480"/>
          </a:xfrm>
          <a:prstGeom prst="rect">
            <a:avLst/>
          </a:prstGeom>
          <a:noFill/>
          <a:ln/>
        </p:spPr>
        <p:txBody>
          <a:bodyPr wrap="square" lIns="0" tIns="0" rIns="0" bIns="0" rtlCol="0" anchor="t"/>
          <a:lstStyle/>
          <a:p>
            <a:pPr algn="ctr" indent="0" marL="0">
              <a:buNone/>
            </a:pPr>
            <a:r>
              <a:rPr lang="en-US" sz="1800" dirty="0">
                <a:solidFill>
                  <a:srgbClr val="D9E1EA"/>
                </a:solidFill>
                <a:latin typeface="Calibri" pitchFamily="34" charset="0"/>
                <a:ea typeface="Calibri" pitchFamily="34" charset="-122"/>
                <a:cs typeface="Calibri" pitchFamily="34" charset="-120"/>
              </a:rPr>
              <a:t>Questions and discussion</a:t>
            </a:r>
            <a:endParaRPr lang="en-US" sz="1800" dirty="0"/>
          </a:p>
        </p:txBody>
      </p:sp>
      <p:sp>
        <p:nvSpPr>
          <p:cNvPr id="6" name="Text 3"/>
          <p:cNvSpPr txBox="1"/>
          <p:nvPr/>
        </p:nvSpPr>
        <p:spPr>
          <a:xfrm>
            <a:off x="457200" y="3291840"/>
            <a:ext cx="82296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Doron Cohen  |  Manuel Blanco  |  Amit Mekel</a:t>
            </a:r>
            <a:endParaRPr lang="en-US" sz="1400" dirty="0"/>
          </a:p>
        </p:txBody>
      </p:sp>
      <p:sp>
        <p:nvSpPr>
          <p:cNvPr id="7" name="Text 4"/>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AAB6C4"/>
                </a:solidFill>
                <a:latin typeface="Calibri" pitchFamily="34" charset="0"/>
                <a:ea typeface="Calibri" pitchFamily="34" charset="-122"/>
                <a:cs typeface="Calibri" pitchFamily="34" charset="-120"/>
              </a:rPr>
              <a:t>Presenter: Doron Cohen</a:t>
            </a:r>
            <a:endParaRPr lang="en-US" sz="900" dirty="0"/>
          </a:p>
        </p:txBody>
      </p:sp>
      <p:sp>
        <p:nvSpPr>
          <p:cNvPr id="8" name="Text 5"/>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AAB6C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References</a:t>
            </a:r>
            <a:endParaRPr lang="en-US" sz="2800" dirty="0"/>
          </a:p>
        </p:txBody>
      </p:sp>
      <p:sp>
        <p:nvSpPr>
          <p:cNvPr id="3" name="Text 1"/>
          <p:cNvSpPr txBox="1"/>
          <p:nvPr/>
        </p:nvSpPr>
        <p:spPr>
          <a:xfrm>
            <a:off x="457200" y="914400"/>
            <a:ext cx="8229600" cy="3794760"/>
          </a:xfrm>
          <a:prstGeom prst="rect">
            <a:avLst/>
          </a:prstGeom>
          <a:noFill/>
          <a:ln/>
        </p:spPr>
        <p:txBody>
          <a:bodyPr wrap="square" lIns="0" tIns="0" rIns="0" bIns="0" rtlCol="0" anchor="t"/>
          <a:lstStyle/>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The ASCO Post. (2026, March 13). p53 reactivator rezatapopt in TP53 Y220C-mutated solid tumors. https://ascopost.com/news/march-2026/p53-reactivator-rezatapopt-in-tp53-y220c-mutated-solid-tumors/</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Bray, F., Laversanne, M., Sung, H., Ferlay, J., Siegel, R. L., Soerjomataram, I., &amp; Jemal, A. (2024). Global cancer statistics 2022: GLOBOCAN estimates of incidence and mortality worldwide for 36 cancers in 185 countries. CA: A Cancer Journal for Clinicians, 74(3), 229-263. https://doi.org/10.3322/caac.21834</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Cleveland Clinic. (2023, March 20). Cleveland Clinic and IBM unveil first quantum computer dedicated to healthcare research [Press release]. https://newsroom.clevelandclinic.org/2023/03/20/cleveland-clinic-and-ibm-unveil-first-quantum-computer-dedicated-to-healthcare-research</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Cohen, D. (2026a). Deciding when quantum computation is warranted: A governed instrument for classical-tractability adjudication in non-druggable oncology [Doctoral dissertation proposal, Claremont Graduate University]. https://nsclc-quantum-viewer.netlify.app/dissertation_revised</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Cohen, D. (2026b). A governed QC-AI-HPC architecture for deciding when quantum computation is warranted in non-druggable oncology [Unpublished manuscript prepared for arXiv submission]. Claremont Graduate University. https://github.com/doron66-collab/lili2014/tree/main/arxiv</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IBM. (2025a, June 10). How IBM will build the world's first large-scale, fault-tolerant quantum computer. IBM Quantum Computing Blog. https://www.ibm.com/quantum/blog/large-scale-ftqc</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IBM. (2025b, November 12). Scaling for quantum advantage and beyond. IBM Quantum Computing Blog. https://www.ibm.com/quantum/blog/qdc-2025</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Kim, Y., Eddins, A., Anand, S., Wei, K. X., van den Berg, E., Rosenblatt, S., Nayfeh, H., Wu, Y., Zaletel, M., Temme, K., &amp; Kandala, A. (2023). Evidence for the utility of quantum computing before fault tolerance. Nature, 618, 500-505. https://doi.org/10.1038/s41586-023-06096-3</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Lee, S., Lee, J., Zhai, H., Tong, Y., Dalzell, A. M., Kumar, A., Helms, P., Gray, J., Cui, Z.-H., Liu, W., Kastoryano, M., Babbush, R., Preskill, J., Reichman, D. R., Campbell, E. T., Valeev, E. F., Lin, L., &amp; Chan, G. K.-L. (2023). Evaluating the evidence for exponential quantum advantage in ground-state quantum chemistry. Nature Communications, 14, Article 1952. https://doi.org/10.1038/s41467-023-37587-6</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Ostrem, J. M., Peters, U., Sos, M. L., Wells, J. A., &amp; Shokat, K. M. (2013). K-Ras(G12C) inhibitors allosterically control GTP affinity and effector interactions. Nature, 503, 548-551. https://doi.org/10.1038/nature12796</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Project Management Institute. (2021). A guide to the project management body of knowledge (PMBOK guide) (7th ed.). Project Management Institute.</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Rittel, H. W. J., &amp; Webber, M. M. (1972). Dilemmas in a general theory of planning (Working Paper No. 194). Institute of Urban and Regional Development, University of California, Berkeley. https://escholarship.org/uc/item/01v4t1c9</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Schirber, M. (2024). A moving target for quantum advantage. Physics, 17, 13. https://physics.aps.org/articles/v17/13</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Strickland, E. (2019, April 2). How IBM Watson overpromised and underdelivered on AI health care. IEEE Spectrum. https://spectrum.ieee.org/how-ibm-watson-overpromised-and-underdelivered-on-ai-health-care</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U.S. Food and Drug Administration. (2003). Part 11, electronic records; electronic signatures: Scope and application [Guidance for industry]. https://www.fda.gov/regulatory-information/search-fda-guidance-documents/part-11-electronic-records-electronic-signatures-scope-and-application</a:t>
            </a:r>
            <a:endParaRPr lang="en-US" sz="750" dirty="0"/>
          </a:p>
          <a:p>
            <a:pPr indent="0" marL="0">
              <a:spcAft>
                <a:spcPts val="200"/>
              </a:spcAft>
              <a:buNone/>
            </a:pPr>
            <a:r>
              <a:rPr lang="en-US" sz="750" dirty="0">
                <a:solidFill>
                  <a:srgbClr val="1F2933"/>
                </a:solidFill>
                <a:latin typeface="Calibri" pitchFamily="34" charset="0"/>
                <a:ea typeface="Calibri" pitchFamily="34" charset="-122"/>
                <a:cs typeface="Calibri" pitchFamily="34" charset="-120"/>
              </a:rPr>
              <a:t>U.S. Food and Drug Administration. (2021, May 28). FDA grants accelerated approval to sotorasib for KRAS G12C mutated NSCLC. https://www.fda.gov/drugs/resources-information-approved-drugs/fda-grants-accelerated-approval-sotorasib-kras-g12c-mutated-nsclc</a:t>
            </a:r>
            <a:endParaRPr lang="en-US" sz="750" dirty="0"/>
          </a:p>
        </p:txBody>
      </p:sp>
      <p:sp>
        <p:nvSpPr>
          <p:cNvPr id="4" name="Text 2"/>
          <p:cNvSpPr txBox="1"/>
          <p:nvPr/>
        </p:nvSpPr>
        <p:spPr>
          <a:xfrm>
            <a:off x="457200" y="4773168"/>
            <a:ext cx="3657600" cy="22860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Presenter: Not presented</a:t>
            </a:r>
            <a:endParaRPr lang="en-US" sz="900" dirty="0"/>
          </a:p>
        </p:txBody>
      </p:sp>
      <p:sp>
        <p:nvSpPr>
          <p:cNvPr id="5" name="Text 3"/>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SOLANGE: Planning a Quantum-Oncology Research Platform</dc:title>
  <dc:subject>PptxGenJS Presentation</dc:subject>
  <dc:creator>Doron Cohen, Manuel Blanco, Amit Mekel</dc:creator>
  <cp:lastModifiedBy>Doron Cohen, Manuel Blanco, Amit Mekel</cp:lastModifiedBy>
  <cp:revision>1</cp:revision>
  <dcterms:created xsi:type="dcterms:W3CDTF">2026-09-25T13:34:26Z</dcterms:created>
  <dcterms:modified xsi:type="dcterms:W3CDTF">2026-09-25T13:34:26Z</dcterms:modified>
</cp:coreProperties>
</file>