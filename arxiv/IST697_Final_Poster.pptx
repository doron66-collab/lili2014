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219456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71"/>
    <p:restoredTop sz="94610"/>
  </p:normalViewPr>
  <p:slideViewPr>
    <p:cSldViewPr snapToGrid="0" snapToObjects="1">
      <p:cViewPr>
        <p:scale>
          <a:sx n="87" d="100"/>
          <a:sy n="87" d="100"/>
        </p:scale>
        <p:origin x="144" y="-3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976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0" cy="164592"/>
          </a:xfrm>
          <a:prstGeom prst="rect">
            <a:avLst/>
          </a:prstGeom>
          <a:solidFill>
            <a:srgbClr val="C75A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cgu_log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82878"/>
            <a:ext cx="4023360" cy="1463040"/>
          </a:xfrm>
          <a:prstGeom prst="rect">
            <a:avLst/>
          </a:prstGeom>
        </p:spPr>
      </p:pic>
      <p:pic>
        <p:nvPicPr>
          <p:cNvPr id="4" name="Image 1" descr="ai4h_logo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640726"/>
            <a:ext cx="4023360" cy="13378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54880" y="423708"/>
            <a:ext cx="2240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Georgia" pitchFamily="34" charset="0"/>
              </a:rPr>
              <a:t>Deciding</a:t>
            </a:r>
            <a:r>
              <a:rPr lang="en-US" sz="4000" b="1" dirty="0">
                <a:solidFill>
                  <a:srgbClr val="1F1409"/>
                </a:solidFill>
                <a:latin typeface="Georgia" pitchFamily="34" charset="0"/>
              </a:rPr>
              <a:t> When Quantum Computation Is Warranted: A Governed Instrument for Classical-Tractability Adjudication in Non-Druggable Oncology</a:t>
            </a:r>
          </a:p>
        </p:txBody>
      </p:sp>
      <p:sp>
        <p:nvSpPr>
          <p:cNvPr id="6" name="Text 2"/>
          <p:cNvSpPr/>
          <p:nvPr/>
        </p:nvSpPr>
        <p:spPr>
          <a:xfrm>
            <a:off x="4754880" y="2240280"/>
            <a:ext cx="2240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5C4A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Design Science approach to translating quantum-computed molecular evidence into governed, reproducible, clinically-accessible knowledge.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7432000" y="411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kern="0" spc="800" dirty="0">
                <a:solidFill>
                  <a:srgbClr val="5C4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DISSERTATION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0284287" y="1051560"/>
            <a:ext cx="23421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solange-platform</a:t>
            </a:r>
            <a:r>
              <a:rPr lang="en-US" sz="2000" b="1" dirty="0" err="1">
                <a:solidFill>
                  <a:srgbClr val="C7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.bio</a:t>
            </a:r>
            <a:endParaRPr lang="en-US" sz="2000" dirty="0"/>
          </a:p>
        </p:txBody>
      </p:sp>
      <p:sp>
        <p:nvSpPr>
          <p:cNvPr id="10" name="Shape 5"/>
          <p:cNvSpPr/>
          <p:nvPr/>
        </p:nvSpPr>
        <p:spPr>
          <a:xfrm>
            <a:off x="457200" y="3840480"/>
            <a:ext cx="32004000" cy="0"/>
          </a:xfrm>
          <a:prstGeom prst="line">
            <a:avLst/>
          </a:prstGeom>
          <a:noFill/>
          <a:ln w="50800">
            <a:solidFill>
              <a:srgbClr val="C7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>
            <a:off x="558437" y="4121334"/>
            <a:ext cx="9601200" cy="6492240"/>
          </a:xfrm>
          <a:prstGeom prst="rect">
            <a:avLst/>
          </a:prstGeom>
          <a:solidFill>
            <a:srgbClr val="F8F2E5"/>
          </a:solidFill>
          <a:ln w="12700">
            <a:solidFill>
              <a:srgbClr val="E0D4BE"/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777240" y="43434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C7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868680" y="4841126"/>
            <a:ext cx="8961120" cy="1004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1F1409"/>
                </a:solidFill>
                <a:latin typeface="Georgia" pitchFamily="34" charset="0"/>
              </a:rPr>
              <a:t>Non-druggable</a:t>
            </a:r>
            <a:r>
              <a:rPr lang="en-US" sz="2800" b="1" dirty="0">
                <a:solidFill>
                  <a:srgbClr val="1F14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TP53 mutations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1F14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exceed classical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F14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computational chemistry.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777240" y="5729197"/>
            <a:ext cx="8961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of NSCLC patients</a:t>
            </a: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have no FDA-approved targeted therapy. TP53 structural mutants like </a:t>
            </a:r>
            <a:r>
              <a:rPr lang="en-US" sz="2000" b="1" dirty="0">
                <a:solidFill>
                  <a:srgbClr val="C73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p.Cys275Phe (C275F)</a:t>
            </a: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disrupt the DNA-binding interface at the loop-sheet-helix region - no exploitable cavity for conventional drug design.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777240" y="7269762"/>
            <a:ext cx="8961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2000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(B3LYP)</a:t>
            </a: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2-4 kcal/mol error → ΔG shifts x5</a:t>
            </a:r>
            <a:r>
              <a:rPr lang="he-IL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→ candidate misclassification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2000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CCSD(T)</a:t>
            </a: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gold standard, but O(N⁷) infeasible at 48 active electrons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2000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</a:t>
            </a: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O(2ⁿ) ~ 10¹³ ops at N=48 - intractable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777240" y="8787384"/>
            <a:ext cx="9304020" cy="1507451"/>
          </a:xfrm>
          <a:prstGeom prst="rect">
            <a:avLst/>
          </a:prstGeom>
          <a:solidFill>
            <a:srgbClr val="E8C7B4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10287000" y="4114800"/>
            <a:ext cx="12344400" cy="6492240"/>
          </a:xfrm>
          <a:prstGeom prst="rect">
            <a:avLst/>
          </a:prstGeom>
          <a:solidFill>
            <a:srgbClr val="F8F2E5"/>
          </a:solidFill>
          <a:ln w="12700">
            <a:solidFill>
              <a:srgbClr val="E0D4B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10607040" y="4343400"/>
            <a:ext cx="1170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C7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 ·  THREE-LAYER ARCHITECTURE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0561320" y="4800600"/>
            <a:ext cx="11795760" cy="566928"/>
          </a:xfrm>
          <a:prstGeom prst="rect">
            <a:avLst/>
          </a:prstGeom>
          <a:solidFill>
            <a:srgbClr val="FFFCF6"/>
          </a:solidFill>
          <a:ln w="15875">
            <a:solidFill>
              <a:srgbClr val="C00000"/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10698480" y="4818888"/>
            <a:ext cx="11521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PATIENT INPUT  </a:t>
            </a:r>
            <a:r>
              <a:rPr lang="en-US" dirty="0">
                <a:solidFill>
                  <a:srgbClr val="5C4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Patient case MI25-0349 · TP53 C275F · non-druggable tumor-suppressor mutation</a:t>
            </a: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10561320" y="5513832"/>
            <a:ext cx="11795760" cy="1508760"/>
          </a:xfrm>
          <a:prstGeom prst="rect">
            <a:avLst/>
          </a:prstGeom>
          <a:solidFill>
            <a:srgbClr val="E8C7B4"/>
          </a:solidFill>
          <a:ln w="19050">
            <a:solidFill>
              <a:srgbClr val="C7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10725912" y="5559552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7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·  CONTRIBUTION </a:t>
            </a:r>
            <a:r>
              <a:rPr lang="en-US" sz="1300" i="1" dirty="0">
                <a:solidFill>
                  <a:srgbClr val="C7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dissertation)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0725912" y="5925312"/>
            <a:ext cx="11521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BQP-relevance classification framework - non-druggable tumor-suppressor mutations </a:t>
            </a:r>
            <a:endParaRPr lang="en-US" dirty="0"/>
          </a:p>
          <a:p>
            <a:pPr marL="285750" indent="-2857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Translational orchestration - oncology-specific · Part-11-governed · bifurcation-aware </a:t>
            </a:r>
            <a:endParaRPr lang="en-US" dirty="0"/>
          </a:p>
          <a:p>
            <a:pPr marL="285750" indent="-2857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21 CFR Part 11 framework with ML-decoder provenance, P1 - P9 </a:t>
            </a:r>
            <a:endParaRPr lang="en-US" dirty="0"/>
          </a:p>
        </p:txBody>
      </p:sp>
      <p:sp>
        <p:nvSpPr>
          <p:cNvPr id="25" name="Shape 20"/>
          <p:cNvSpPr/>
          <p:nvPr/>
        </p:nvSpPr>
        <p:spPr>
          <a:xfrm>
            <a:off x="10561320" y="7141464"/>
            <a:ext cx="11795760" cy="1691640"/>
          </a:xfrm>
          <a:prstGeom prst="rect">
            <a:avLst/>
          </a:prstGeom>
          <a:solidFill>
            <a:srgbClr val="FFFCF6"/>
          </a:solidFill>
          <a:ln w="9525">
            <a:solidFill>
              <a:srgbClr val="B89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10725912" y="7187184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·  HYBRID INTEGRATION SUBSTRATE  </a:t>
            </a:r>
            <a:r>
              <a:rPr lang="en-US" sz="1300" i="1" dirty="0">
                <a:solidFill>
                  <a:srgbClr val="5C4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(commodity)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10725912" y="7552944"/>
            <a:ext cx="11521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orchestration - pull-based agent, USC CARC 'Laguna' · no stored credentials</a:t>
            </a:r>
          </a:p>
          <a:p>
            <a:pPr marL="285750" indent="-2857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Active-space selection - AVAS (</a:t>
            </a:r>
            <a:r>
              <a:rPr lang="en-US" dirty="0" err="1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PySCF</a:t>
            </a:r>
            <a:r>
              <a:rPr lang="en-US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n-US" dirty="0" err="1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</a:t>
            </a:r>
            <a:r>
              <a:rPr lang="en-US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-built fragments from real PDB coords</a:t>
            </a:r>
          </a:p>
          <a:p>
            <a:pPr marL="285750" indent="-2857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Classical-tractability classifier - block2 DMRG, </a:t>
            </a:r>
            <a:r>
              <a:rPr lang="el-GR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r>
              <a:rPr lang="en-US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E&lt;1.6 </a:t>
            </a:r>
            <a:r>
              <a:rPr lang="en-US" dirty="0" err="1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</a:t>
            </a:r>
            <a:r>
              <a:rPr lang="en-US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convergence</a:t>
            </a:r>
          </a:p>
          <a:p>
            <a:pPr marL="285750" indent="-2857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execution - PennyLane VQE (3A) · IBM Heron r3 (3B)</a:t>
            </a:r>
            <a:endParaRPr lang="en-US" dirty="0"/>
          </a:p>
        </p:txBody>
      </p:sp>
      <p:sp>
        <p:nvSpPr>
          <p:cNvPr id="28" name="Shape 23"/>
          <p:cNvSpPr/>
          <p:nvPr/>
        </p:nvSpPr>
        <p:spPr>
          <a:xfrm>
            <a:off x="10561320" y="8951976"/>
            <a:ext cx="11795760" cy="1563624"/>
          </a:xfrm>
          <a:prstGeom prst="rect">
            <a:avLst/>
          </a:prstGeom>
          <a:solidFill>
            <a:srgbClr val="FFFCF6"/>
          </a:solidFill>
          <a:ln w="9525">
            <a:solidFill>
              <a:srgbClr val="B89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10725912" y="894808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·  QUANTUM KERNEL  </a:t>
            </a:r>
            <a:r>
              <a:rPr lang="en-US" sz="1300" i="1" dirty="0">
                <a:solidFill>
                  <a:srgbClr val="5C4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(scientific anchor)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10725912" y="9205633"/>
            <a:ext cx="10801678" cy="1247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Heron r3 · 156 qubits · heavy-hex lattice · improved gate/readout fidelity (IBM Quantum 2026,</a:t>
            </a:r>
            <a:r>
              <a:rPr lang="he-IL" sz="16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</a:t>
            </a:r>
            <a:r>
              <a:rPr lang="en-US" sz="1600" dirty="0" err="1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ibm_pittsburgh</a:t>
            </a:r>
            <a:r>
              <a:rPr lang="en-US" sz="16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 err="1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SqDRIFT</a:t>
            </a:r>
            <a:r>
              <a:rPr lang="en-US" sz="16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sample-based quantum diagonalization (</a:t>
            </a:r>
            <a:r>
              <a:rPr lang="en-US" sz="1600" dirty="0" err="1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Trotterized</a:t>
            </a:r>
            <a:r>
              <a:rPr lang="en-US" sz="16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stochastic drift)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anchor: 32-electron / 100-qubit C₁₃Cl₂ benchmark (IBM Research 2026, arXiv:2603.08696)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roadmap · Starling 2029: 200 logical qubits · C275F (24–56q) within trajectory</a:t>
            </a:r>
          </a:p>
        </p:txBody>
      </p:sp>
      <p:sp>
        <p:nvSpPr>
          <p:cNvPr id="32" name="Shape 27"/>
          <p:cNvSpPr/>
          <p:nvPr/>
        </p:nvSpPr>
        <p:spPr>
          <a:xfrm>
            <a:off x="22860000" y="4114800"/>
            <a:ext cx="9601200" cy="6492240"/>
          </a:xfrm>
          <a:prstGeom prst="rect">
            <a:avLst/>
          </a:prstGeom>
          <a:solidFill>
            <a:srgbClr val="F8F2E5"/>
          </a:solidFill>
          <a:ln w="12700">
            <a:solidFill>
              <a:srgbClr val="E0D4BE"/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23180040" y="43434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C7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</a:t>
            </a:r>
            <a:endParaRPr lang="en-US" sz="1800" dirty="0"/>
          </a:p>
        </p:txBody>
      </p:sp>
      <p:sp>
        <p:nvSpPr>
          <p:cNvPr id="34" name="Text 29"/>
          <p:cNvSpPr/>
          <p:nvPr/>
        </p:nvSpPr>
        <p:spPr>
          <a:xfrm>
            <a:off x="23180040" y="480060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14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Live, deployed,</a:t>
            </a:r>
            <a:r>
              <a:rPr lang="he-IL" sz="3200" dirty="0"/>
              <a:t> </a:t>
            </a:r>
            <a:r>
              <a:rPr lang="en-US" sz="3200" b="1" dirty="0">
                <a:solidFill>
                  <a:srgbClr val="1F14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navigable</a:t>
            </a:r>
            <a:endParaRPr lang="en-US" sz="3200" dirty="0"/>
          </a:p>
        </p:txBody>
      </p:sp>
      <p:sp>
        <p:nvSpPr>
          <p:cNvPr id="35" name="Text 30"/>
          <p:cNvSpPr/>
          <p:nvPr/>
        </p:nvSpPr>
        <p:spPr>
          <a:xfrm>
            <a:off x="23180039" y="5984548"/>
            <a:ext cx="81000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QC·AI·HPC platform on Netlify - anchored in real NGS data </a:t>
            </a:r>
            <a:r>
              <a:rPr lang="en-US" sz="2000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(MI25-0349)</a:t>
            </a: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3D molecular viewer · 8 DMRG-classified targets · six-screen workflow.</a:t>
            </a:r>
            <a:endParaRPr lang="en-US" sz="2000" dirty="0"/>
          </a:p>
        </p:txBody>
      </p:sp>
      <p:sp>
        <p:nvSpPr>
          <p:cNvPr id="36" name="Text 31"/>
          <p:cNvSpPr/>
          <p:nvPr/>
        </p:nvSpPr>
        <p:spPr>
          <a:xfrm>
            <a:off x="23180040" y="7181313"/>
            <a:ext cx="8961120" cy="2754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2000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DMRG-classified targets - </a:t>
            </a: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C275F, R175H, G245S, R249S, R282W, KEAP1 G333C, STK11 D194N, SETD2 R1625C; all measured Class B.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2000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Mutation-aware Hamiltonian</a:t>
            </a: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mutation class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2000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P1-P9 audit-trace emission</a:t>
            </a: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(ML-decoder lineage conditional)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2000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Cross-disciplinary views</a:t>
            </a: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oncology, pharma, hospital IT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2000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Bifurcation-aware backend</a:t>
            </a: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2000" dirty="0" err="1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</a:t>
            </a: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 today · CUDA-Q-compatible for Heron r3)</a:t>
            </a:r>
            <a:endParaRPr lang="en-US" sz="2000" dirty="0"/>
          </a:p>
        </p:txBody>
      </p:sp>
      <p:sp>
        <p:nvSpPr>
          <p:cNvPr id="37" name="Text 32"/>
          <p:cNvSpPr/>
          <p:nvPr/>
        </p:nvSpPr>
        <p:spPr>
          <a:xfrm>
            <a:off x="23180040" y="101041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solange-platform.bio</a:t>
            </a:r>
            <a:endParaRPr lang="en-US" sz="1600" dirty="0"/>
          </a:p>
        </p:txBody>
      </p:sp>
      <p:sp>
        <p:nvSpPr>
          <p:cNvPr id="38" name="Shape 33"/>
          <p:cNvSpPr/>
          <p:nvPr/>
        </p:nvSpPr>
        <p:spPr>
          <a:xfrm>
            <a:off x="499755" y="10879878"/>
            <a:ext cx="16002000" cy="5394960"/>
          </a:xfrm>
          <a:prstGeom prst="rect">
            <a:avLst/>
          </a:prstGeom>
          <a:solidFill>
            <a:srgbClr val="F8F2E5"/>
          </a:solidFill>
          <a:ln w="12700">
            <a:solidFill>
              <a:srgbClr val="E0D4BE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777240" y="11109960"/>
            <a:ext cx="1536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C7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TP53 C275F QUANTUM SIMULATION</a:t>
            </a:r>
            <a:endParaRPr lang="en-US" sz="1800" dirty="0"/>
          </a:p>
        </p:txBody>
      </p:sp>
      <p:sp>
        <p:nvSpPr>
          <p:cNvPr id="40" name="Text 35"/>
          <p:cNvSpPr/>
          <p:nvPr/>
        </p:nvSpPr>
        <p:spPr>
          <a:xfrm>
            <a:off x="777240" y="11567160"/>
            <a:ext cx="1536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14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active site - visualized,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F14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navigable, BQP-classified.</a:t>
            </a:r>
            <a:endParaRPr lang="en-US" sz="2800" dirty="0"/>
          </a:p>
        </p:txBody>
      </p:sp>
      <p:sp>
        <p:nvSpPr>
          <p:cNvPr id="42" name="Text 36"/>
          <p:cNvSpPr/>
          <p:nvPr/>
        </p:nvSpPr>
        <p:spPr>
          <a:xfrm>
            <a:off x="777240" y="1271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3D viewer:</a:t>
            </a:r>
            <a:endParaRPr lang="en-US" sz="2400" dirty="0"/>
          </a:p>
        </p:txBody>
      </p:sp>
      <p:sp>
        <p:nvSpPr>
          <p:cNvPr id="43" name="Text 37"/>
          <p:cNvSpPr/>
          <p:nvPr/>
        </p:nvSpPr>
        <p:spPr>
          <a:xfrm>
            <a:off x="777240" y="13121640"/>
            <a:ext cx="75620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C275F + candidate ligand </a:t>
            </a:r>
            <a:r>
              <a:rPr lang="en-US" sz="2000" i="1" dirty="0">
                <a:solidFill>
                  <a:srgbClr val="5C4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(Eprenetapopt / APR-246)</a:t>
            </a: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shown at the loop-sheet-helix DNA-contact region (illustrative)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Encircling rings: </a:t>
            </a:r>
            <a:r>
              <a:rPr lang="en-US" sz="2000" i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wavefunction visualization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field: </a:t>
            </a:r>
            <a:r>
              <a:rPr lang="en-US" sz="2000" i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active-space region (illustrative)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24–56-qubit BQP target </a:t>
            </a: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IBM Heron r3 capacity</a:t>
            </a:r>
            <a:endParaRPr lang="en-US" sz="2000" dirty="0"/>
          </a:p>
        </p:txBody>
      </p:sp>
      <p:sp>
        <p:nvSpPr>
          <p:cNvPr id="44" name="Shape 38"/>
          <p:cNvSpPr/>
          <p:nvPr/>
        </p:nvSpPr>
        <p:spPr>
          <a:xfrm>
            <a:off x="16821795" y="10908792"/>
            <a:ext cx="15773400" cy="5861947"/>
          </a:xfrm>
          <a:prstGeom prst="rect">
            <a:avLst/>
          </a:prstGeom>
          <a:solidFill>
            <a:srgbClr val="F8F2E5"/>
          </a:solidFill>
          <a:ln w="12700">
            <a:solidFill>
              <a:srgbClr val="E0D4BE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17007840" y="11109960"/>
            <a:ext cx="1513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C7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BENCHMARKING  ·  QC vs DFT vs CCSD(T)</a:t>
            </a:r>
            <a:endParaRPr lang="en-US" sz="1800" dirty="0"/>
          </a:p>
        </p:txBody>
      </p:sp>
      <p:sp>
        <p:nvSpPr>
          <p:cNvPr id="46" name="Text 40"/>
          <p:cNvSpPr/>
          <p:nvPr/>
        </p:nvSpPr>
        <p:spPr>
          <a:xfrm>
            <a:off x="17007840" y="11567160"/>
            <a:ext cx="1513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14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comparison at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F14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C275F active-space boundary.</a:t>
            </a:r>
            <a:endParaRPr lang="en-US" sz="2600" dirty="0"/>
          </a:p>
        </p:txBody>
      </p:sp>
      <p:sp>
        <p:nvSpPr>
          <p:cNvPr id="48" name="Text 41"/>
          <p:cNvSpPr/>
          <p:nvPr/>
        </p:nvSpPr>
        <p:spPr>
          <a:xfrm>
            <a:off x="17007840" y="12889767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platform outputs:</a:t>
            </a:r>
            <a:endParaRPr lang="en-US" sz="2400" dirty="0"/>
          </a:p>
        </p:txBody>
      </p:sp>
      <p:sp>
        <p:nvSpPr>
          <p:cNvPr id="49" name="Text 42"/>
          <p:cNvSpPr/>
          <p:nvPr/>
        </p:nvSpPr>
        <p:spPr>
          <a:xfrm>
            <a:off x="17007840" y="13301247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*DFT B3LYP:</a:t>
            </a: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−8.4 kcal/mol  (2.8 error - outside chemical accuracy)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C7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2000" b="1" dirty="0" err="1">
                <a:solidFill>
                  <a:srgbClr val="C7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sqDRIFT</a:t>
            </a:r>
            <a:r>
              <a:rPr lang="en-US" sz="2000" b="1" dirty="0">
                <a:solidFill>
                  <a:srgbClr val="C7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(Phase 3B target):</a:t>
            </a: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≤1 kcal/mol error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*CCSD(T) reference:</a:t>
            </a:r>
            <a:r>
              <a:rPr lang="en-US" sz="2000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−11.2 kcal/mol</a:t>
            </a:r>
            <a:endParaRPr lang="en-US" sz="2000" dirty="0"/>
          </a:p>
        </p:txBody>
      </p:sp>
      <p:sp>
        <p:nvSpPr>
          <p:cNvPr id="50" name="Text 43"/>
          <p:cNvSpPr/>
          <p:nvPr/>
        </p:nvSpPr>
        <p:spPr>
          <a:xfrm>
            <a:off x="17007840" y="1545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C73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framework</a:t>
            </a:r>
            <a:r>
              <a:rPr lang="en-US" sz="1600" i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itself an original IT contribution.</a:t>
            </a:r>
          </a:p>
        </p:txBody>
      </p:sp>
      <p:sp>
        <p:nvSpPr>
          <p:cNvPr id="51" name="Shape 44"/>
          <p:cNvSpPr/>
          <p:nvPr/>
        </p:nvSpPr>
        <p:spPr>
          <a:xfrm>
            <a:off x="457200" y="16550640"/>
            <a:ext cx="16002000" cy="3657600"/>
          </a:xfrm>
          <a:prstGeom prst="rect">
            <a:avLst/>
          </a:prstGeom>
          <a:solidFill>
            <a:srgbClr val="F8F2E5"/>
          </a:solidFill>
          <a:ln w="12700">
            <a:solidFill>
              <a:srgbClr val="E0D4BE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52" name="Text 45"/>
          <p:cNvSpPr/>
          <p:nvPr/>
        </p:nvSpPr>
        <p:spPr>
          <a:xfrm>
            <a:off x="777240" y="16700862"/>
            <a:ext cx="1536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C7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53" name="Text 46"/>
          <p:cNvSpPr/>
          <p:nvPr/>
        </p:nvSpPr>
        <p:spPr>
          <a:xfrm>
            <a:off x="777240" y="17131936"/>
            <a:ext cx="1536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14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DSR phases. Twenty months. Triangulated evaluation.</a:t>
            </a:r>
            <a:endParaRPr lang="en-US" sz="2600" dirty="0"/>
          </a:p>
        </p:txBody>
      </p:sp>
      <p:sp>
        <p:nvSpPr>
          <p:cNvPr id="54" name="Text 47"/>
          <p:cNvSpPr/>
          <p:nvPr/>
        </p:nvSpPr>
        <p:spPr>
          <a:xfrm>
            <a:off x="777239" y="17662701"/>
            <a:ext cx="142319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Foundation</a:t>
            </a:r>
            <a:r>
              <a:rPr lang="en-US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NGS · BQP-relevance · active-space scoping  </a:t>
            </a:r>
            <a:r>
              <a:rPr lang="en-US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Architecture</a:t>
            </a:r>
            <a:r>
              <a:rPr lang="en-US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Workflow spec · React/Three.js prototype  </a:t>
            </a:r>
            <a:r>
              <a:rPr lang="en-US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3A · Live Circuit</a:t>
            </a:r>
            <a:r>
              <a:rPr lang="en-US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PennyLane 4-qubit live VQE + 20e/40q HPC run, both complete (LEON-sealed, Aug 2026) · </a:t>
            </a:r>
            <a:r>
              <a:rPr lang="en-US" dirty="0" err="1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PySCF</a:t>
            </a:r>
            <a:r>
              <a:rPr lang="en-US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JW Hamiltonian </a:t>
            </a:r>
            <a:r>
              <a:rPr lang="en-US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3B · Heron r3</a:t>
            </a:r>
            <a:r>
              <a:rPr lang="he-IL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C275F: 24–56q active site, DMRG Class B · proven feasible (94q, Merz et al. 2026) · KEAP1/STK11: current-era, 32–74q, DMRG Class B · PDB-verified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DSR Evaluation</a:t>
            </a:r>
            <a:r>
              <a:rPr lang="en-US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- 4 layers · OSF pre-registered · n=4-6 panel · Jan-Apr 2027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Synthesis &amp; Defense</a:t>
            </a:r>
            <a:r>
              <a:rPr lang="en-US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May-Dec 2027</a:t>
            </a: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1143001" y="19905385"/>
            <a:ext cx="1527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C73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is the contribution.  Simulation is the application.  Patients are the motivation.</a:t>
            </a:r>
            <a:endParaRPr lang="en-US" dirty="0"/>
          </a:p>
        </p:txBody>
      </p:sp>
      <p:sp>
        <p:nvSpPr>
          <p:cNvPr id="56" name="Shape 49"/>
          <p:cNvSpPr/>
          <p:nvPr/>
        </p:nvSpPr>
        <p:spPr>
          <a:xfrm>
            <a:off x="16827500" y="16652240"/>
            <a:ext cx="15773400" cy="3657600"/>
          </a:xfrm>
          <a:prstGeom prst="rect">
            <a:avLst/>
          </a:prstGeom>
          <a:solidFill>
            <a:srgbClr val="F8F2E5"/>
          </a:solidFill>
          <a:ln w="12700">
            <a:solidFill>
              <a:srgbClr val="E0D4BE"/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en-US"/>
          </a:p>
        </p:txBody>
      </p:sp>
      <p:sp>
        <p:nvSpPr>
          <p:cNvPr id="57" name="Text 50"/>
          <p:cNvSpPr/>
          <p:nvPr/>
        </p:nvSpPr>
        <p:spPr>
          <a:xfrm>
            <a:off x="17007840" y="16609421"/>
            <a:ext cx="1513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C7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800" dirty="0"/>
          </a:p>
        </p:txBody>
      </p:sp>
      <p:sp>
        <p:nvSpPr>
          <p:cNvPr id="58" name="Text 51"/>
          <p:cNvSpPr/>
          <p:nvPr/>
        </p:nvSpPr>
        <p:spPr>
          <a:xfrm>
            <a:off x="17007841" y="17040495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1F1409"/>
                </a:solidFill>
                <a:latin typeface="Georgia" pitchFamily="34" charset="0"/>
              </a:rPr>
              <a:t>To our knowledge, first FDA 21 CFR Part 11-governed </a:t>
            </a:r>
            <a:r>
              <a:rPr lang="en-US" sz="2000" b="1" dirty="0">
                <a:solidFill>
                  <a:srgbClr val="1F14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quantum-chemistry orchestration for oncology.</a:t>
            </a:r>
            <a:endParaRPr lang="en-US" sz="2000" dirty="0"/>
          </a:p>
        </p:txBody>
      </p:sp>
      <p:sp>
        <p:nvSpPr>
          <p:cNvPr id="59" name="Text 52"/>
          <p:cNvSpPr/>
          <p:nvPr/>
        </p:nvSpPr>
        <p:spPr>
          <a:xfrm>
            <a:off x="17007839" y="17845580"/>
            <a:ext cx="14767560" cy="2362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dirty="0">
                <a:solidFill>
                  <a:srgbClr val="1F1409"/>
                </a:solidFill>
                <a:latin typeface="Calibri" pitchFamily="34" charset="0"/>
                <a:cs typeface="Calibri" pitchFamily="34" charset="-120"/>
              </a:rPr>
              <a:t>Proposed BQP-relevance </a:t>
            </a:r>
            <a:r>
              <a:rPr lang="en-US" dirty="0">
                <a:solidFill>
                  <a:srgbClr val="1F1409"/>
                </a:solidFill>
                <a:latin typeface="Calibri" pitchFamily="34" charset="0"/>
                <a:cs typeface="Calibri" pitchFamily="34" charset="-120"/>
              </a:rPr>
              <a:t>classification for non-druggable oncology targets - reusable across mutation classes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F1409"/>
                </a:solidFill>
                <a:latin typeface="Calibri" pitchFamily="34" charset="0"/>
                <a:cs typeface="Calibri" pitchFamily="34" charset="-120"/>
              </a:rPr>
              <a:t>Unlike quantum-enhanced approaches targeting classically-tractable proteins (e.g. KRAS — Vakili et al., Nature Biotechnology 2025), quantum necessity here is established empirically, not assumed - a DMRG classifier tests every target before any quantum claim is made, now cross-checked against an independent solver (SHCI, 0.198 mHa agreement)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dirty="0">
                <a:solidFill>
                  <a:srgbClr val="1F1409"/>
                </a:solidFill>
                <a:latin typeface="Calibri" pitchFamily="34" charset="0"/>
                <a:cs typeface="Calibri" pitchFamily="34" charset="-120"/>
              </a:rPr>
              <a:t>Novel Part-11 compliance framework </a:t>
            </a:r>
            <a:r>
              <a:rPr lang="en-US" dirty="0">
                <a:solidFill>
                  <a:srgbClr val="1F1409"/>
                </a:solidFill>
                <a:latin typeface="Calibri" pitchFamily="34" charset="0"/>
                <a:cs typeface="Calibri" pitchFamily="34" charset="-120"/>
              </a:rPr>
              <a:t>for probabilistic quantum binding data (incl. P9 ML-decoder provenance)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dirty="0">
                <a:solidFill>
                  <a:srgbClr val="1F1409"/>
                </a:solidFill>
                <a:latin typeface="Calibri" pitchFamily="34" charset="0"/>
                <a:cs typeface="Calibri" pitchFamily="34" charset="-120"/>
              </a:rPr>
              <a:t>Bifurcation-aware orchestration </a:t>
            </a:r>
            <a:r>
              <a:rPr lang="en-US" dirty="0">
                <a:solidFill>
                  <a:srgbClr val="1F1409"/>
                </a:solidFill>
                <a:latin typeface="Calibri" pitchFamily="34" charset="0"/>
                <a:cs typeface="Calibri" pitchFamily="34" charset="-120"/>
              </a:rPr>
              <a:t>- CPU and GPU (NVIDIA L40S) backends both provisioned on Laguna; GPU path proven at benchmark scale, not yet production-scale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dirty="0">
                <a:solidFill>
                  <a:srgbClr val="1F1409"/>
                </a:solidFill>
                <a:latin typeface="Calibri" pitchFamily="34" charset="0"/>
                <a:cs typeface="Calibri" pitchFamily="34" charset="-120"/>
              </a:rPr>
              <a:t>Selective computational escalation </a:t>
            </a:r>
            <a:r>
              <a:rPr lang="en-US" dirty="0">
                <a:solidFill>
                  <a:srgbClr val="1F1409"/>
                </a:solidFill>
                <a:latin typeface="Calibri" pitchFamily="34" charset="0"/>
                <a:cs typeface="Calibri" pitchFamily="34" charset="-120"/>
              </a:rPr>
              <a:t>- formal routing of subproblems to AI / HPC / QC</a:t>
            </a:r>
            <a:endParaRPr lang="en-US" dirty="0">
              <a:solidFill>
                <a:srgbClr val="1F140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2" name="Text 55"/>
          <p:cNvSpPr/>
          <p:nvPr/>
        </p:nvSpPr>
        <p:spPr>
          <a:xfrm>
            <a:off x="14630399" y="20369349"/>
            <a:ext cx="2272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he-IL" sz="6400" b="1" dirty="0">
                <a:solidFill>
                  <a:srgbClr val="C75A2E"/>
                </a:solidFill>
                <a:latin typeface="David" panose="020E0502060401010101" pitchFamily="34" charset="-79"/>
                <a:ea typeface="Georgia" pitchFamily="34" charset="-122"/>
                <a:cs typeface="David" panose="020E0502060401010101" pitchFamily="34" charset="-79"/>
              </a:rPr>
              <a:t>56</a:t>
            </a:r>
            <a:endParaRPr lang="en-US" sz="64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63" name="Text 56"/>
          <p:cNvSpPr/>
          <p:nvPr/>
        </p:nvSpPr>
        <p:spPr>
          <a:xfrm>
            <a:off x="13845654" y="2107747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5C4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C275F's largest AVAS-tested active space · within Heron r3 capacity</a:t>
            </a:r>
            <a:endParaRPr lang="en-US" sz="1600" dirty="0"/>
          </a:p>
        </p:txBody>
      </p:sp>
      <p:sp>
        <p:nvSpPr>
          <p:cNvPr id="64" name="Text 57"/>
          <p:cNvSpPr/>
          <p:nvPr/>
        </p:nvSpPr>
        <p:spPr>
          <a:xfrm>
            <a:off x="23030596" y="20311907"/>
            <a:ext cx="743803" cy="831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e-IL" sz="6400" b="1" dirty="0">
                <a:solidFill>
                  <a:srgbClr val="C75A2E"/>
                </a:solidFill>
                <a:latin typeface="David" panose="020E0502060401010101" pitchFamily="34" charset="-79"/>
                <a:ea typeface="Georgia" pitchFamily="34" charset="-122"/>
                <a:cs typeface="David" panose="020E0502060401010101" pitchFamily="34" charset="-79"/>
              </a:rPr>
              <a:t>8</a:t>
            </a:r>
            <a:endParaRPr lang="en-US" sz="64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65" name="Text 58"/>
          <p:cNvSpPr/>
          <p:nvPr/>
        </p:nvSpPr>
        <p:spPr>
          <a:xfrm>
            <a:off x="21628285" y="2105125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5C4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DMRG-classified targets, all Class B</a:t>
            </a:r>
            <a:endParaRPr lang="en-US" sz="1600" dirty="0"/>
          </a:p>
        </p:txBody>
      </p:sp>
      <p:sp>
        <p:nvSpPr>
          <p:cNvPr id="66" name="Text 59"/>
          <p:cNvSpPr/>
          <p:nvPr/>
        </p:nvSpPr>
        <p:spPr>
          <a:xfrm>
            <a:off x="26517600" y="201802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C75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6400" dirty="0"/>
          </a:p>
        </p:txBody>
      </p:sp>
      <p:sp>
        <p:nvSpPr>
          <p:cNvPr id="67" name="Text 60"/>
          <p:cNvSpPr/>
          <p:nvPr/>
        </p:nvSpPr>
        <p:spPr>
          <a:xfrm>
            <a:off x="27520710" y="21070191"/>
            <a:ext cx="46204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5C4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measured targets converged to Class B (8/8, DMRG)</a:t>
            </a:r>
            <a:endParaRPr lang="en-US" sz="1600" dirty="0"/>
          </a:p>
        </p:txBody>
      </p:sp>
      <p:sp>
        <p:nvSpPr>
          <p:cNvPr id="68" name="Shape 61"/>
          <p:cNvSpPr/>
          <p:nvPr/>
        </p:nvSpPr>
        <p:spPr>
          <a:xfrm>
            <a:off x="104503" y="21828033"/>
            <a:ext cx="32918400" cy="137160"/>
          </a:xfrm>
          <a:prstGeom prst="rect">
            <a:avLst/>
          </a:prstGeom>
          <a:solidFill>
            <a:srgbClr val="C75A2E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9BC465-50A7-C162-9E43-C5C56ECF05F2}"/>
              </a:ext>
            </a:extLst>
          </p:cNvPr>
          <p:cNvSpPr txBox="1"/>
          <p:nvPr/>
        </p:nvSpPr>
        <p:spPr>
          <a:xfrm>
            <a:off x="338865" y="21429612"/>
            <a:ext cx="3802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Copyrights: ©️ Doron Cohen, May 2026, All rights reserved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5041B7A-C8C2-A970-BD1D-C3ABCEDC2C86}"/>
              </a:ext>
            </a:extLst>
          </p:cNvPr>
          <p:cNvSpPr txBox="1"/>
          <p:nvPr/>
        </p:nvSpPr>
        <p:spPr>
          <a:xfrm>
            <a:off x="466086" y="3031812"/>
            <a:ext cx="4023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Doron Cohen</a:t>
            </a:r>
            <a:r>
              <a:rPr lang="en-US" sz="2000" dirty="0"/>
              <a:t>, Doctoral Candidate</a:t>
            </a:r>
            <a:br>
              <a:rPr lang="en-US" sz="2000" dirty="0"/>
            </a:br>
            <a:r>
              <a:rPr lang="en-US" sz="2000" dirty="0"/>
              <a:t>Supervised by </a:t>
            </a:r>
            <a:r>
              <a:rPr lang="en-US" sz="2000" b="1" dirty="0"/>
              <a:t>Prof. Itamar Shabtai</a:t>
            </a:r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9E7076E2-2523-5A1D-E51F-FCC5E5166B67}"/>
              </a:ext>
            </a:extLst>
          </p:cNvPr>
          <p:cNvSpPr/>
          <p:nvPr/>
        </p:nvSpPr>
        <p:spPr>
          <a:xfrm>
            <a:off x="868680" y="9095385"/>
            <a:ext cx="9304020" cy="883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i="1" dirty="0">
                <a:solidFill>
                  <a:srgbClr val="C73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BQP-relevance: </a:t>
            </a:r>
            <a:r>
              <a:rPr lang="en-US" i="1" dirty="0">
                <a:solidFill>
                  <a:srgbClr val="1F14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fermionic Hamiltonian eigenvalue problem at C275F admits a known BQP-class quantum algorithm. Real DMRG measurements on today's generic, not-yet-chemist-defined active space, classify Class B (quantum-advantaged) across every target tested. A chemist-defined setup could plausibly shift a target to Class A (quantum-necessary). The architecture is built for either outcome.</a:t>
            </a:r>
            <a:endParaRPr lang="en-US" i="1" dirty="0">
              <a:solidFill>
                <a:srgbClr val="1F1409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72" name="Picture 71" descr="solange_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40960" y="1874520"/>
            <a:ext cx="1828800" cy="1828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84AEB68-9390-2AE2-976C-EF9ECB74ED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27972" y="11600798"/>
            <a:ext cx="6659255" cy="4730747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144D0589-0639-A61B-E246-ED0AF2A353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0884" y="11475300"/>
            <a:ext cx="6389888" cy="46637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1463</TotalTime>
  <Words>968</Words>
  <Application>Microsoft Macintosh PowerPoint</Application>
  <PresentationFormat>Custom</PresentationFormat>
  <Paragraphs>78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David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Deciding When Quantum Computation Is Warranted - IST697 Poster</dc:title>
  <dc:subject>PptxGenJS Presentation</dc:subject>
  <dc:creator>Doron Cohen</dc:creator>
  <cp:lastModifiedBy>doron 66</cp:lastModifiedBy>
  <cp:revision>27</cp:revision>
  <dcterms:created xsi:type="dcterms:W3CDTF">2026-05-12T07:12:24Z</dcterms:created>
  <dcterms:modified xsi:type="dcterms:W3CDTF">2026-08-18T10:37:56Z</dcterms:modified>
</cp:coreProperties>
</file>