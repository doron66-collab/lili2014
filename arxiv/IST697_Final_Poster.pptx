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jpg" ContentType="image/jpg"/>
  <Override PartName="/ppt/media/image2.jpg" ContentType="image/jpg"/>
  <Override PartName="/ppt/media/image3.jpg" ContentType="image/jpg"/>
  <Override PartName="/ppt/media/image4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4"/>
    <p:restoredTop sz="94610"/>
  </p:normalViewPr>
  <p:slideViewPr>
    <p:cSldViewPr snapToGrid="0" snapToObjects="1">
      <p:cViewPr>
        <p:scale>
          <a:sx n="69" d="100"/>
          <a:sy n="69" d="100"/>
        </p:scale>
        <p:origin x="144" y="-2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9976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164592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cgu_logo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365760"/>
            <a:ext cx="4023360" cy="1463040"/>
          </a:xfrm>
          <a:prstGeom prst="rect">
            <a:avLst/>
          </a:prstGeom>
        </p:spPr>
      </p:pic>
      <p:pic>
        <p:nvPicPr>
          <p:cNvPr id="4" name="Image 1" descr="ai4h_logo.jp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1874520"/>
            <a:ext cx="4023360" cy="1554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754880" y="423708"/>
            <a:ext cx="22402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000" b="1" dirty="0">
                <a:solidFill>
                  <a:srgbClr val="C00000"/>
                </a:solidFill>
                <a:latin typeface="Georgia" pitchFamily="34" charset="0"/>
              </a:rPr>
              <a:t>Governed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QC-AI-HPC </a:t>
            </a:r>
            <a:r>
              <a:rPr lang="en-US" sz="5000" b="1" dirty="0">
                <a:latin typeface="Georgia" pitchFamily="34" charset="0"/>
              </a:rPr>
              <a:t>Orchestration</a:t>
            </a:r>
            <a:r>
              <a:rPr lang="en-US" sz="5000" b="1" dirty="0">
                <a:solidFill>
                  <a:srgbClr val="1F1409"/>
                </a:solidFill>
                <a:latin typeface="Georgia" pitchFamily="34" charset="0"/>
              </a:rPr>
              <a:t> for Quantum Simulation of non-druggable NSCLC Tumor Suppressor Mutations</a:t>
            </a:r>
          </a:p>
        </p:txBody>
      </p:sp>
      <p:sp>
        <p:nvSpPr>
          <p:cNvPr id="6" name="Text 2"/>
          <p:cNvSpPr/>
          <p:nvPr/>
        </p:nvSpPr>
        <p:spPr>
          <a:xfrm>
            <a:off x="4754880" y="2240280"/>
            <a:ext cx="2240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5C4A3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Design Science approach to translating quantum-computed molecular evidence into governed, reproducible, clinically-accessible knowledge.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27432000" y="41148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8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DISSERTATION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27432000" y="8686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nsclc-quantum-viewer</a:t>
            </a:r>
            <a:endParaRPr lang="en-US" sz="2000" dirty="0"/>
          </a:p>
          <a:p>
            <a:pPr marL="0" indent="0" algn="r">
              <a:buNone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.netlify.app</a:t>
            </a:r>
            <a:endParaRPr lang="en-US" sz="2000" dirty="0"/>
          </a:p>
        </p:txBody>
      </p:sp>
      <p:pic>
        <p:nvPicPr>
          <p:cNvPr id="9" name="Image 2" descr="qrcod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40960" y="1874520"/>
            <a:ext cx="1828800" cy="182880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3840480"/>
            <a:ext cx="32004000" cy="0"/>
          </a:xfrm>
          <a:prstGeom prst="line">
            <a:avLst/>
          </a:prstGeom>
          <a:noFill/>
          <a:ln w="5080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6"/>
          <p:cNvSpPr/>
          <p:nvPr/>
        </p:nvSpPr>
        <p:spPr>
          <a:xfrm>
            <a:off x="4572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7"/>
          <p:cNvSpPr/>
          <p:nvPr/>
        </p:nvSpPr>
        <p:spPr>
          <a:xfrm>
            <a:off x="7772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868680" y="4841126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dirty="0">
                <a:solidFill>
                  <a:srgbClr val="1F1409"/>
                </a:solidFill>
                <a:latin typeface="Georgia" pitchFamily="34" charset="0"/>
              </a:rPr>
              <a:t>Non-druggable</a:t>
            </a: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TP53 mutations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exceed classical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computational chemistry.</a:t>
            </a:r>
            <a:endParaRPr lang="en-US" sz="2800" dirty="0"/>
          </a:p>
        </p:txBody>
      </p:sp>
      <p:sp>
        <p:nvSpPr>
          <p:cNvPr id="14" name="Text 9"/>
          <p:cNvSpPr/>
          <p:nvPr/>
        </p:nvSpPr>
        <p:spPr>
          <a:xfrm>
            <a:off x="777240" y="6343158"/>
            <a:ext cx="89611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NSCLC patients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have no FDA-approved targeted therapy. TP53 structural mutants like </a:t>
            </a:r>
            <a:r>
              <a:rPr lang="en-US" sz="2000" b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p.Cys275Phe (C275F)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disrupt the DNA-binding interface at the loop-sheet-helix region - no exploitable cavity for conventional drug design.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777240" y="7975164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2–4 kcal/mol error → ΔG shifts 5–6× → candidate misclassification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gold standard, but O(N⁷) infeasible at 44 active electrons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O(2ⁿ) ~ 10¹³ ops at N=44 - intractable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777240" y="9584500"/>
            <a:ext cx="8048708" cy="958532"/>
          </a:xfrm>
          <a:prstGeom prst="rect">
            <a:avLst/>
          </a:prstGeom>
          <a:solidFill>
            <a:srgbClr val="E8C7B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10287000" y="4114800"/>
            <a:ext cx="123444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9" name="Text 14"/>
          <p:cNvSpPr/>
          <p:nvPr/>
        </p:nvSpPr>
        <p:spPr>
          <a:xfrm>
            <a:off x="10607040" y="4343400"/>
            <a:ext cx="1170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  ·  THREE-LAYER ARCHITECTURE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10561320" y="4800600"/>
            <a:ext cx="11795760" cy="566928"/>
          </a:xfrm>
          <a:prstGeom prst="rect">
            <a:avLst/>
          </a:prstGeom>
          <a:solidFill>
            <a:srgbClr val="FFFCF6"/>
          </a:solidFill>
          <a:ln w="15875">
            <a:solidFill>
              <a:srgbClr val="C00000"/>
            </a:solidFill>
            <a:prstDash val="lgDash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10698480" y="4818888"/>
            <a:ext cx="11521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PATIENT INPUT*  </a:t>
            </a:r>
            <a:r>
              <a:rPr lang="en-US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Patient case MI25-0349 · TP53 C275F · non-druggable tumor-suppressor mutation</a:t>
            </a:r>
            <a:endParaRPr lang="en-US" dirty="0"/>
          </a:p>
        </p:txBody>
      </p:sp>
      <p:sp>
        <p:nvSpPr>
          <p:cNvPr id="22" name="Shape 17"/>
          <p:cNvSpPr/>
          <p:nvPr/>
        </p:nvSpPr>
        <p:spPr>
          <a:xfrm>
            <a:off x="10561320" y="5513832"/>
            <a:ext cx="11795760" cy="1508760"/>
          </a:xfrm>
          <a:prstGeom prst="rect">
            <a:avLst/>
          </a:prstGeom>
          <a:solidFill>
            <a:srgbClr val="E8C7B4"/>
          </a:solidFill>
          <a:ln w="19050">
            <a:solidFill>
              <a:srgbClr val="C75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10725912" y="5559552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 ·  CONTRIBUTION </a:t>
            </a:r>
            <a:r>
              <a:rPr lang="en-US" sz="13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dissertation)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10725912" y="5925312"/>
            <a:ext cx="11521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 framework - non-druggable tumor-suppressor mutations (§06.i)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Translational orchestration - oncology-specific · Part-11-governed · bifurcation-aware (§06.ii)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◆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 framework with ML-decoder provenance, P1 - P9 (§06.iii)</a:t>
            </a:r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10561320" y="7141464"/>
            <a:ext cx="11795760" cy="169164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10725912" y="7187184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 ·  HYBRID INTEGRATION SUBSTRATE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(commodity)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10725912" y="7552944"/>
            <a:ext cx="11521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orchestration - CUDA-Q + NVQLink (Nvidia stack)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reliability - Nvidia Ising VLM calibration · 3D CNN decoder (Apr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prep - DFT (PySCF) · DMRG baseline + non-active-space treatment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interpretation - DeepChem GNN clinical relevance scoring</a:t>
            </a:r>
            <a:endParaRPr lang="en-US" dirty="0"/>
          </a:p>
        </p:txBody>
      </p:sp>
      <p:sp>
        <p:nvSpPr>
          <p:cNvPr id="28" name="Shape 23"/>
          <p:cNvSpPr/>
          <p:nvPr/>
        </p:nvSpPr>
        <p:spPr>
          <a:xfrm>
            <a:off x="10561320" y="8951976"/>
            <a:ext cx="11795760" cy="1371600"/>
          </a:xfrm>
          <a:prstGeom prst="rect">
            <a:avLst/>
          </a:prstGeom>
          <a:solidFill>
            <a:srgbClr val="FFFCF6"/>
          </a:solidFill>
          <a:ln w="9525">
            <a:solidFill>
              <a:srgbClr val="B8987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10725912" y="8997696"/>
            <a:ext cx="11521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 ·  QUANTUM KERNEL  </a:t>
            </a:r>
            <a:r>
              <a:rPr lang="en-US" sz="13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(scientific anchor)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10725912" y="9363456"/>
            <a:ext cx="11521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Heron r3 · 156 qubits · heavy-hex lattice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 err="1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</a:t>
            </a: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sample-based quantum diagonalization (Trotterized)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anchor: 32-electron / 100-qubit C₁₃Cl₂ benchmark (Science 2026)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endParaRPr lang="en-US" dirty="0"/>
            <a:r>
              <a:rPr lang="en-US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$10B roadmap · Starling 2029: 200 logical qubits · C275F (88q) within trajectory</a:t>
            </a:r>
          </a:p>
        </p:txBody>
      </p:sp>
      <p:sp>
        <p:nvSpPr>
          <p:cNvPr id="31" name="Text 26"/>
          <p:cNvSpPr/>
          <p:nvPr/>
        </p:nvSpPr>
        <p:spPr>
          <a:xfrm>
            <a:off x="10561320" y="10433304"/>
            <a:ext cx="11795760" cy="365760"/>
          </a:xfrm>
          <a:prstGeom prst="rect">
            <a:avLst/>
          </a:prstGeom>
          <a:noFill/>
          <a:ln w="15875">
            <a:solidFill>
              <a:srgbClr val="C00000"/>
            </a:solidFill>
            <a:prstDash val="lgDash"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kern="0" spc="3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DSR PHASE 4 EVALUATION*  - 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· Pre-registered · n=4–6 expert panel</a:t>
            </a:r>
            <a:endParaRPr lang="en-US" sz="1600" dirty="0"/>
          </a:p>
        </p:txBody>
      </p:sp>
      <p:sp>
        <p:nvSpPr>
          <p:cNvPr id="32" name="Shape 27"/>
          <p:cNvSpPr/>
          <p:nvPr/>
        </p:nvSpPr>
        <p:spPr>
          <a:xfrm>
            <a:off x="22860000" y="4114800"/>
            <a:ext cx="9601200" cy="649224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23180040" y="434340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23180040" y="48006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Live, deployed,</a:t>
            </a:r>
            <a:r>
              <a:rPr lang="he-IL" sz="3200" dirty="0"/>
              <a:t> </a:t>
            </a:r>
            <a:r>
              <a:rPr lang="en-US" sz="32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</a:t>
            </a:r>
            <a:endParaRPr lang="en-US" sz="3200" dirty="0"/>
          </a:p>
        </p:txBody>
      </p:sp>
      <p:sp>
        <p:nvSpPr>
          <p:cNvPr id="35" name="Text 30"/>
          <p:cNvSpPr/>
          <p:nvPr/>
        </p:nvSpPr>
        <p:spPr>
          <a:xfrm>
            <a:off x="23180040" y="5984548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QC·AI·HPC platform on Netlify - anchored in real NGS data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(MI25-0349)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3D molecular viewer · 7 non-druggable mutations · four-screen workflow.</a:t>
            </a:r>
            <a:endParaRPr lang="en-US" sz="2000" dirty="0"/>
          </a:p>
        </p:txBody>
      </p:sp>
      <p:sp>
        <p:nvSpPr>
          <p:cNvPr id="36" name="Text 31"/>
          <p:cNvSpPr/>
          <p:nvPr/>
        </p:nvSpPr>
        <p:spPr>
          <a:xfrm>
            <a:off x="23180040" y="7481380"/>
            <a:ext cx="8961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mutations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TP53 C275F, KEAP1 LOF, KEAP1 G333C, KEAP1 R320Q, STK11 LKB1, STK11 F354L, STK11 D194N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Mutation-aware Hamiltonian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mutation class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P1–P9 audit-trace emission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(ML-decoder lineage conditional)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Cross-disciplinary views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oncology, pharma, hospital 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backend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(Qiskit / CUDA-Q ready)</a:t>
            </a:r>
            <a:endParaRPr lang="en-US" sz="2000" dirty="0"/>
          </a:p>
        </p:txBody>
      </p:sp>
      <p:sp>
        <p:nvSpPr>
          <p:cNvPr id="37" name="Text 32"/>
          <p:cNvSpPr/>
          <p:nvPr/>
        </p:nvSpPr>
        <p:spPr>
          <a:xfrm>
            <a:off x="23180040" y="10104120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nsclc-quantum-viewer.netlify.app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457200" y="10881360"/>
            <a:ext cx="160020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777240" y="1110996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·  TP53 C275F QUANTUM SIMULATION</a:t>
            </a:r>
            <a:endParaRPr lang="en-US" sz="1800" dirty="0"/>
          </a:p>
        </p:txBody>
      </p:sp>
      <p:sp>
        <p:nvSpPr>
          <p:cNvPr id="40" name="Text 35"/>
          <p:cNvSpPr/>
          <p:nvPr/>
        </p:nvSpPr>
        <p:spPr>
          <a:xfrm>
            <a:off x="777240" y="11567160"/>
            <a:ext cx="15361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active site - visualized,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navigable, BQP-classified.</a:t>
            </a:r>
            <a:endParaRPr lang="en-US" sz="2800" dirty="0"/>
          </a:p>
        </p:txBody>
      </p:sp>
      <p:sp>
        <p:nvSpPr>
          <p:cNvPr id="42" name="Text 36"/>
          <p:cNvSpPr/>
          <p:nvPr/>
        </p:nvSpPr>
        <p:spPr>
          <a:xfrm>
            <a:off x="777240" y="1271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3D viewer:</a:t>
            </a:r>
            <a:endParaRPr lang="en-US" sz="2400" dirty="0"/>
          </a:p>
        </p:txBody>
      </p:sp>
      <p:sp>
        <p:nvSpPr>
          <p:cNvPr id="43" name="Text 37"/>
          <p:cNvSpPr/>
          <p:nvPr/>
        </p:nvSpPr>
        <p:spPr>
          <a:xfrm>
            <a:off x="777240" y="13121640"/>
            <a:ext cx="756208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TP53 C275F + candidate ligand </a:t>
            </a:r>
            <a:r>
              <a:rPr lang="en-US" sz="20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(Eprenetapopt / APR-246)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docked at the loop-sheet-helix DNA-contact region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Encircling rings: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wavefunction sampling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field: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active-space electron-density distribution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~88-qubit BQP target 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IBM Heron r3 capacity</a:t>
            </a:r>
            <a:endParaRPr lang="en-US" sz="2000" dirty="0"/>
          </a:p>
        </p:txBody>
      </p:sp>
      <p:sp>
        <p:nvSpPr>
          <p:cNvPr id="44" name="Shape 38"/>
          <p:cNvSpPr/>
          <p:nvPr/>
        </p:nvSpPr>
        <p:spPr>
          <a:xfrm>
            <a:off x="16687800" y="10881360"/>
            <a:ext cx="15773400" cy="539496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9"/>
          <p:cNvSpPr/>
          <p:nvPr/>
        </p:nvSpPr>
        <p:spPr>
          <a:xfrm>
            <a:off x="17007840" y="1110996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BENCHMARKING  ·  QC vs DFT vs CCSD(T)</a:t>
            </a:r>
            <a:endParaRPr lang="en-US" sz="1800" dirty="0"/>
          </a:p>
        </p:txBody>
      </p:sp>
      <p:sp>
        <p:nvSpPr>
          <p:cNvPr id="46" name="Text 40"/>
          <p:cNvSpPr/>
          <p:nvPr/>
        </p:nvSpPr>
        <p:spPr>
          <a:xfrm>
            <a:off x="17007840" y="11567160"/>
            <a:ext cx="1513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comparison at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C275F active-space boundary.</a:t>
            </a:r>
            <a:endParaRPr lang="en-US" sz="2600" dirty="0"/>
          </a:p>
        </p:txBody>
      </p:sp>
      <p:pic>
        <p:nvPicPr>
          <p:cNvPr id="47" name="Image 4" descr="benchmarking.jp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24551640" y="11649456"/>
            <a:ext cx="7635239" cy="4489703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17007840" y="12889767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platform outputs:</a:t>
            </a:r>
            <a:endParaRPr lang="en-US" sz="2400" dirty="0"/>
          </a:p>
        </p:txBody>
      </p:sp>
      <p:sp>
        <p:nvSpPr>
          <p:cNvPr id="49" name="Text 42"/>
          <p:cNvSpPr/>
          <p:nvPr/>
        </p:nvSpPr>
        <p:spPr>
          <a:xfrm>
            <a:off x="17007840" y="13301247"/>
            <a:ext cx="7315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*DFT B3LYP: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−8.4 kcal/mol  (2.8 error - outside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r>
              <a:rPr lang="en-US" sz="2000" b="1" dirty="0" err="1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sqDRIFT (Phase 3B target)</a:t>
            </a:r>
            <a:r>
              <a:rPr lang="en-US" sz="2000" b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−11.7 kcal/mol  (0.5 error - within chemical accuracy)</a:t>
            </a:r>
            <a:endParaRPr lang="en-US" sz="2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*CCSD(T) reference: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−11.2 kcal/mol</a:t>
            </a:r>
            <a:endParaRPr lang="en-US" sz="2000" dirty="0"/>
          </a:p>
        </p:txBody>
      </p:sp>
      <p:sp>
        <p:nvSpPr>
          <p:cNvPr id="50" name="Text 43"/>
          <p:cNvSpPr/>
          <p:nvPr/>
        </p:nvSpPr>
        <p:spPr>
          <a:xfrm>
            <a:off x="17007840" y="1545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 framework</a:t>
            </a: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itself an original IT contribution (§06.i).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*Illustrative figures · Chemical accuracy threshold: ≤1 kcal/mol</a:t>
            </a:r>
            <a:endParaRPr lang="en-US" sz="1600" dirty="0"/>
          </a:p>
        </p:txBody>
      </p:sp>
      <p:sp>
        <p:nvSpPr>
          <p:cNvPr id="51" name="Shape 44"/>
          <p:cNvSpPr/>
          <p:nvPr/>
        </p:nvSpPr>
        <p:spPr>
          <a:xfrm>
            <a:off x="457200" y="16550640"/>
            <a:ext cx="160020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45"/>
          <p:cNvSpPr/>
          <p:nvPr/>
        </p:nvSpPr>
        <p:spPr>
          <a:xfrm>
            <a:off x="777240" y="16779240"/>
            <a:ext cx="1536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800" dirty="0"/>
          </a:p>
        </p:txBody>
      </p:sp>
      <p:sp>
        <p:nvSpPr>
          <p:cNvPr id="53" name="Text 46"/>
          <p:cNvSpPr/>
          <p:nvPr/>
        </p:nvSpPr>
        <p:spPr>
          <a:xfrm>
            <a:off x="777240" y="17236440"/>
            <a:ext cx="1536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DSR phases. Twenty months. Triangulated evaluation.</a:t>
            </a:r>
            <a:endParaRPr lang="en-US" sz="2600" dirty="0"/>
          </a:p>
        </p:txBody>
      </p:sp>
      <p:sp>
        <p:nvSpPr>
          <p:cNvPr id="54" name="Text 47"/>
          <p:cNvSpPr/>
          <p:nvPr/>
        </p:nvSpPr>
        <p:spPr>
          <a:xfrm>
            <a:off x="777239" y="17772012"/>
            <a:ext cx="102344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Foundation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NGS · BQP-relevance · active-space scoping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Architecture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Workflow spec · React/Three.js prototype  </a:t>
            </a:r>
            <a:r>
              <a:rPr lang="en-US" sz="200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complete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3A · Live Circuit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PennyLane · 4-qubit live VQE · PySCF JW Hamiltonian · May-Aug 2026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3B · Heron r3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~88-qubit active site · C275F only · proven feasible (94q, Merz et al. 2026) · KEAP1/STK11: fault-tolerant QPU (~2030+) · 152–310q · PDB-verified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DSR Evaluation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- 4 layers · OSF pre-registered · n=4-6 panel · Jan-Apr 2027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Synthesis &amp; Defense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May-Dec 2027</a:t>
            </a:r>
            <a:endParaRPr lang="en-US" sz="2000" dirty="0"/>
          </a:p>
        </p:txBody>
      </p:sp>
      <p:sp>
        <p:nvSpPr>
          <p:cNvPr id="55" name="Text 48"/>
          <p:cNvSpPr/>
          <p:nvPr/>
        </p:nvSpPr>
        <p:spPr>
          <a:xfrm>
            <a:off x="777240" y="19946148"/>
            <a:ext cx="152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i="1" dirty="0">
                <a:solidFill>
                  <a:srgbClr val="C736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is the contribution.  Simulation is the application.  Patients are the motivation.</a:t>
            </a:r>
            <a:endParaRPr lang="en-US" dirty="0"/>
          </a:p>
        </p:txBody>
      </p:sp>
      <p:sp>
        <p:nvSpPr>
          <p:cNvPr id="56" name="Shape 49"/>
          <p:cNvSpPr/>
          <p:nvPr/>
        </p:nvSpPr>
        <p:spPr>
          <a:xfrm>
            <a:off x="16687800" y="16550640"/>
            <a:ext cx="15773400" cy="3657600"/>
          </a:xfrm>
          <a:prstGeom prst="rect">
            <a:avLst/>
          </a:prstGeom>
          <a:solidFill>
            <a:srgbClr val="F8F2E5"/>
          </a:solidFill>
          <a:ln w="12700">
            <a:solidFill>
              <a:srgbClr val="E0D4BE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US"/>
          </a:p>
        </p:txBody>
      </p:sp>
      <p:sp>
        <p:nvSpPr>
          <p:cNvPr id="57" name="Text 50"/>
          <p:cNvSpPr/>
          <p:nvPr/>
        </p:nvSpPr>
        <p:spPr>
          <a:xfrm>
            <a:off x="17007840" y="16779240"/>
            <a:ext cx="1513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800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IMPACT</a:t>
            </a:r>
            <a:endParaRPr lang="en-US" sz="1800" dirty="0"/>
          </a:p>
        </p:txBody>
      </p:sp>
      <p:sp>
        <p:nvSpPr>
          <p:cNvPr id="58" name="Text 51"/>
          <p:cNvSpPr/>
          <p:nvPr/>
        </p:nvSpPr>
        <p:spPr>
          <a:xfrm>
            <a:off x="17007841" y="1723644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000" b="1" dirty="0">
                <a:solidFill>
                  <a:srgbClr val="1F1409"/>
                </a:solidFill>
                <a:latin typeface="Georgia" pitchFamily="34" charset="0"/>
              </a:rPr>
              <a:t>To our knowledge, first FDA 21 CFR Part 11-governed </a:t>
            </a:r>
            <a:r>
              <a:rPr lang="en-US" sz="2000" b="1" dirty="0">
                <a:solidFill>
                  <a:srgbClr val="1F140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quantum-chemistry orchestration for oncology.</a:t>
            </a:r>
            <a:endParaRPr lang="en-US" sz="2000" dirty="0"/>
          </a:p>
        </p:txBody>
      </p:sp>
      <p:sp>
        <p:nvSpPr>
          <p:cNvPr id="59" name="Text 52"/>
          <p:cNvSpPr/>
          <p:nvPr/>
        </p:nvSpPr>
        <p:spPr>
          <a:xfrm>
            <a:off x="17007839" y="18054588"/>
            <a:ext cx="12766307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Proposed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 classification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non-druggable oncology targets - reusable across mutation classes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quantum-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approaches targeting classically-tractable proteins (e.g. KRAS — Vakili et al., 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Biotechnology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2025), QC here is the 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available computational path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Novel</a:t>
            </a: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Part-11 compliance framework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probabilistic quantum binding data (incl. </a:t>
            </a:r>
            <a:r>
              <a:rPr lang="en-US" sz="2000" i="1" dirty="0">
                <a:solidFill>
                  <a:srgbClr val="C7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 ML-decoder provenance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Bifurcation-aware orchestration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surviving the IBM-QCS vs Nvidia-NVQLink vendor split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computational escalation</a:t>
            </a:r>
            <a:r>
              <a:rPr lang="en-US" sz="2000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formal routing of subproblems to AI / HPC / QC</a:t>
            </a:r>
            <a:endParaRPr lang="en-US" sz="20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research:</a:t>
            </a:r>
            <a:r>
              <a:rPr lang="en-US" sz="2000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NGS-informed radiotherapy decision support (post-doc) - extending GARD-class radiogenomic models</a:t>
            </a:r>
            <a:endParaRPr lang="en-US" sz="2000" dirty="0"/>
          </a:p>
        </p:txBody>
      </p:sp>
      <p:sp>
        <p:nvSpPr>
          <p:cNvPr id="60" name="Text 53"/>
          <p:cNvSpPr/>
          <p:nvPr/>
        </p:nvSpPr>
        <p:spPr>
          <a:xfrm>
            <a:off x="457200" y="20299680"/>
            <a:ext cx="1188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</a:t>
            </a:r>
            <a:endParaRPr lang="en-US" sz="1600" dirty="0"/>
          </a:p>
        </p:txBody>
      </p:sp>
      <p:sp>
        <p:nvSpPr>
          <p:cNvPr id="61" name="Text 54"/>
          <p:cNvSpPr/>
          <p:nvPr/>
        </p:nvSpPr>
        <p:spPr>
          <a:xfrm>
            <a:off x="457200" y="20416065"/>
            <a:ext cx="11887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NGS-informed radiotherapy decision support — </a:t>
            </a:r>
            <a:r>
              <a:rPr lang="en-US" sz="1600" i="1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quantum-derived mechanistic features for radioresistance in TP53 contact-mutant tumors. Reserved for a post-doctoral program extending the dissertation infrastructure into clinical decision support.</a:t>
            </a:r>
            <a:endParaRPr lang="en-US" sz="1600" dirty="0"/>
          </a:p>
        </p:txBody>
      </p:sp>
      <p:sp>
        <p:nvSpPr>
          <p:cNvPr id="62" name="Text 55"/>
          <p:cNvSpPr/>
          <p:nvPr/>
        </p:nvSpPr>
        <p:spPr>
          <a:xfrm>
            <a:off x="14630400" y="20330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~88</a:t>
            </a:r>
            <a:endParaRPr lang="en-US" sz="6400" dirty="0"/>
          </a:p>
        </p:txBody>
      </p:sp>
      <p:sp>
        <p:nvSpPr>
          <p:cNvPr id="63" name="Text 56"/>
          <p:cNvSpPr/>
          <p:nvPr/>
        </p:nvSpPr>
        <p:spPr>
          <a:xfrm>
            <a:off x="13845654" y="2107747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Qubits at full active site (IBM Heron r3 range)</a:t>
            </a:r>
            <a:endParaRPr lang="en-US" sz="1600" dirty="0"/>
          </a:p>
        </p:txBody>
      </p:sp>
      <p:sp>
        <p:nvSpPr>
          <p:cNvPr id="64" name="Text 57"/>
          <p:cNvSpPr/>
          <p:nvPr/>
        </p:nvSpPr>
        <p:spPr>
          <a:xfrm>
            <a:off x="23030596" y="20220466"/>
            <a:ext cx="743803" cy="8318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6400" dirty="0"/>
          </a:p>
        </p:txBody>
      </p:sp>
      <p:sp>
        <p:nvSpPr>
          <p:cNvPr id="65" name="Text 58"/>
          <p:cNvSpPr/>
          <p:nvPr/>
        </p:nvSpPr>
        <p:spPr>
          <a:xfrm>
            <a:off x="21628285" y="2105125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NSCLC mutations targeted</a:t>
            </a:r>
            <a:endParaRPr lang="en-US" sz="1600" dirty="0"/>
          </a:p>
        </p:txBody>
      </p:sp>
      <p:sp>
        <p:nvSpPr>
          <p:cNvPr id="66" name="Text 59"/>
          <p:cNvSpPr/>
          <p:nvPr/>
        </p:nvSpPr>
        <p:spPr>
          <a:xfrm>
            <a:off x="26517600" y="202539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400" b="1" dirty="0">
                <a:solidFill>
                  <a:srgbClr val="C75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6400" dirty="0"/>
          </a:p>
        </p:txBody>
      </p:sp>
      <p:sp>
        <p:nvSpPr>
          <p:cNvPr id="67" name="Text 60"/>
          <p:cNvSpPr/>
          <p:nvPr/>
        </p:nvSpPr>
        <p:spPr>
          <a:xfrm>
            <a:off x="27520711" y="21143931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C4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non-druggable target coverage at platform release</a:t>
            </a:r>
            <a:endParaRPr lang="en-US" sz="1600" dirty="0"/>
          </a:p>
        </p:txBody>
      </p:sp>
      <p:sp>
        <p:nvSpPr>
          <p:cNvPr id="68" name="Shape 61"/>
          <p:cNvSpPr/>
          <p:nvPr/>
        </p:nvSpPr>
        <p:spPr>
          <a:xfrm>
            <a:off x="0" y="21808440"/>
            <a:ext cx="32918400" cy="137160"/>
          </a:xfrm>
          <a:prstGeom prst="rect">
            <a:avLst/>
          </a:prstGeom>
          <a:solidFill>
            <a:srgbClr val="C75A2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3E56C2E1-9C77-B785-B350-71C053586CD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9470" y="11649456"/>
            <a:ext cx="6821129" cy="448970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579BC465-50A7-C162-9E43-C5C56ECF05F2}"/>
              </a:ext>
            </a:extLst>
          </p:cNvPr>
          <p:cNvSpPr txBox="1"/>
          <p:nvPr/>
        </p:nvSpPr>
        <p:spPr>
          <a:xfrm>
            <a:off x="338865" y="21429612"/>
            <a:ext cx="3802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Copyrights: ©️ Doron Cohen, May 2026, All rights reserved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41B7A-C8C2-A970-BD1D-C3ABCEDC2C86}"/>
              </a:ext>
            </a:extLst>
          </p:cNvPr>
          <p:cNvSpPr txBox="1"/>
          <p:nvPr/>
        </p:nvSpPr>
        <p:spPr>
          <a:xfrm>
            <a:off x="466086" y="3031812"/>
            <a:ext cx="4023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Doron Cohen</a:t>
            </a:r>
            <a:r>
              <a:rPr lang="en-US" sz="2000" dirty="0"/>
              <a:t>, Doctoral Candidate</a:t>
            </a:r>
            <a:br>
              <a:rPr lang="en-US" sz="2000" dirty="0"/>
            </a:br>
            <a:r>
              <a:rPr lang="en-US" sz="2000" dirty="0"/>
              <a:t>Supervised by </a:t>
            </a:r>
            <a:r>
              <a:rPr lang="en-US" sz="2000" b="1" dirty="0"/>
              <a:t>Prof. Itamar Shabtai</a:t>
            </a:r>
          </a:p>
        </p:txBody>
      </p:sp>
      <p:sp>
        <p:nvSpPr>
          <p:cNvPr id="71" name="Text 12">
            <a:extLst>
              <a:ext uri="{FF2B5EF4-FFF2-40B4-BE49-F238E27FC236}">
                <a16:creationId xmlns:a16="http://schemas.microsoft.com/office/drawing/2014/main" id="{9E7076E2-2523-5A1D-E51F-FCC5E5166B67}"/>
              </a:ext>
            </a:extLst>
          </p:cNvPr>
          <p:cNvSpPr/>
          <p:nvPr/>
        </p:nvSpPr>
        <p:spPr>
          <a:xfrm>
            <a:off x="868680" y="9629429"/>
            <a:ext cx="7957268" cy="883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000" b="1" i="1" dirty="0">
                <a:solidFill>
                  <a:srgbClr val="C73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BQP-relevance: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fermionic Hamiltonian eigenvalue problem at C275F admits a known BQP-class quantum algorithm; </a:t>
            </a:r>
            <a:r>
              <a:rPr lang="en-US" i="1" dirty="0">
                <a:solidFill>
                  <a:srgbClr val="1F1409"/>
                </a:solidFill>
                <a:latin typeface="Calibri" pitchFamily="34" charset="0"/>
                <a:cs typeface="Calibri" pitchFamily="34" charset="-120"/>
              </a:rPr>
              <a:t>Classical methods become computationally prohibitive at chemical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844</Words>
  <Application>Microsoft Macintosh PowerPoint</Application>
  <PresentationFormat>Custom</PresentationFormat>
  <Paragraphs>83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Georgia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QC-AI-HPC Orchestration Platform - IST697 Poster</dc:title>
  <dc:subject>PptxGenJS Presentation</dc:subject>
  <dc:creator>Doron Cohen</dc:creator>
  <cp:lastModifiedBy>doron 66</cp:lastModifiedBy>
  <cp:revision>14</cp:revision>
  <dcterms:created xsi:type="dcterms:W3CDTF">2026-05-12T07:12:24Z</dcterms:created>
  <dcterms:modified xsi:type="dcterms:W3CDTF">2026-05-12T15:40:17Z</dcterms:modified>
</cp:coreProperties>
</file>