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image1.jpg" ContentType="image/jpg"/>
  <Override PartName="/ppt/media/image2.jpg" ContentType="image/jpg"/>
  <Override PartName="/ppt/media/image3.jpg" ContentType="image/jpg"/>
  <Override PartName="/ppt/media/image4.jpg" ContentType="image/jpg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"/>
  </p:notesMasterIdLst>
  <p:sldIdLst>
    <p:sldId id="256" r:id="rId2"/>
  </p:sldIdLst>
  <p:sldSz cx="32918400" cy="21945600"/>
  <p:notesSz cx="21945600" cy="329184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6214"/>
    <p:restoredTop sz="94610"/>
  </p:normalViewPr>
  <p:slideViewPr>
    <p:cSldViewPr snapToGrid="0" snapToObjects="1">
      <p:cViewPr>
        <p:scale>
          <a:sx n="69" d="100"/>
          <a:sy n="69" d="100"/>
        </p:scale>
        <p:origin x="144" y="-27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66997663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jpg"/><Relationship Id="rId4" Type="http://schemas.openxmlformats.org/officeDocument/2006/relationships/image" Target="../media/image2.jpg"/><Relationship Id="rId5" Type="http://schemas.openxmlformats.org/officeDocument/2006/relationships/image" Target="../media/image3.jpg"/><Relationship Id="rId6" Type="http://schemas.openxmlformats.org/officeDocument/2006/relationships/image" Target="../media/image4.jpg"/><Relationship Id="rId7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2EBD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2918400" cy="164592"/>
          </a:xfrm>
          <a:prstGeom prst="rect">
            <a:avLst/>
          </a:prstGeom>
          <a:solidFill>
            <a:srgbClr val="C75A2E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3" name="Image 0" descr="cgu_logo.jp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457200" y="365760"/>
            <a:ext cx="4023360" cy="1463040"/>
          </a:xfrm>
          <a:prstGeom prst="rect">
            <a:avLst/>
          </a:prstGeom>
        </p:spPr>
      </p:pic>
      <p:pic>
        <p:nvPicPr>
          <p:cNvPr id="4" name="Image 1" descr="ai4h_logo.jp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457200" y="1874520"/>
            <a:ext cx="4023360" cy="1554480"/>
          </a:xfrm>
          <a:prstGeom prst="rect">
            <a:avLst/>
          </a:prstGeom>
        </p:spPr>
      </p:pic>
      <p:sp>
        <p:nvSpPr>
          <p:cNvPr id="5" name="Text 1"/>
          <p:cNvSpPr/>
          <p:nvPr/>
        </p:nvSpPr>
        <p:spPr>
          <a:xfrm>
            <a:off x="4754880" y="423708"/>
            <a:ext cx="224028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5000" b="1" dirty="0">
                <a:solidFill>
                  <a:srgbClr val="C00000"/>
                </a:solidFill>
                <a:latin typeface="Georgia" pitchFamily="34" charset="0"/>
              </a:rPr>
              <a:t>Governed</a:t>
            </a:r>
            <a:r>
              <a:rPr lang="en-US" sz="5000" b="1" dirty="0">
                <a:solidFill>
                  <a:srgbClr val="1F1409"/>
                </a:solidFill>
                <a:latin typeface="Georgia" pitchFamily="34" charset="0"/>
              </a:rPr>
              <a:t> QC-AI-HPC </a:t>
            </a:r>
            <a:r>
              <a:rPr lang="en-US" sz="5000" b="1" dirty="0">
                <a:latin typeface="Georgia" pitchFamily="34" charset="0"/>
              </a:rPr>
              <a:t>Orchestration</a:t>
            </a:r>
            <a:r>
              <a:rPr lang="en-US" sz="5000" b="1" dirty="0">
                <a:solidFill>
                  <a:srgbClr val="1F1409"/>
                </a:solidFill>
                <a:latin typeface="Georgia" pitchFamily="34" charset="0"/>
              </a:rPr>
              <a:t> for Quantum Simulation of non-druggable NSCLC Tumor Suppressor Mutations</a:t>
            </a:r>
          </a:p>
        </p:txBody>
      </p:sp>
      <p:sp>
        <p:nvSpPr>
          <p:cNvPr id="6" name="Text 2"/>
          <p:cNvSpPr/>
          <p:nvPr/>
        </p:nvSpPr>
        <p:spPr>
          <a:xfrm>
            <a:off x="4754880" y="2240280"/>
            <a:ext cx="2240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i="1" dirty="0">
                <a:solidFill>
                  <a:srgbClr val="5C4A3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Design Science approach to translating quantum-computed molecular evidence into governed, reproducible, clinically-accessible knowledge.</a:t>
            </a:r>
            <a:endParaRPr lang="en-US" sz="2200" dirty="0"/>
          </a:p>
        </p:txBody>
      </p:sp>
      <p:sp>
        <p:nvSpPr>
          <p:cNvPr id="7" name="Text 3"/>
          <p:cNvSpPr/>
          <p:nvPr/>
        </p:nvSpPr>
        <p:spPr>
          <a:xfrm>
            <a:off x="27432000" y="411480"/>
            <a:ext cx="5029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600" b="1" kern="0" spc="800" dirty="0">
                <a:solidFill>
                  <a:srgbClr val="5C4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DISSERTATION</a:t>
            </a:r>
            <a:endParaRPr lang="en-US" sz="1600" dirty="0"/>
          </a:p>
        </p:txBody>
      </p:sp>
      <p:sp>
        <p:nvSpPr>
          <p:cNvPr id="8" name="Text 4"/>
          <p:cNvSpPr/>
          <p:nvPr/>
        </p:nvSpPr>
        <p:spPr>
          <a:xfrm>
            <a:off x="27432000" y="868680"/>
            <a:ext cx="5029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2000" b="1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nsclc-quantum-viewer</a:t>
            </a:r>
            <a:endParaRPr lang="en-US" sz="2000" dirty="0"/>
          </a:p>
          <a:p>
            <a:pPr marL="0" indent="0" algn="r">
              <a:buNone/>
            </a:pPr>
            <a:r>
              <a:rPr lang="en-US" sz="2000" b="1" dirty="0">
                <a:solidFill>
                  <a:srgbClr val="C75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.netlify.app</a:t>
            </a:r>
            <a:endParaRPr lang="en-US" sz="2000" dirty="0"/>
          </a:p>
        </p:txBody>
      </p:sp>
      <p:pic>
        <p:nvPicPr>
          <p:cNvPr id="9" name="Image 2" descr="qrcod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0540960" y="1874520"/>
            <a:ext cx="1828800" cy="1828800"/>
          </a:xfrm>
          <a:prstGeom prst="rect">
            <a:avLst/>
          </a:prstGeom>
        </p:spPr>
      </p:pic>
      <p:sp>
        <p:nvSpPr>
          <p:cNvPr id="10" name="Shape 5"/>
          <p:cNvSpPr/>
          <p:nvPr/>
        </p:nvSpPr>
        <p:spPr>
          <a:xfrm>
            <a:off x="457200" y="3840480"/>
            <a:ext cx="32004000" cy="0"/>
          </a:xfrm>
          <a:prstGeom prst="line">
            <a:avLst/>
          </a:prstGeom>
          <a:noFill/>
          <a:ln w="50800">
            <a:solidFill>
              <a:srgbClr val="C75A2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Shape 6"/>
          <p:cNvSpPr/>
          <p:nvPr/>
        </p:nvSpPr>
        <p:spPr>
          <a:xfrm>
            <a:off x="457200" y="4114800"/>
            <a:ext cx="9601200" cy="6492240"/>
          </a:xfrm>
          <a:prstGeom prst="rect">
            <a:avLst/>
          </a:prstGeom>
          <a:solidFill>
            <a:srgbClr val="F8F2E5"/>
          </a:solidFill>
          <a:ln w="12700">
            <a:solidFill>
              <a:srgbClr val="E0D4B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7"/>
          <p:cNvSpPr/>
          <p:nvPr/>
        </p:nvSpPr>
        <p:spPr>
          <a:xfrm>
            <a:off x="777240" y="4343400"/>
            <a:ext cx="8961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kern="0" spc="800" dirty="0">
                <a:solidFill>
                  <a:srgbClr val="C75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</a:t>
            </a:r>
            <a:endParaRPr lang="en-US" sz="1800" dirty="0"/>
          </a:p>
        </p:txBody>
      </p:sp>
      <p:sp>
        <p:nvSpPr>
          <p:cNvPr id="13" name="Text 8"/>
          <p:cNvSpPr/>
          <p:nvPr/>
        </p:nvSpPr>
        <p:spPr>
          <a:xfrm>
            <a:off x="868680" y="4841126"/>
            <a:ext cx="89611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2800" b="1" dirty="0">
                <a:solidFill>
                  <a:srgbClr val="1F1409"/>
                </a:solidFill>
                <a:latin typeface="Georgia" pitchFamily="34" charset="0"/>
              </a:rPr>
              <a:t>Non-druggable</a:t>
            </a:r>
            <a:r>
              <a:rPr lang="en-US" sz="2800" b="1" dirty="0">
                <a:solidFill>
                  <a:srgbClr val="1F140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TP53 mutations</a:t>
            </a:r>
            <a:endParaRPr lang="en-US" sz="2800" dirty="0"/>
          </a:p>
          <a:p>
            <a:pPr marL="0" indent="0">
              <a:buNone/>
            </a:pPr>
            <a:r>
              <a:rPr lang="en-US" sz="2800" b="1" dirty="0">
                <a:solidFill>
                  <a:srgbClr val="1F140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exceed classical</a:t>
            </a:r>
            <a:endParaRPr lang="en-US" sz="2800" dirty="0"/>
          </a:p>
          <a:p>
            <a:pPr marL="0" indent="0">
              <a:buNone/>
            </a:pPr>
            <a:r>
              <a:rPr lang="en-US" sz="2800" b="1" dirty="0">
                <a:solidFill>
                  <a:srgbClr val="1F140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computational chemistry.</a:t>
            </a:r>
            <a:endParaRPr lang="en-US" sz="2800" dirty="0"/>
          </a:p>
        </p:txBody>
      </p:sp>
      <p:sp>
        <p:nvSpPr>
          <p:cNvPr id="14" name="Text 9"/>
          <p:cNvSpPr/>
          <p:nvPr/>
        </p:nvSpPr>
        <p:spPr>
          <a:xfrm>
            <a:off x="777240" y="6343158"/>
            <a:ext cx="896112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spcAft>
                <a:spcPts val="400"/>
              </a:spcAft>
              <a:buNone/>
            </a:pPr>
            <a:r>
              <a:rPr lang="en-US" sz="2000" b="1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~60% of NSCLC patients</a:t>
            </a:r>
            <a:r>
              <a:rPr lang="en-US" sz="2000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have no FDA-approved targeted therapy. TP53 structural mutants like </a:t>
            </a:r>
            <a:r>
              <a:rPr lang="en-US" sz="2000" b="1" dirty="0">
                <a:solidFill>
                  <a:srgbClr val="C736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p.Cys275Phe (C275F)</a:t>
            </a:r>
            <a:r>
              <a:rPr lang="en-US" sz="2000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disrupt the DNA-binding interface at the loop-sheet-helix region - no exploitable cavity for conventional drug design.</a:t>
            </a:r>
            <a:endParaRPr lang="en-US" sz="2000" dirty="0"/>
          </a:p>
        </p:txBody>
      </p:sp>
      <p:sp>
        <p:nvSpPr>
          <p:cNvPr id="15" name="Text 10"/>
          <p:cNvSpPr/>
          <p:nvPr/>
        </p:nvSpPr>
        <p:spPr>
          <a:xfrm>
            <a:off x="777240" y="7975164"/>
            <a:ext cx="89611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2000" b="1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DFT (B3LYP)</a:t>
            </a:r>
            <a:r>
              <a:rPr lang="en-US" sz="2000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2–4 kcal/mol error → ΔG shifts 5–6× → candidate misclassification</a:t>
            </a:r>
            <a:endParaRPr lang="en-US" sz="20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2000" b="1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CCSD(T)</a:t>
            </a:r>
            <a:r>
              <a:rPr lang="en-US" sz="2000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gold standard, but O(N⁷) infeasible at 44 active electrons</a:t>
            </a:r>
            <a:endParaRPr lang="en-US" sz="20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2000" b="1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FCI</a:t>
            </a:r>
            <a:r>
              <a:rPr lang="en-US" sz="2000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O(2ⁿ) ~ 10¹³ ops at N=44 - intractable</a:t>
            </a:r>
            <a:endParaRPr lang="en-US" sz="2000" dirty="0"/>
          </a:p>
        </p:txBody>
      </p:sp>
      <p:sp>
        <p:nvSpPr>
          <p:cNvPr id="16" name="Shape 11"/>
          <p:cNvSpPr/>
          <p:nvPr/>
        </p:nvSpPr>
        <p:spPr>
          <a:xfrm>
            <a:off x="777240" y="9584500"/>
            <a:ext cx="8048708" cy="958532"/>
          </a:xfrm>
          <a:prstGeom prst="rect">
            <a:avLst/>
          </a:prstGeom>
          <a:solidFill>
            <a:srgbClr val="E8C7B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8" name="Shape 13"/>
          <p:cNvSpPr/>
          <p:nvPr/>
        </p:nvSpPr>
        <p:spPr>
          <a:xfrm>
            <a:off x="10287000" y="4114800"/>
            <a:ext cx="12344400" cy="6492240"/>
          </a:xfrm>
          <a:prstGeom prst="rect">
            <a:avLst/>
          </a:prstGeom>
          <a:solidFill>
            <a:srgbClr val="F8F2E5"/>
          </a:solidFill>
          <a:ln w="12700">
            <a:solidFill>
              <a:srgbClr val="E0D4BE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19" name="Text 14"/>
          <p:cNvSpPr/>
          <p:nvPr/>
        </p:nvSpPr>
        <p:spPr>
          <a:xfrm>
            <a:off x="10607040" y="4343400"/>
            <a:ext cx="11704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kern="0" spc="800" dirty="0">
                <a:solidFill>
                  <a:srgbClr val="C75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SOLUTION  ·  THREE-LAYER ARCHITECTURE</a:t>
            </a:r>
            <a:endParaRPr lang="en-US" sz="1800" dirty="0"/>
          </a:p>
        </p:txBody>
      </p:sp>
      <p:sp>
        <p:nvSpPr>
          <p:cNvPr id="20" name="Shape 15"/>
          <p:cNvSpPr/>
          <p:nvPr/>
        </p:nvSpPr>
        <p:spPr>
          <a:xfrm>
            <a:off x="10561320" y="4800600"/>
            <a:ext cx="11795760" cy="566928"/>
          </a:xfrm>
          <a:prstGeom prst="rect">
            <a:avLst/>
          </a:prstGeom>
          <a:solidFill>
            <a:srgbClr val="FFFCF6"/>
          </a:solidFill>
          <a:ln w="15875">
            <a:solidFill>
              <a:srgbClr val="C00000"/>
            </a:solidFill>
            <a:prstDash val="lgDash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6"/>
          <p:cNvSpPr/>
          <p:nvPr/>
        </p:nvSpPr>
        <p:spPr>
          <a:xfrm>
            <a:off x="10698480" y="4818888"/>
            <a:ext cx="11521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kern="0" spc="400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NGS PATIENT INPUT*  </a:t>
            </a:r>
            <a:r>
              <a:rPr lang="en-US" dirty="0">
                <a:solidFill>
                  <a:srgbClr val="5C4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Patient case MI25-0349 · TP53 C275F · non-druggable tumor-suppressor mutation</a:t>
            </a:r>
            <a:endParaRPr lang="en-US" dirty="0"/>
          </a:p>
        </p:txBody>
      </p:sp>
      <p:sp>
        <p:nvSpPr>
          <p:cNvPr id="22" name="Shape 17"/>
          <p:cNvSpPr/>
          <p:nvPr/>
        </p:nvSpPr>
        <p:spPr>
          <a:xfrm>
            <a:off x="10561320" y="5513832"/>
            <a:ext cx="11795760" cy="1508760"/>
          </a:xfrm>
          <a:prstGeom prst="rect">
            <a:avLst/>
          </a:prstGeom>
          <a:solidFill>
            <a:srgbClr val="E8C7B4"/>
          </a:solidFill>
          <a:ln w="19050">
            <a:solidFill>
              <a:srgbClr val="C75A2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Text 18"/>
          <p:cNvSpPr/>
          <p:nvPr/>
        </p:nvSpPr>
        <p:spPr>
          <a:xfrm>
            <a:off x="10725912" y="5559552"/>
            <a:ext cx="11521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kern="0" spc="400" dirty="0">
                <a:solidFill>
                  <a:srgbClr val="C75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LAYER 3  ·  CONTRIBUTION </a:t>
            </a:r>
            <a:r>
              <a:rPr lang="en-US" sz="1300" i="1" dirty="0">
                <a:solidFill>
                  <a:srgbClr val="C75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(this dissertation)</a:t>
            </a:r>
            <a:endParaRPr lang="en-US" sz="1400" dirty="0"/>
          </a:p>
        </p:txBody>
      </p:sp>
      <p:sp>
        <p:nvSpPr>
          <p:cNvPr id="24" name="Text 19"/>
          <p:cNvSpPr/>
          <p:nvPr/>
        </p:nvSpPr>
        <p:spPr>
          <a:xfrm>
            <a:off x="10725912" y="5925312"/>
            <a:ext cx="115214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◆"/>
            </a:pPr>
            <a:r>
              <a:rPr lang="en-US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BQP-relevance classification framework - non-druggable tumor-suppressor mutations (§06.i)</a:t>
            </a:r>
            <a:endParaRPr lang="en-US" dirty="0"/>
          </a:p>
          <a:p>
            <a:pPr marL="342900" indent="-342900">
              <a:spcAft>
                <a:spcPts val="300"/>
              </a:spcAft>
              <a:buSzPct val="100000"/>
              <a:buChar char="◆"/>
            </a:pPr>
            <a:r>
              <a:rPr lang="en-US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Translational orchestration - oncology-specific · Part-11-governed · bifurcation-aware (§06.ii)</a:t>
            </a:r>
            <a:endParaRPr lang="en-US" dirty="0"/>
          </a:p>
          <a:p>
            <a:pPr marL="342900" indent="-342900">
              <a:spcAft>
                <a:spcPts val="300"/>
              </a:spcAft>
              <a:buSzPct val="100000"/>
              <a:buChar char="◆"/>
            </a:pPr>
            <a:r>
              <a:rPr lang="en-US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FDA 21 CFR Part 11 framework with ML-decoder provenance, P1 - P9 (§06.iii)</a:t>
            </a:r>
            <a:endParaRPr lang="en-US" dirty="0"/>
          </a:p>
        </p:txBody>
      </p:sp>
      <p:sp>
        <p:nvSpPr>
          <p:cNvPr id="25" name="Shape 20"/>
          <p:cNvSpPr/>
          <p:nvPr/>
        </p:nvSpPr>
        <p:spPr>
          <a:xfrm>
            <a:off x="10561320" y="7141464"/>
            <a:ext cx="11795760" cy="1691640"/>
          </a:xfrm>
          <a:prstGeom prst="rect">
            <a:avLst/>
          </a:prstGeom>
          <a:solidFill>
            <a:srgbClr val="FFFCF6"/>
          </a:solidFill>
          <a:ln w="9525">
            <a:solidFill>
              <a:srgbClr val="B8987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Text 21"/>
          <p:cNvSpPr/>
          <p:nvPr/>
        </p:nvSpPr>
        <p:spPr>
          <a:xfrm>
            <a:off x="10725912" y="7187184"/>
            <a:ext cx="11521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kern="0" spc="400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LAYER 2  ·  HYBRID INTEGRATION SUBSTRATE  </a:t>
            </a:r>
            <a:r>
              <a:rPr lang="en-US" sz="1300" i="1" dirty="0">
                <a:solidFill>
                  <a:srgbClr val="5C4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(commodity)</a:t>
            </a:r>
            <a:endParaRPr lang="en-US" sz="1400" dirty="0"/>
          </a:p>
        </p:txBody>
      </p:sp>
      <p:sp>
        <p:nvSpPr>
          <p:cNvPr id="27" name="Text 22"/>
          <p:cNvSpPr/>
          <p:nvPr/>
        </p:nvSpPr>
        <p:spPr>
          <a:xfrm>
            <a:off x="10725912" y="7552944"/>
            <a:ext cx="1152144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Hybrid orchestration - CUDA-Q + NVQLink (Nvidia stack)</a:t>
            </a:r>
            <a:endParaRPr lang="en-US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Quantum reliability - Nvidia Ising VLM calibration · 3D CNN decoder (Apr 2026)</a:t>
            </a:r>
            <a:endParaRPr lang="en-US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 prep - DFT (PySCF) · DMRG baseline + non-active-space treatment</a:t>
            </a:r>
            <a:endParaRPr lang="en-US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 interpretation - DeepChem GNN clinical relevance scoring</a:t>
            </a:r>
            <a:endParaRPr lang="en-US" dirty="0"/>
          </a:p>
        </p:txBody>
      </p:sp>
      <p:sp>
        <p:nvSpPr>
          <p:cNvPr id="28" name="Shape 23"/>
          <p:cNvSpPr/>
          <p:nvPr/>
        </p:nvSpPr>
        <p:spPr>
          <a:xfrm>
            <a:off x="10561320" y="8951976"/>
            <a:ext cx="11795760" cy="1371600"/>
          </a:xfrm>
          <a:prstGeom prst="rect">
            <a:avLst/>
          </a:prstGeom>
          <a:solidFill>
            <a:srgbClr val="FFFCF6"/>
          </a:solidFill>
          <a:ln w="9525">
            <a:solidFill>
              <a:srgbClr val="B8987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" name="Text 24"/>
          <p:cNvSpPr/>
          <p:nvPr/>
        </p:nvSpPr>
        <p:spPr>
          <a:xfrm>
            <a:off x="10725912" y="8997696"/>
            <a:ext cx="11521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kern="0" spc="400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LAYER 1  ·  QUANTUM KERNEL  </a:t>
            </a:r>
            <a:r>
              <a:rPr lang="en-US" sz="1300" i="1" dirty="0">
                <a:solidFill>
                  <a:srgbClr val="5C4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(scientific anchor)</a:t>
            </a:r>
            <a:endParaRPr lang="en-US" sz="1400" dirty="0"/>
          </a:p>
        </p:txBody>
      </p:sp>
      <p:sp>
        <p:nvSpPr>
          <p:cNvPr id="30" name="Text 25"/>
          <p:cNvSpPr/>
          <p:nvPr/>
        </p:nvSpPr>
        <p:spPr>
          <a:xfrm>
            <a:off x="10725912" y="9363456"/>
            <a:ext cx="11521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IBM Heron r3 · 156 qubits · heavy-hex lattice</a:t>
            </a:r>
            <a:endParaRPr lang="en-US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dirty="0" err="1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SqDRIFT</a:t>
            </a:r>
            <a:r>
              <a:rPr lang="en-US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- sample-based quantum diagonalization (Trotterized)</a:t>
            </a:r>
            <a:endParaRPr lang="en-US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Empirical anchor: 32-electron / 100-qubit C₁₃Cl₂ benchmark (Science 2026)</a:t>
            </a:r>
            <a:endParaRPr lang="en-US" dirty="0"/>
          </a:p>
        </p:txBody>
      </p:sp>
      <p:sp>
        <p:nvSpPr>
          <p:cNvPr id="31" name="Text 26"/>
          <p:cNvSpPr/>
          <p:nvPr/>
        </p:nvSpPr>
        <p:spPr>
          <a:xfrm>
            <a:off x="10561320" y="10433304"/>
            <a:ext cx="11795760" cy="365760"/>
          </a:xfrm>
          <a:prstGeom prst="rect">
            <a:avLst/>
          </a:prstGeom>
          <a:noFill/>
          <a:ln w="15875">
            <a:solidFill>
              <a:srgbClr val="C00000"/>
            </a:solidFill>
            <a:prstDash val="lgDash"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kern="0" spc="300" dirty="0">
                <a:solidFill>
                  <a:srgbClr val="5C4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DSR PHASE 4 EVALUATION*  -  </a:t>
            </a:r>
            <a:r>
              <a:rPr lang="en-US" sz="1600" i="1" dirty="0">
                <a:solidFill>
                  <a:srgbClr val="5C4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Triangulated · Pre-registered · n=4–6 expert panel</a:t>
            </a:r>
            <a:endParaRPr lang="en-US" sz="1600" dirty="0"/>
          </a:p>
        </p:txBody>
      </p:sp>
      <p:sp>
        <p:nvSpPr>
          <p:cNvPr id="32" name="Shape 27"/>
          <p:cNvSpPr/>
          <p:nvPr/>
        </p:nvSpPr>
        <p:spPr>
          <a:xfrm>
            <a:off x="22860000" y="4114800"/>
            <a:ext cx="9601200" cy="6492240"/>
          </a:xfrm>
          <a:prstGeom prst="rect">
            <a:avLst/>
          </a:prstGeom>
          <a:solidFill>
            <a:srgbClr val="F8F2E5"/>
          </a:solidFill>
          <a:ln w="12700">
            <a:solidFill>
              <a:srgbClr val="E0D4BE"/>
            </a:solidFill>
            <a:prstDash val="solid"/>
          </a:ln>
        </p:spPr>
        <p:txBody>
          <a:bodyPr/>
          <a:lstStyle/>
          <a:p>
            <a:pPr marL="0" algn="r" defTabSz="914400" rtl="1" eaLnBrk="1" latinLnBrk="0" hangingPunct="1"/>
            <a:endParaRPr lang="en-US"/>
          </a:p>
        </p:txBody>
      </p:sp>
      <p:sp>
        <p:nvSpPr>
          <p:cNvPr id="33" name="Text 28"/>
          <p:cNvSpPr/>
          <p:nvPr/>
        </p:nvSpPr>
        <p:spPr>
          <a:xfrm>
            <a:off x="23180040" y="4343400"/>
            <a:ext cx="8961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kern="0" spc="800" dirty="0">
                <a:solidFill>
                  <a:srgbClr val="C75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PROTOTYPE</a:t>
            </a:r>
            <a:endParaRPr lang="en-US" sz="1800" dirty="0"/>
          </a:p>
        </p:txBody>
      </p:sp>
      <p:sp>
        <p:nvSpPr>
          <p:cNvPr id="34" name="Text 29"/>
          <p:cNvSpPr/>
          <p:nvPr/>
        </p:nvSpPr>
        <p:spPr>
          <a:xfrm>
            <a:off x="23180040" y="4800600"/>
            <a:ext cx="8961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200" b="1" dirty="0">
                <a:solidFill>
                  <a:srgbClr val="1F140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Live, deployed,</a:t>
            </a:r>
            <a:r>
              <a:rPr lang="he-IL" sz="3200" dirty="0"/>
              <a:t> </a:t>
            </a:r>
            <a:r>
              <a:rPr lang="en-US" sz="3200" b="1" dirty="0">
                <a:solidFill>
                  <a:srgbClr val="1F140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navigable</a:t>
            </a:r>
            <a:endParaRPr lang="en-US" sz="3200" dirty="0"/>
          </a:p>
        </p:txBody>
      </p:sp>
      <p:sp>
        <p:nvSpPr>
          <p:cNvPr id="35" name="Text 30"/>
          <p:cNvSpPr/>
          <p:nvPr/>
        </p:nvSpPr>
        <p:spPr>
          <a:xfrm>
            <a:off x="23180040" y="5984548"/>
            <a:ext cx="89611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QC·AI·HPC platform on Netlify - anchored in real NGS data </a:t>
            </a:r>
            <a:r>
              <a:rPr lang="en-US" sz="2000" b="1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(MI25-0349)</a:t>
            </a:r>
            <a:r>
              <a:rPr lang="en-US" sz="2000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3D molecular viewer · 7 non-druggable mutations · four-screen workflow.</a:t>
            </a:r>
            <a:endParaRPr lang="en-US" sz="2000" dirty="0"/>
          </a:p>
        </p:txBody>
      </p:sp>
      <p:sp>
        <p:nvSpPr>
          <p:cNvPr id="36" name="Text 31"/>
          <p:cNvSpPr/>
          <p:nvPr/>
        </p:nvSpPr>
        <p:spPr>
          <a:xfrm>
            <a:off x="23180040" y="7481380"/>
            <a:ext cx="896112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2000" b="1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mutations</a:t>
            </a:r>
            <a:r>
              <a:rPr lang="en-US" sz="2000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- TP53 C275F, KEAP1 LOF, KEAP1 G333C, KEAP1 R320Q, STK11 LKB1, STK11 F354L, STK11 D194N</a:t>
            </a:r>
            <a:endParaRPr lang="en-US" sz="20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2000" b="1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Mutation-aware Hamiltonian</a:t>
            </a:r>
            <a:r>
              <a:rPr lang="en-US" sz="2000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per mutation class</a:t>
            </a:r>
            <a:endParaRPr lang="en-US" sz="20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2000" b="1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P1–P9 audit-trace emission</a:t>
            </a:r>
            <a:r>
              <a:rPr lang="en-US" sz="2000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(ML-decoder lineage conditional)</a:t>
            </a:r>
            <a:endParaRPr lang="en-US" sz="20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2000" b="1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Cross-disciplinary views</a:t>
            </a:r>
            <a:r>
              <a:rPr lang="en-US" sz="2000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- oncology, pharma, hospital IT</a:t>
            </a:r>
            <a:endParaRPr lang="en-US" sz="20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2000" b="1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Bifurcation-aware backend</a:t>
            </a:r>
            <a:r>
              <a:rPr lang="en-US" sz="2000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(Qiskit / CUDA-Q ready)</a:t>
            </a:r>
            <a:endParaRPr lang="en-US" sz="2000" dirty="0"/>
          </a:p>
        </p:txBody>
      </p:sp>
      <p:sp>
        <p:nvSpPr>
          <p:cNvPr id="37" name="Text 32"/>
          <p:cNvSpPr/>
          <p:nvPr/>
        </p:nvSpPr>
        <p:spPr>
          <a:xfrm>
            <a:off x="23180040" y="10104120"/>
            <a:ext cx="8961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C75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nsclc-quantum-viewer.netlify.app</a:t>
            </a:r>
            <a:endParaRPr lang="en-US" sz="1600" dirty="0"/>
          </a:p>
        </p:txBody>
      </p:sp>
      <p:sp>
        <p:nvSpPr>
          <p:cNvPr id="38" name="Shape 33"/>
          <p:cNvSpPr/>
          <p:nvPr/>
        </p:nvSpPr>
        <p:spPr>
          <a:xfrm>
            <a:off x="457200" y="10881360"/>
            <a:ext cx="16002000" cy="5394960"/>
          </a:xfrm>
          <a:prstGeom prst="rect">
            <a:avLst/>
          </a:prstGeom>
          <a:solidFill>
            <a:srgbClr val="F8F2E5"/>
          </a:solidFill>
          <a:ln w="12700">
            <a:solidFill>
              <a:srgbClr val="E0D4B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9" name="Text 34"/>
          <p:cNvSpPr/>
          <p:nvPr/>
        </p:nvSpPr>
        <p:spPr>
          <a:xfrm>
            <a:off x="777240" y="11109960"/>
            <a:ext cx="1536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kern="0" spc="800" dirty="0">
                <a:solidFill>
                  <a:srgbClr val="C75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DEMO  ·  TP53 C275F QUANTUM SIMULATION</a:t>
            </a:r>
            <a:endParaRPr lang="en-US" sz="1800" dirty="0"/>
          </a:p>
        </p:txBody>
      </p:sp>
      <p:sp>
        <p:nvSpPr>
          <p:cNvPr id="40" name="Text 35"/>
          <p:cNvSpPr/>
          <p:nvPr/>
        </p:nvSpPr>
        <p:spPr>
          <a:xfrm>
            <a:off x="777240" y="11567160"/>
            <a:ext cx="1536192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800" b="1" dirty="0">
                <a:solidFill>
                  <a:srgbClr val="1F140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active site - visualized,</a:t>
            </a:r>
            <a:endParaRPr lang="en-US" sz="2800" dirty="0"/>
          </a:p>
          <a:p>
            <a:pPr marL="0" indent="0">
              <a:buNone/>
            </a:pPr>
            <a:r>
              <a:rPr lang="en-US" sz="2800" b="1" dirty="0">
                <a:solidFill>
                  <a:srgbClr val="1F140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navigable, BQP-classified.</a:t>
            </a:r>
            <a:endParaRPr lang="en-US" sz="2800" dirty="0"/>
          </a:p>
        </p:txBody>
      </p:sp>
      <p:sp>
        <p:nvSpPr>
          <p:cNvPr id="42" name="Text 36"/>
          <p:cNvSpPr/>
          <p:nvPr/>
        </p:nvSpPr>
        <p:spPr>
          <a:xfrm>
            <a:off x="777240" y="1271016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 3D viewer:</a:t>
            </a:r>
            <a:endParaRPr lang="en-US" sz="2400" dirty="0"/>
          </a:p>
        </p:txBody>
      </p:sp>
      <p:sp>
        <p:nvSpPr>
          <p:cNvPr id="43" name="Text 37"/>
          <p:cNvSpPr/>
          <p:nvPr/>
        </p:nvSpPr>
        <p:spPr>
          <a:xfrm>
            <a:off x="777240" y="13121640"/>
            <a:ext cx="7562088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2000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TP53 C275F + candidate ligand </a:t>
            </a:r>
            <a:r>
              <a:rPr lang="en-US" sz="2000" i="1" dirty="0">
                <a:solidFill>
                  <a:srgbClr val="5C4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(Eprenetapopt / APR-246)</a:t>
            </a:r>
            <a:r>
              <a:rPr lang="en-US" sz="2000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docked at the loop-sheet-helix DNA-contact region</a:t>
            </a:r>
            <a:endParaRPr lang="en-US" sz="20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2000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Encircling rings: </a:t>
            </a:r>
            <a:r>
              <a:rPr lang="en-US" sz="2000" i="1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sqDRIFT wavefunction sampling</a:t>
            </a:r>
            <a:endParaRPr lang="en-US" sz="20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2000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Orange field: </a:t>
            </a:r>
            <a:r>
              <a:rPr lang="en-US" sz="2000" i="1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active-space electron-density distribution</a:t>
            </a:r>
            <a:endParaRPr lang="en-US" sz="20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2000" b="1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~88-qubit BQP target </a:t>
            </a:r>
            <a:r>
              <a:rPr lang="en-US" sz="2000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within IBM Heron r3 capacity</a:t>
            </a:r>
            <a:endParaRPr lang="en-US" sz="2000" dirty="0"/>
          </a:p>
        </p:txBody>
      </p:sp>
      <p:sp>
        <p:nvSpPr>
          <p:cNvPr id="44" name="Shape 38"/>
          <p:cNvSpPr/>
          <p:nvPr/>
        </p:nvSpPr>
        <p:spPr>
          <a:xfrm>
            <a:off x="16687800" y="10881360"/>
            <a:ext cx="15773400" cy="5394960"/>
          </a:xfrm>
          <a:prstGeom prst="rect">
            <a:avLst/>
          </a:prstGeom>
          <a:solidFill>
            <a:srgbClr val="F8F2E5"/>
          </a:solidFill>
          <a:ln w="12700">
            <a:solidFill>
              <a:srgbClr val="E0D4B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5" name="Text 39"/>
          <p:cNvSpPr/>
          <p:nvPr/>
        </p:nvSpPr>
        <p:spPr>
          <a:xfrm>
            <a:off x="17007840" y="11109960"/>
            <a:ext cx="15133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kern="0" spc="800" dirty="0">
                <a:solidFill>
                  <a:srgbClr val="C75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 &amp; BENCHMARKING  ·  QC vs DFT vs CCSD(T)</a:t>
            </a:r>
            <a:endParaRPr lang="en-US" sz="1800" dirty="0"/>
          </a:p>
        </p:txBody>
      </p:sp>
      <p:sp>
        <p:nvSpPr>
          <p:cNvPr id="46" name="Text 40"/>
          <p:cNvSpPr/>
          <p:nvPr/>
        </p:nvSpPr>
        <p:spPr>
          <a:xfrm>
            <a:off x="17007840" y="11567160"/>
            <a:ext cx="1513332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600" b="1" dirty="0">
                <a:solidFill>
                  <a:srgbClr val="1F140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Method comparison at</a:t>
            </a:r>
            <a:endParaRPr lang="en-US" sz="2600" dirty="0"/>
          </a:p>
          <a:p>
            <a:pPr marL="0" indent="0">
              <a:buNone/>
            </a:pPr>
            <a:r>
              <a:rPr lang="en-US" sz="2600" b="1" dirty="0">
                <a:solidFill>
                  <a:srgbClr val="1F140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C275F active-space boundary.</a:t>
            </a:r>
            <a:endParaRPr lang="en-US" sz="2600" dirty="0"/>
          </a:p>
        </p:txBody>
      </p:sp>
      <p:pic>
        <p:nvPicPr>
          <p:cNvPr id="47" name="Image 4" descr="benchmarking.jpg"/>
          <p:cNvPicPr>
            <a:picLocks noChangeAspect="1"/>
          </p:cNvPicPr>
          <p:nvPr/>
        </p:nvPicPr>
        <p:blipFill>
          <a:blip r:embed="rId6"/>
          <a:srcRect/>
          <a:stretch/>
        </p:blipFill>
        <p:spPr>
          <a:xfrm>
            <a:off x="24551640" y="11649456"/>
            <a:ext cx="7635239" cy="4489703"/>
          </a:xfrm>
          <a:prstGeom prst="rect">
            <a:avLst/>
          </a:prstGeom>
        </p:spPr>
      </p:pic>
      <p:sp>
        <p:nvSpPr>
          <p:cNvPr id="48" name="Text 41"/>
          <p:cNvSpPr/>
          <p:nvPr/>
        </p:nvSpPr>
        <p:spPr>
          <a:xfrm>
            <a:off x="17007840" y="12889767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Illustrative platform outputs:</a:t>
            </a:r>
            <a:endParaRPr lang="en-US" sz="2400" dirty="0"/>
          </a:p>
        </p:txBody>
      </p:sp>
      <p:sp>
        <p:nvSpPr>
          <p:cNvPr id="49" name="Text 42"/>
          <p:cNvSpPr/>
          <p:nvPr/>
        </p:nvSpPr>
        <p:spPr>
          <a:xfrm>
            <a:off x="17007840" y="13301247"/>
            <a:ext cx="73152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2000" b="1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*DFT B3LYP:</a:t>
            </a:r>
            <a:r>
              <a:rPr lang="en-US" sz="2000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−8.4 kcal/mol  (2.8 error - outside chemical accuracy)</a:t>
            </a:r>
            <a:endParaRPr lang="en-US" sz="20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2000" b="1" dirty="0">
                <a:solidFill>
                  <a:srgbClr val="C75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</a:t>
            </a:r>
            <a:r>
              <a:rPr lang="en-US" sz="2000" b="1" dirty="0" err="1">
                <a:solidFill>
                  <a:srgbClr val="C75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sqDRIFT (Phase 3B target)</a:t>
            </a:r>
            <a:r>
              <a:rPr lang="en-US" sz="2000" b="1" dirty="0">
                <a:solidFill>
                  <a:srgbClr val="C75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</a:t>
            </a:r>
            <a:r>
              <a:rPr lang="en-US" sz="2000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−11.7 kcal/mol  (0.5 error - within chemical accuracy)</a:t>
            </a:r>
            <a:endParaRPr lang="en-US" sz="20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2000" b="1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*CCSD(T) reference:</a:t>
            </a:r>
            <a:r>
              <a:rPr lang="en-US" sz="2000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−11.2 kcal/mol</a:t>
            </a:r>
            <a:endParaRPr lang="en-US" sz="2000" dirty="0"/>
          </a:p>
        </p:txBody>
      </p:sp>
      <p:sp>
        <p:nvSpPr>
          <p:cNvPr id="50" name="Text 43"/>
          <p:cNvSpPr/>
          <p:nvPr/>
        </p:nvSpPr>
        <p:spPr>
          <a:xfrm>
            <a:off x="17007840" y="1545336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i="1" dirty="0">
                <a:solidFill>
                  <a:srgbClr val="C736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Benchmarking framework</a:t>
            </a:r>
            <a:r>
              <a:rPr lang="en-US" sz="1600" i="1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is itself an original IT contribution (§06.i).</a:t>
            </a:r>
          </a:p>
          <a:p>
            <a:pPr marL="0" indent="0">
              <a:buNone/>
            </a:pPr>
            <a:r>
              <a:rPr lang="en-US" sz="1600" i="1" dirty="0">
                <a:solidFill>
                  <a:srgbClr val="1F1409"/>
                </a:solidFill>
                <a:latin typeface="Calibri" pitchFamily="34" charset="0"/>
                <a:cs typeface="Calibri" pitchFamily="34" charset="-120"/>
              </a:rPr>
              <a:t>*Illustrative figures · Chemical accuracy threshold: ≤1 kcal/mol</a:t>
            </a:r>
            <a:endParaRPr lang="en-US" sz="1600" dirty="0"/>
          </a:p>
        </p:txBody>
      </p:sp>
      <p:sp>
        <p:nvSpPr>
          <p:cNvPr id="51" name="Shape 44"/>
          <p:cNvSpPr/>
          <p:nvPr/>
        </p:nvSpPr>
        <p:spPr>
          <a:xfrm>
            <a:off x="457200" y="16550640"/>
            <a:ext cx="16002000" cy="3657600"/>
          </a:xfrm>
          <a:prstGeom prst="rect">
            <a:avLst/>
          </a:prstGeom>
          <a:solidFill>
            <a:srgbClr val="F8F2E5"/>
          </a:solidFill>
          <a:ln w="12700">
            <a:solidFill>
              <a:srgbClr val="E0D4B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2" name="Text 45"/>
          <p:cNvSpPr/>
          <p:nvPr/>
        </p:nvSpPr>
        <p:spPr>
          <a:xfrm>
            <a:off x="777240" y="16779240"/>
            <a:ext cx="1536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kern="0" spc="800" dirty="0">
                <a:solidFill>
                  <a:srgbClr val="C75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METHODOLOGY</a:t>
            </a:r>
            <a:endParaRPr lang="en-US" sz="1800" dirty="0"/>
          </a:p>
        </p:txBody>
      </p:sp>
      <p:sp>
        <p:nvSpPr>
          <p:cNvPr id="53" name="Text 46"/>
          <p:cNvSpPr/>
          <p:nvPr/>
        </p:nvSpPr>
        <p:spPr>
          <a:xfrm>
            <a:off x="777240" y="17236440"/>
            <a:ext cx="15361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600" b="1" dirty="0">
                <a:solidFill>
                  <a:srgbClr val="1F140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Five DSR phases. Twenty months. Triangulated evaluation.</a:t>
            </a:r>
            <a:endParaRPr lang="en-US" sz="2600" dirty="0"/>
          </a:p>
        </p:txBody>
      </p:sp>
      <p:sp>
        <p:nvSpPr>
          <p:cNvPr id="54" name="Text 47"/>
          <p:cNvSpPr/>
          <p:nvPr/>
        </p:nvSpPr>
        <p:spPr>
          <a:xfrm>
            <a:off x="777239" y="17772012"/>
            <a:ext cx="10234472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2000" b="1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1 · Foundation</a:t>
            </a:r>
            <a:r>
              <a:rPr lang="en-US" sz="2000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- NGS · BQP-relevance · active-space scoping  </a:t>
            </a:r>
            <a:r>
              <a:rPr lang="en-US" sz="2000" i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complete</a:t>
            </a:r>
            <a:endParaRPr lang="en-US" sz="20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2000" b="1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2 · Architecture</a:t>
            </a:r>
            <a:r>
              <a:rPr lang="en-US" sz="2000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- Workflow spec · React/Three.js prototype  </a:t>
            </a:r>
            <a:r>
              <a:rPr lang="en-US" sz="2000" i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complete</a:t>
            </a:r>
            <a:endParaRPr lang="en-US" sz="20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2000" b="1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3A · Live Circuit</a:t>
            </a:r>
            <a:r>
              <a:rPr lang="en-US" sz="2000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- PennyLane · 4-qubit live VQE · PySCF JW Hamiltonian · May-Aug 2026</a:t>
            </a:r>
            <a:endParaRPr lang="en-US" sz="20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2000" b="1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3B · Heron r3</a:t>
            </a:r>
            <a:r>
              <a:rPr lang="en-US" sz="2000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~88-qubit active site · C275F only · proven feasible (94q, Merz et al. 2026) · KEAP1/STK11: fault-tolerant QPU (~2030+) · 152–310q · PDB-verified</a:t>
            </a:r>
            <a:endParaRPr lang="en-US" sz="20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2000" b="1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4 · DSR Evaluation</a:t>
            </a:r>
            <a:r>
              <a:rPr lang="en-US" sz="2000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- 4 layers · OSF pre-registered · n=4-6 panel · Jan-Apr 2027</a:t>
            </a:r>
            <a:endParaRPr lang="en-US" sz="20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2000" b="1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5 · Synthesis &amp; Defense</a:t>
            </a:r>
            <a:r>
              <a:rPr lang="en-US" sz="2000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- May-Dec 2027</a:t>
            </a:r>
            <a:endParaRPr lang="en-US" sz="2000" dirty="0"/>
          </a:p>
        </p:txBody>
      </p:sp>
      <p:sp>
        <p:nvSpPr>
          <p:cNvPr id="55" name="Text 48"/>
          <p:cNvSpPr/>
          <p:nvPr/>
        </p:nvSpPr>
        <p:spPr>
          <a:xfrm>
            <a:off x="777240" y="19946148"/>
            <a:ext cx="1527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i="1" dirty="0">
                <a:solidFill>
                  <a:srgbClr val="C736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Architecture is the contribution.  Simulation is the application.  Patients are the motivation.</a:t>
            </a:r>
            <a:endParaRPr lang="en-US" dirty="0"/>
          </a:p>
        </p:txBody>
      </p:sp>
      <p:sp>
        <p:nvSpPr>
          <p:cNvPr id="56" name="Shape 49"/>
          <p:cNvSpPr/>
          <p:nvPr/>
        </p:nvSpPr>
        <p:spPr>
          <a:xfrm>
            <a:off x="16687800" y="16550640"/>
            <a:ext cx="15773400" cy="3657600"/>
          </a:xfrm>
          <a:prstGeom prst="rect">
            <a:avLst/>
          </a:prstGeom>
          <a:solidFill>
            <a:srgbClr val="F8F2E5"/>
          </a:solidFill>
          <a:ln w="12700">
            <a:solidFill>
              <a:srgbClr val="E0D4BE"/>
            </a:solidFill>
            <a:prstDash val="solid"/>
          </a:ln>
        </p:spPr>
        <p:txBody>
          <a:bodyPr/>
          <a:lstStyle/>
          <a:p>
            <a:pPr marL="0" algn="r" defTabSz="914400" rtl="1" eaLnBrk="1" latinLnBrk="0" hangingPunct="1"/>
            <a:endParaRPr lang="en-US"/>
          </a:p>
        </p:txBody>
      </p:sp>
      <p:sp>
        <p:nvSpPr>
          <p:cNvPr id="57" name="Text 50"/>
          <p:cNvSpPr/>
          <p:nvPr/>
        </p:nvSpPr>
        <p:spPr>
          <a:xfrm>
            <a:off x="17007840" y="16779240"/>
            <a:ext cx="15133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kern="0" spc="800" dirty="0">
                <a:solidFill>
                  <a:srgbClr val="C75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IMPACT</a:t>
            </a:r>
            <a:endParaRPr lang="en-US" sz="1800" dirty="0"/>
          </a:p>
        </p:txBody>
      </p:sp>
      <p:sp>
        <p:nvSpPr>
          <p:cNvPr id="58" name="Text 51"/>
          <p:cNvSpPr/>
          <p:nvPr/>
        </p:nvSpPr>
        <p:spPr>
          <a:xfrm>
            <a:off x="17007841" y="17236440"/>
            <a:ext cx="10149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2000" b="1" dirty="0">
                <a:solidFill>
                  <a:srgbClr val="1F1409"/>
                </a:solidFill>
                <a:latin typeface="Georgia" pitchFamily="34" charset="0"/>
              </a:rPr>
              <a:t>To our knowledge, first FDA 21 CFR Part 11-governed </a:t>
            </a:r>
            <a:r>
              <a:rPr lang="en-US" sz="2000" b="1" dirty="0">
                <a:solidFill>
                  <a:srgbClr val="1F140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quantum-chemistry orchestration for oncology.</a:t>
            </a:r>
            <a:endParaRPr lang="en-US" sz="2000" dirty="0"/>
          </a:p>
        </p:txBody>
      </p:sp>
      <p:sp>
        <p:nvSpPr>
          <p:cNvPr id="59" name="Text 52"/>
          <p:cNvSpPr/>
          <p:nvPr/>
        </p:nvSpPr>
        <p:spPr>
          <a:xfrm>
            <a:off x="17007839" y="18054588"/>
            <a:ext cx="12766307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2000" b="1" dirty="0">
                <a:solidFill>
                  <a:srgbClr val="1F1409"/>
                </a:solidFill>
                <a:latin typeface="Calibri" pitchFamily="34" charset="0"/>
                <a:cs typeface="Calibri" pitchFamily="34" charset="-120"/>
              </a:rPr>
              <a:t>Proposed </a:t>
            </a:r>
            <a:r>
              <a:rPr lang="en-US" sz="2000" b="1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BQP-relevance classification</a:t>
            </a:r>
            <a:r>
              <a:rPr lang="en-US" sz="2000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for non-druggable oncology targets - reusable across mutation classes</a:t>
            </a:r>
            <a:endParaRPr lang="en-US" sz="20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2000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Unlike quantum-</a:t>
            </a:r>
            <a:r>
              <a:rPr lang="en-US" sz="2000" i="1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enhanced</a:t>
            </a:r>
            <a:r>
              <a:rPr lang="en-US" sz="2000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approaches targeting classically-tractable proteins (e.g. KRAS — Vakili et al., </a:t>
            </a:r>
            <a:r>
              <a:rPr lang="en-US" sz="2000" i="1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Nature Biotechnology</a:t>
            </a:r>
            <a:r>
              <a:rPr lang="en-US" sz="2000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2025), QC here is the </a:t>
            </a:r>
            <a:r>
              <a:rPr lang="en-US" sz="2000" b="1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available computational path</a:t>
            </a:r>
            <a:endParaRPr lang="en-US" sz="20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2000" b="1" dirty="0">
                <a:solidFill>
                  <a:srgbClr val="1F1409"/>
                </a:solidFill>
                <a:latin typeface="Calibri" pitchFamily="34" charset="0"/>
                <a:cs typeface="Calibri" pitchFamily="34" charset="-120"/>
              </a:rPr>
              <a:t>Novel</a:t>
            </a:r>
            <a:r>
              <a:rPr lang="en-US" sz="2000" b="1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Part-11 compliance framework</a:t>
            </a:r>
            <a:r>
              <a:rPr lang="en-US" sz="2000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for probabilistic quantum binding data (incl. </a:t>
            </a:r>
            <a:r>
              <a:rPr lang="en-US" sz="2000" i="1" dirty="0">
                <a:solidFill>
                  <a:srgbClr val="C75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P9 ML-decoder provenance</a:t>
            </a:r>
            <a:r>
              <a:rPr lang="en-US" sz="2000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)</a:t>
            </a:r>
            <a:endParaRPr lang="en-US" sz="20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2000" b="1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Bifurcation-aware orchestration</a:t>
            </a:r>
            <a:r>
              <a:rPr lang="en-US" sz="2000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surviving the IBM-QCS vs Nvidia-NVQLink vendor split</a:t>
            </a:r>
            <a:endParaRPr lang="en-US" sz="20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2000" b="1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Selective computational escalation</a:t>
            </a:r>
            <a:r>
              <a:rPr lang="en-US" sz="2000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- formal routing of subproblems to AI / HPC / QC</a:t>
            </a:r>
            <a:endParaRPr lang="en-US" sz="20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2000" b="1" i="1" dirty="0">
                <a:solidFill>
                  <a:srgbClr val="C736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Future research:</a:t>
            </a:r>
            <a:r>
              <a:rPr lang="en-US" sz="2000" i="1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NGS-informed radiotherapy decision support (post-doc) - extending GARD-class radiogenomic models</a:t>
            </a:r>
            <a:endParaRPr lang="en-US" sz="2000" dirty="0"/>
          </a:p>
        </p:txBody>
      </p:sp>
      <p:sp>
        <p:nvSpPr>
          <p:cNvPr id="60" name="Text 53"/>
          <p:cNvSpPr/>
          <p:nvPr/>
        </p:nvSpPr>
        <p:spPr>
          <a:xfrm>
            <a:off x="457200" y="20299680"/>
            <a:ext cx="1188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kern="0" spc="500" dirty="0">
                <a:solidFill>
                  <a:srgbClr val="5C4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FUTURE RESEARCH DIRECTION</a:t>
            </a:r>
            <a:endParaRPr lang="en-US" sz="1600" dirty="0"/>
          </a:p>
        </p:txBody>
      </p:sp>
      <p:sp>
        <p:nvSpPr>
          <p:cNvPr id="61" name="Text 54"/>
          <p:cNvSpPr/>
          <p:nvPr/>
        </p:nvSpPr>
        <p:spPr>
          <a:xfrm>
            <a:off x="457200" y="20416065"/>
            <a:ext cx="11887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NGS-informed radiotherapy decision support — </a:t>
            </a:r>
            <a:r>
              <a:rPr lang="en-US" sz="1600" i="1" dirty="0">
                <a:solidFill>
                  <a:srgbClr val="5C4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quantum-derived mechanistic features for radioresistance in TP53 contact-mutant tumors. Reserved for a post-doctoral program extending the dissertation infrastructure into clinical decision support.</a:t>
            </a:r>
            <a:endParaRPr lang="en-US" sz="1600" dirty="0"/>
          </a:p>
        </p:txBody>
      </p:sp>
      <p:sp>
        <p:nvSpPr>
          <p:cNvPr id="62" name="Text 55"/>
          <p:cNvSpPr/>
          <p:nvPr/>
        </p:nvSpPr>
        <p:spPr>
          <a:xfrm>
            <a:off x="14630400" y="20330160"/>
            <a:ext cx="1828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6400" b="1" dirty="0">
                <a:solidFill>
                  <a:srgbClr val="C75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~88</a:t>
            </a:r>
            <a:endParaRPr lang="en-US" sz="6400" dirty="0"/>
          </a:p>
        </p:txBody>
      </p:sp>
      <p:sp>
        <p:nvSpPr>
          <p:cNvPr id="63" name="Text 56"/>
          <p:cNvSpPr/>
          <p:nvPr/>
        </p:nvSpPr>
        <p:spPr>
          <a:xfrm>
            <a:off x="13845654" y="21077474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5C4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Qubits at full active site (IBM Heron r3 range)</a:t>
            </a:r>
            <a:endParaRPr lang="en-US" sz="1600" dirty="0"/>
          </a:p>
        </p:txBody>
      </p:sp>
      <p:sp>
        <p:nvSpPr>
          <p:cNvPr id="64" name="Text 57"/>
          <p:cNvSpPr/>
          <p:nvPr/>
        </p:nvSpPr>
        <p:spPr>
          <a:xfrm>
            <a:off x="23030596" y="20220466"/>
            <a:ext cx="743803" cy="83188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6400" b="1" dirty="0">
                <a:solidFill>
                  <a:srgbClr val="C75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7</a:t>
            </a:r>
            <a:endParaRPr lang="en-US" sz="6400" dirty="0"/>
          </a:p>
        </p:txBody>
      </p:sp>
      <p:sp>
        <p:nvSpPr>
          <p:cNvPr id="65" name="Text 58"/>
          <p:cNvSpPr/>
          <p:nvPr/>
        </p:nvSpPr>
        <p:spPr>
          <a:xfrm>
            <a:off x="21628285" y="21051254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5C4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non-druggable NSCLC mutations targeted</a:t>
            </a:r>
            <a:endParaRPr lang="en-US" sz="1600" dirty="0"/>
          </a:p>
        </p:txBody>
      </p:sp>
      <p:sp>
        <p:nvSpPr>
          <p:cNvPr id="66" name="Text 59"/>
          <p:cNvSpPr/>
          <p:nvPr/>
        </p:nvSpPr>
        <p:spPr>
          <a:xfrm>
            <a:off x="26517600" y="20253960"/>
            <a:ext cx="4114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6400" b="1" dirty="0">
                <a:solidFill>
                  <a:srgbClr val="C75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100%</a:t>
            </a:r>
            <a:endParaRPr lang="en-US" sz="6400" dirty="0"/>
          </a:p>
        </p:txBody>
      </p:sp>
      <p:sp>
        <p:nvSpPr>
          <p:cNvPr id="67" name="Text 60"/>
          <p:cNvSpPr/>
          <p:nvPr/>
        </p:nvSpPr>
        <p:spPr>
          <a:xfrm>
            <a:off x="27520711" y="21143931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5C4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non-druggable target coverage at platform release</a:t>
            </a:r>
            <a:endParaRPr lang="en-US" sz="1600" dirty="0"/>
          </a:p>
        </p:txBody>
      </p:sp>
      <p:sp>
        <p:nvSpPr>
          <p:cNvPr id="68" name="Shape 61"/>
          <p:cNvSpPr/>
          <p:nvPr/>
        </p:nvSpPr>
        <p:spPr>
          <a:xfrm>
            <a:off x="0" y="21808440"/>
            <a:ext cx="32918400" cy="137160"/>
          </a:xfrm>
          <a:prstGeom prst="rect">
            <a:avLst/>
          </a:prstGeom>
          <a:solidFill>
            <a:srgbClr val="C75A2E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70" name="Picture 69">
            <a:extLst>
              <a:ext uri="{FF2B5EF4-FFF2-40B4-BE49-F238E27FC236}">
                <a16:creationId xmlns:a16="http://schemas.microsoft.com/office/drawing/2014/main" id="{3E56C2E1-9C77-B785-B350-71C053586CD3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409470" y="11649456"/>
            <a:ext cx="6821129" cy="4489704"/>
          </a:xfrm>
          <a:prstGeom prst="rect">
            <a:avLst/>
          </a:prstGeom>
        </p:spPr>
      </p:pic>
      <p:sp>
        <p:nvSpPr>
          <p:cNvPr id="41" name="TextBox 40">
            <a:extLst>
              <a:ext uri="{FF2B5EF4-FFF2-40B4-BE49-F238E27FC236}">
                <a16:creationId xmlns:a16="http://schemas.microsoft.com/office/drawing/2014/main" id="{579BC465-50A7-C162-9E43-C5C56ECF05F2}"/>
              </a:ext>
            </a:extLst>
          </p:cNvPr>
          <p:cNvSpPr txBox="1"/>
          <p:nvPr/>
        </p:nvSpPr>
        <p:spPr>
          <a:xfrm>
            <a:off x="338865" y="21429612"/>
            <a:ext cx="380282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Copyrights: ©️ Doron Cohen, May 2026, All rights reserved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25041B7A-C8C2-A970-BD1D-C3ABCEDC2C86}"/>
              </a:ext>
            </a:extLst>
          </p:cNvPr>
          <p:cNvSpPr txBox="1"/>
          <p:nvPr/>
        </p:nvSpPr>
        <p:spPr>
          <a:xfrm>
            <a:off x="466086" y="3031812"/>
            <a:ext cx="4023361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/>
              <a:t>Doron Cohen</a:t>
            </a:r>
            <a:r>
              <a:rPr lang="en-US" sz="2000" dirty="0"/>
              <a:t>, Doctoral Candidate</a:t>
            </a:r>
            <a:br>
              <a:rPr lang="en-US" sz="2000" dirty="0"/>
            </a:br>
            <a:r>
              <a:rPr lang="en-US" sz="2000" dirty="0"/>
              <a:t>Supervised by </a:t>
            </a:r>
            <a:r>
              <a:rPr lang="en-US" sz="2000" b="1" dirty="0"/>
              <a:t>Prof. Itamar Shabtai</a:t>
            </a:r>
          </a:p>
        </p:txBody>
      </p:sp>
      <p:sp>
        <p:nvSpPr>
          <p:cNvPr id="71" name="Text 12">
            <a:extLst>
              <a:ext uri="{FF2B5EF4-FFF2-40B4-BE49-F238E27FC236}">
                <a16:creationId xmlns:a16="http://schemas.microsoft.com/office/drawing/2014/main" id="{9E7076E2-2523-5A1D-E51F-FCC5E5166B67}"/>
              </a:ext>
            </a:extLst>
          </p:cNvPr>
          <p:cNvSpPr/>
          <p:nvPr/>
        </p:nvSpPr>
        <p:spPr>
          <a:xfrm>
            <a:off x="868680" y="9629429"/>
            <a:ext cx="7957268" cy="8833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000" b="1" i="1" dirty="0">
                <a:solidFill>
                  <a:srgbClr val="C736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BQP-relevance: </a:t>
            </a:r>
            <a:r>
              <a:rPr lang="en-US" i="1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fermionic Hamiltonian eigenvalue problem at C275F admits a known BQP-class quantum algorithm; </a:t>
            </a:r>
            <a:r>
              <a:rPr lang="en-US" i="1" dirty="0">
                <a:solidFill>
                  <a:srgbClr val="1F1409"/>
                </a:solidFill>
                <a:latin typeface="Calibri" pitchFamily="34" charset="0"/>
                <a:cs typeface="Calibri" pitchFamily="34" charset="-120"/>
              </a:rPr>
              <a:t>Classical methods become computationally prohibitive at chemical accuracy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93</TotalTime>
  <Words>844</Words>
  <Application>Microsoft Macintosh PowerPoint</Application>
  <PresentationFormat>Custom</PresentationFormat>
  <Paragraphs>83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Arial</vt:lpstr>
      <vt:lpstr>Calibri</vt:lpstr>
      <vt:lpstr>Georgia</vt:lpstr>
      <vt:lpstr>Office Theme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QC-AI-HPC Orchestration Platform - IST697 Poster</dc:title>
  <dc:subject>PptxGenJS Presentation</dc:subject>
  <dc:creator>Doron Cohen</dc:creator>
  <cp:lastModifiedBy>doron 66</cp:lastModifiedBy>
  <cp:revision>14</cp:revision>
  <dcterms:created xsi:type="dcterms:W3CDTF">2026-05-12T07:12:24Z</dcterms:created>
  <dcterms:modified xsi:type="dcterms:W3CDTF">2026-05-12T15:40:17Z</dcterms:modified>
</cp:coreProperties>
</file>